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507" r:id="rId7"/>
    <p:sldId id="2147470496" r:id="rId8"/>
    <p:sldId id="2147470497" r:id="rId9"/>
    <p:sldId id="2147470491" r:id="rId10"/>
    <p:sldId id="2147470502" r:id="rId11"/>
    <p:sldId id="2147470509" r:id="rId12"/>
    <p:sldId id="2147470501" r:id="rId13"/>
    <p:sldId id="2147470511" r:id="rId14"/>
    <p:sldId id="2147470512" r:id="rId15"/>
    <p:sldId id="2147470513" r:id="rId16"/>
    <p:sldId id="2147470514" r:id="rId17"/>
    <p:sldId id="2147470515" r:id="rId18"/>
    <p:sldId id="2147470506" r:id="rId19"/>
    <p:sldId id="2147470516" r:id="rId20"/>
    <p:sldId id="2147470517" r:id="rId21"/>
    <p:sldId id="2147470518" r:id="rId22"/>
    <p:sldId id="2147470503" r:id="rId23"/>
    <p:sldId id="2147470504" r:id="rId24"/>
    <p:sldId id="21474704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 D" userId="07aaa1c9fac6b292" providerId="LiveId" clId="{7D8BBD79-C254-4BB5-9385-D768F232E73F}"/>
    <pc:docChg chg="modSld">
      <pc:chgData name="POOJITHA D" userId="07aaa1c9fac6b292" providerId="LiveId" clId="{7D8BBD79-C254-4BB5-9385-D768F232E73F}" dt="2026-09-06T15:38:30.498" v="9" actId="20577"/>
      <pc:docMkLst>
        <pc:docMk/>
      </pc:docMkLst>
      <pc:sldChg chg="modSp mod">
        <pc:chgData name="POOJITHA D" userId="07aaa1c9fac6b292" providerId="LiveId" clId="{7D8BBD79-C254-4BB5-9385-D768F232E73F}" dt="2026-09-06T15:38:30.498" v="9" actId="20577"/>
        <pc:sldMkLst>
          <pc:docMk/>
          <pc:sldMk cId="3449507583" sldId="2147470489"/>
        </pc:sldMkLst>
        <pc:spChg chg="mod">
          <ac:chgData name="POOJITHA D" userId="07aaa1c9fac6b292" providerId="LiveId" clId="{7D8BBD79-C254-4BB5-9385-D768F232E73F}" dt="2026-09-06T15:38:30.498" v="9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POOJITHA D" userId="07aaa1c9fac6b292" providerId="LiveId" clId="{7D8BBD79-C254-4BB5-9385-D768F232E73F}" dt="2026-09-06T15:36:14.672" v="1" actId="20577"/>
        <pc:sldMkLst>
          <pc:docMk/>
          <pc:sldMk cId="860765087" sldId="2147470495"/>
        </pc:sldMkLst>
        <pc:graphicFrameChg chg="modGraphic">
          <ac:chgData name="POOJITHA D" userId="07aaa1c9fac6b292" providerId="LiveId" clId="{7D8BBD79-C254-4BB5-9385-D768F232E73F}" dt="2026-09-06T15:36:14.672" v="1" actId="20577"/>
          <ac:graphicFrameMkLst>
            <pc:docMk/>
            <pc:sldMk cId="860765087" sldId="2147470495"/>
            <ac:graphicFrameMk id="8" creationId="{0183DD0B-9B79-52F7-3FB5-09E52DEECAD1}"/>
          </ac:graphicFrameMkLst>
        </pc:graphicFrameChg>
      </pc:sldChg>
      <pc:sldChg chg="modSp mod">
        <pc:chgData name="POOJITHA D" userId="07aaa1c9fac6b292" providerId="LiveId" clId="{7D8BBD79-C254-4BB5-9385-D768F232E73F}" dt="2026-09-06T15:36:18.317" v="2" actId="20577"/>
        <pc:sldMkLst>
          <pc:docMk/>
          <pc:sldMk cId="829115572" sldId="2147470503"/>
        </pc:sldMkLst>
        <pc:graphicFrameChg chg="modGraphic">
          <ac:chgData name="POOJITHA D" userId="07aaa1c9fac6b292" providerId="LiveId" clId="{7D8BBD79-C254-4BB5-9385-D768F232E73F}" dt="2026-09-06T15:36:18.317" v="2" actId="20577"/>
          <ac:graphicFrameMkLst>
            <pc:docMk/>
            <pc:sldMk cId="829115572" sldId="2147470503"/>
            <ac:graphicFrameMk id="8" creationId="{DA51D03F-2118-9841-FDEF-CC3EA78E01EE}"/>
          </ac:graphicFrameMkLst>
        </pc:graphicFrameChg>
      </pc:sldChg>
      <pc:sldChg chg="modSp mod">
        <pc:chgData name="POOJITHA D" userId="07aaa1c9fac6b292" providerId="LiveId" clId="{7D8BBD79-C254-4BB5-9385-D768F232E73F}" dt="2026-09-06T15:36:23.276" v="4" actId="20577"/>
        <pc:sldMkLst>
          <pc:docMk/>
          <pc:sldMk cId="3960073591" sldId="2147470504"/>
        </pc:sldMkLst>
        <pc:graphicFrameChg chg="modGraphic">
          <ac:chgData name="POOJITHA D" userId="07aaa1c9fac6b292" providerId="LiveId" clId="{7D8BBD79-C254-4BB5-9385-D768F232E73F}" dt="2026-09-06T15:36:23.276" v="4" actId="20577"/>
          <ac:graphicFrameMkLst>
            <pc:docMk/>
            <pc:sldMk cId="3960073591" sldId="2147470504"/>
            <ac:graphicFrameMk id="8" creationId="{E8E6F880-3028-EC67-249E-F8B747B6FAD5}"/>
          </ac:graphicFrameMkLst>
        </pc:graphicFrameChg>
      </pc:sldChg>
      <pc:sldChg chg="modSp mod">
        <pc:chgData name="POOJITHA D" userId="07aaa1c9fac6b292" providerId="LiveId" clId="{7D8BBD79-C254-4BB5-9385-D768F232E73F}" dt="2026-09-06T15:36:26.925" v="6" actId="20577"/>
        <pc:sldMkLst>
          <pc:docMk/>
          <pc:sldMk cId="3749038947" sldId="2147470505"/>
        </pc:sldMkLst>
        <pc:graphicFrameChg chg="modGraphic">
          <ac:chgData name="POOJITHA D" userId="07aaa1c9fac6b292" providerId="LiveId" clId="{7D8BBD79-C254-4BB5-9385-D768F232E73F}" dt="2026-09-06T15:36:26.925" v="6" actId="20577"/>
          <ac:graphicFrameMkLst>
            <pc:docMk/>
            <pc:sldMk cId="3749038947" sldId="2147470505"/>
            <ac:graphicFrameMk id="8" creationId="{68150D3D-1575-F413-4A80-698BC6AE99C5}"/>
          </ac:graphicFrameMkLst>
        </pc:graphicFrameChg>
      </pc:sldChg>
      <pc:sldChg chg="modSp mod">
        <pc:chgData name="POOJITHA D" userId="07aaa1c9fac6b292" providerId="LiveId" clId="{7D8BBD79-C254-4BB5-9385-D768F232E73F}" dt="2026-09-06T15:36:32.868" v="7" actId="20577"/>
        <pc:sldMkLst>
          <pc:docMk/>
          <pc:sldMk cId="3411009393" sldId="2147470506"/>
        </pc:sldMkLst>
        <pc:graphicFrameChg chg="modGraphic">
          <ac:chgData name="POOJITHA D" userId="07aaa1c9fac6b292" providerId="LiveId" clId="{7D8BBD79-C254-4BB5-9385-D768F232E73F}" dt="2026-09-06T15:36:32.868" v="7" actId="20577"/>
          <ac:graphicFrameMkLst>
            <pc:docMk/>
            <pc:sldMk cId="3411009393" sldId="2147470506"/>
            <ac:graphicFrameMk id="8" creationId="{A1E9A02F-AB77-0360-5BDC-C8DA51E826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0"/>
            <a:ext cx="12254538" cy="6898126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55403" y="31091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393897" y="1201242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284811" y="1668462"/>
            <a:ext cx="115196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1. UPI Digital Payment Reliability Index: Forecasting, Change-Point Detection &amp; RAG-Based Anomaly Explanation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POOJITHA D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T10005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VIT CHENNAI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 descr="LTM GIFs on GIPHY - Be Animated">
            <a:extLst>
              <a:ext uri="{FF2B5EF4-FFF2-40B4-BE49-F238E27FC236}">
                <a16:creationId xmlns:a16="http://schemas.microsoft.com/office/drawing/2014/main" id="{AD2087CE-E53A-BC2D-73E9-3E6D9BFA9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58" b="34969"/>
          <a:stretch>
            <a:fillRect/>
          </a:stretch>
        </p:blipFill>
        <p:spPr>
          <a:xfrm>
            <a:off x="-29980" y="6010971"/>
            <a:ext cx="3007330" cy="88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67968" y="1862545"/>
            <a:ext cx="9656064" cy="38677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UPI processes billions of transactions </a:t>
            </a:r>
            <a:r>
              <a:rPr lang="en-US" dirty="0">
                <a:latin typeface="+mn-lt"/>
              </a:rPr>
              <a:t>every month </a:t>
            </a:r>
            <a:r>
              <a:rPr lang="en-US" b="0" dirty="0">
                <a:latin typeface="+mn-lt"/>
              </a:rPr>
              <a:t>in India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NPCI publishes bank-wise failure rates </a:t>
            </a:r>
            <a:r>
              <a:rPr lang="en-US" dirty="0">
                <a:latin typeface="+mn-lt"/>
              </a:rPr>
              <a:t>publicly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The reports do not include any </a:t>
            </a:r>
            <a:r>
              <a:rPr lang="en-US" dirty="0">
                <a:latin typeface="+mn-lt"/>
              </a:rPr>
              <a:t>trend analysis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Most monitoring tools are for </a:t>
            </a:r>
            <a:r>
              <a:rPr lang="en-US" dirty="0">
                <a:latin typeface="+mn-lt"/>
              </a:rPr>
              <a:t>fraud detection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To address </a:t>
            </a:r>
            <a:r>
              <a:rPr lang="en-US" dirty="0">
                <a:latin typeface="+mn-lt"/>
              </a:rPr>
              <a:t>technical reliability</a:t>
            </a:r>
            <a:r>
              <a:rPr lang="en-US" b="0" dirty="0">
                <a:latin typeface="+mn-lt"/>
              </a:rPr>
              <a:t>, not fraud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Failures can be </a:t>
            </a:r>
            <a:r>
              <a:rPr lang="en-US" dirty="0">
                <a:latin typeface="+mn-lt"/>
              </a:rPr>
              <a:t>timeouts</a:t>
            </a:r>
            <a:r>
              <a:rPr lang="en-US" b="0" dirty="0">
                <a:latin typeface="+mn-lt"/>
              </a:rPr>
              <a:t>, </a:t>
            </a:r>
            <a:r>
              <a:rPr lang="en-US" dirty="0">
                <a:latin typeface="+mn-lt"/>
              </a:rPr>
              <a:t>reversals</a:t>
            </a:r>
            <a:r>
              <a:rPr lang="en-US" b="0" dirty="0">
                <a:latin typeface="+mn-lt"/>
              </a:rPr>
              <a:t>, or </a:t>
            </a:r>
            <a:r>
              <a:rPr lang="en-US" dirty="0">
                <a:latin typeface="+mn-lt"/>
              </a:rPr>
              <a:t>other processing failures</a:t>
            </a:r>
          </a:p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These erode </a:t>
            </a:r>
            <a:r>
              <a:rPr lang="en-US" dirty="0">
                <a:latin typeface="+mn-lt"/>
              </a:rPr>
              <a:t>customer trust </a:t>
            </a:r>
            <a:r>
              <a:rPr lang="en-US" b="0" dirty="0">
                <a:latin typeface="+mn-lt"/>
              </a:rPr>
              <a:t>and cause </a:t>
            </a:r>
            <a:r>
              <a:rPr lang="en-US" dirty="0">
                <a:latin typeface="+mn-lt"/>
              </a:rPr>
              <a:t>business decline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1576757" y="57036"/>
            <a:ext cx="107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5181" y="1924913"/>
            <a:ext cx="9181638" cy="350662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latin typeface="+mn-lt"/>
              </a:rPr>
              <a:t>Build a </a:t>
            </a:r>
            <a:r>
              <a:rPr lang="en-US" dirty="0">
                <a:latin typeface="+mn-lt"/>
              </a:rPr>
              <a:t>bank-wise reliability monitoring </a:t>
            </a:r>
            <a:r>
              <a:rPr lang="en-US" b="0" dirty="0">
                <a:latin typeface="+mn-lt"/>
              </a:rPr>
              <a:t>system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Forecast</a:t>
            </a:r>
            <a:r>
              <a:rPr lang="en-US" b="0" dirty="0">
                <a:latin typeface="+mn-lt"/>
              </a:rPr>
              <a:t> expected payment reliability each month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Identify</a:t>
            </a:r>
            <a:r>
              <a:rPr lang="en-US" b="0" dirty="0">
                <a:latin typeface="+mn-lt"/>
              </a:rPr>
              <a:t> when exactly payment reliability starts deteriorating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Justify anomalies </a:t>
            </a:r>
            <a:r>
              <a:rPr lang="en-US" b="0" dirty="0">
                <a:latin typeface="+mn-lt"/>
              </a:rPr>
              <a:t>through grounded RAG retrieval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+mn-lt"/>
              </a:rPr>
              <a:t>Prioritize risks </a:t>
            </a:r>
            <a:r>
              <a:rPr lang="en-US" b="0" dirty="0">
                <a:latin typeface="+mn-lt"/>
              </a:rPr>
              <a:t>according to actual transaction volumes</a:t>
            </a:r>
          </a:p>
          <a:p>
            <a:pPr>
              <a:lnSpc>
                <a:spcPct val="100000"/>
              </a:lnSpc>
            </a:pPr>
            <a:r>
              <a:rPr lang="en-US" b="0" dirty="0"/>
              <a:t>Enable </a:t>
            </a:r>
            <a:r>
              <a:rPr lang="en-US" dirty="0"/>
              <a:t>early intervention </a:t>
            </a:r>
            <a:r>
              <a:rPr lang="en-US" b="0" dirty="0"/>
              <a:t>before customer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1640815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456" y="1863607"/>
            <a:ext cx="10624337" cy="3577823"/>
          </a:xfrm>
        </p:spPr>
        <p:txBody>
          <a:bodyPr/>
          <a:lstStyle/>
          <a:p>
            <a:pPr lvl="0"/>
            <a:r>
              <a:rPr lang="en-IN" dirty="0"/>
              <a:t>Regulatory Early Warning: </a:t>
            </a:r>
            <a:r>
              <a:rPr lang="en-IN" b="0" dirty="0"/>
              <a:t>Automatically flags banks trending toward reliability breaches before compliance issues arise. </a:t>
            </a:r>
          </a:p>
          <a:p>
            <a:pPr lvl="0"/>
            <a:r>
              <a:rPr lang="en-IN" dirty="0"/>
              <a:t>Bank-Side Monitoring:</a:t>
            </a:r>
            <a:r>
              <a:rPr lang="en-IN" b="0" dirty="0"/>
              <a:t> Helps banks detect technical degradation and operational failures early. </a:t>
            </a:r>
          </a:p>
          <a:p>
            <a:pPr lvl="0"/>
            <a:r>
              <a:rPr lang="en-IN" dirty="0"/>
              <a:t>Scalable Monitoring: </a:t>
            </a:r>
            <a:r>
              <a:rPr lang="en-IN" b="0" dirty="0"/>
              <a:t>Supports monthly, daily, or live data without changing the core forecasting and risk-scoring pipeline. </a:t>
            </a:r>
          </a:p>
          <a:p>
            <a:pPr lvl="0"/>
            <a:r>
              <a:rPr lang="en-IN" dirty="0"/>
              <a:t>Beyond UPI: </a:t>
            </a:r>
            <a:r>
              <a:rPr lang="en-IN" b="0" dirty="0"/>
              <a:t>The framework can extend to IMPS, NEFT, card networks, and other payment systems.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A07349-67A4-0698-F235-F3FF6CC9B6D7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0418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4B4E06-F06A-FBA4-7230-219FCB9711CB}"/>
              </a:ext>
            </a:extLst>
          </p:cNvPr>
          <p:cNvSpPr txBox="1"/>
          <p:nvPr/>
        </p:nvSpPr>
        <p:spPr>
          <a:xfrm>
            <a:off x="1622527" y="29604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83DD0B-9B79-52F7-3FB5-09E52DEEC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32536"/>
              </p:ext>
            </p:extLst>
          </p:nvPr>
        </p:nvGraphicFramePr>
        <p:xfrm>
          <a:off x="221274" y="1102587"/>
          <a:ext cx="11716726" cy="5065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030">
                  <a:extLst>
                    <a:ext uri="{9D8B030D-6E8A-4147-A177-3AD203B41FA5}">
                      <a16:colId xmlns:a16="http://schemas.microsoft.com/office/drawing/2014/main" val="3328399186"/>
                    </a:ext>
                  </a:extLst>
                </a:gridCol>
                <a:gridCol w="3821143">
                  <a:extLst>
                    <a:ext uri="{9D8B030D-6E8A-4147-A177-3AD203B41FA5}">
                      <a16:colId xmlns:a16="http://schemas.microsoft.com/office/drawing/2014/main" val="3945244883"/>
                    </a:ext>
                  </a:extLst>
                </a:gridCol>
                <a:gridCol w="3072853">
                  <a:extLst>
                    <a:ext uri="{9D8B030D-6E8A-4147-A177-3AD203B41FA5}">
                      <a16:colId xmlns:a16="http://schemas.microsoft.com/office/drawing/2014/main" val="107151519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95561133"/>
                    </a:ext>
                  </a:extLst>
                </a:gridCol>
              </a:tblGrid>
              <a:tr h="4936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265223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Secure UPI: Machine Learning-Driven Fraud Detection System for UPI Transactions (IEEE,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XGBoost, SMOTE, PCA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Fraud-only focus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reliability trend tracking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explanation layer for flags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205406285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Fraud Detection Using Machine Learning (ResearchGate,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Decision Tree, Random Forest, Logistic Regression, Neural Network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Transaction classification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forecasting component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bank-wise aggregation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519140588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Fraud Detection Using Convolutional Neural Networks — CNN (ResearchGate, 2024)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CNN, Decision Tree, Naive Bayes, Logistic Regression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Imbalanced-fraud focus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technical-failure distinction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volume-based prioritization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052581963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Machine Learning-Driven Detection of UPI Fraudulent Activities (IEEE, 2025)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Random Forest, XGBoost, LSTM, CNN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Multimodal (QR/voice) fraud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Not applicable to reliability decline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RAG/explanation component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628153702"/>
                  </a:ext>
                </a:extLst>
              </a:tr>
              <a:tr h="63204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UPI Based Financial Fraud Detection Using Deep Learning Approach (ResearchGate, 2024)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CNN, LSTM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Transaction-level fraud only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bank-level trend analysis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• No early-warning mechanism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9735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3D67-2C49-3654-5B41-D09A4A73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94997-C2D9-A201-1948-51C03CA1977A}"/>
              </a:ext>
            </a:extLst>
          </p:cNvPr>
          <p:cNvSpPr txBox="1"/>
          <p:nvPr/>
        </p:nvSpPr>
        <p:spPr>
          <a:xfrm>
            <a:off x="255996" y="352645"/>
            <a:ext cx="4271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EFC7A3-7670-E02C-674C-E1C74DEDAA66}"/>
              </a:ext>
            </a:extLst>
          </p:cNvPr>
          <p:cNvCxnSpPr>
            <a:cxnSpLocks/>
          </p:cNvCxnSpPr>
          <p:nvPr/>
        </p:nvCxnSpPr>
        <p:spPr>
          <a:xfrm>
            <a:off x="221274" y="102686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09E1F9-4689-D9A4-FFF9-302C83EC3F49}"/>
              </a:ext>
            </a:extLst>
          </p:cNvPr>
          <p:cNvSpPr txBox="1"/>
          <p:nvPr/>
        </p:nvSpPr>
        <p:spPr>
          <a:xfrm>
            <a:off x="1622527" y="29604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125181-27A9-9B4A-3BF4-131AAC4EC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02895"/>
              </p:ext>
            </p:extLst>
          </p:nvPr>
        </p:nvGraphicFramePr>
        <p:xfrm>
          <a:off x="221274" y="1087596"/>
          <a:ext cx="11848901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205">
                  <a:extLst>
                    <a:ext uri="{9D8B030D-6E8A-4147-A177-3AD203B41FA5}">
                      <a16:colId xmlns:a16="http://schemas.microsoft.com/office/drawing/2014/main" val="3328399186"/>
                    </a:ext>
                  </a:extLst>
                </a:gridCol>
                <a:gridCol w="4423147">
                  <a:extLst>
                    <a:ext uri="{9D8B030D-6E8A-4147-A177-3AD203B41FA5}">
                      <a16:colId xmlns:a16="http://schemas.microsoft.com/office/drawing/2014/main" val="3945244883"/>
                    </a:ext>
                  </a:extLst>
                </a:gridCol>
                <a:gridCol w="2470849">
                  <a:extLst>
                    <a:ext uri="{9D8B030D-6E8A-4147-A177-3AD203B41FA5}">
                      <a16:colId xmlns:a16="http://schemas.microsoft.com/office/drawing/2014/main" val="107151519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95561133"/>
                    </a:ext>
                  </a:extLst>
                </a:gridCol>
              </a:tblGrid>
              <a:tr h="446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265223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Enhanced UPI Fraud Detection Using CNN: A Comparative Analysis with ML Models (ResearchGate, 2025)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CNN vs. traditional ML (comparative)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Fraud pattern detection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forecasting/change-point method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cross-bank risk ranking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205406285"/>
                  </a:ext>
                </a:extLst>
              </a:tr>
              <a:tr h="10516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Deep Learning-Based Real-Time Fraud Detection Framework for UPI Transactions Using Hybrid CNN-</a:t>
                      </a:r>
                      <a:r>
                        <a:rPr lang="en-IN" sz="1900" dirty="0" err="1">
                          <a:solidFill>
                            <a:srgbClr val="0070C0"/>
                          </a:solidFill>
                        </a:rPr>
                        <a:t>BiLSTM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 Model (ResearchGate, 2026)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CNN-BiLSTM, Random Forest, Isolation Forest, LSTM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Real-time fraud streaming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Not technical-reliability focused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regulatory reporting angle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19140588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Real-Time UPI Fraud Detection Using GNNs (ResearchGate, 2025)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Graph Neural Networks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Network-fraud relationships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Not applicable to bank-wise decline monitoring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52581963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 err="1">
                          <a:solidFill>
                            <a:srgbClr val="0070C0"/>
                          </a:solidFill>
                        </a:rPr>
                        <a:t>FakePay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: A Real-Time UPI Fraud Detection System Using OCR, CNN, and Ensemble ML (</a:t>
                      </a:r>
                      <a:r>
                        <a:rPr lang="en-IN" sz="19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ResearchGate, </a:t>
                      </a: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2026)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OCR, CNN, Ensemble ML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Fake-QR/screenshot fraud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Unrelated to systemic reliability failures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28153702"/>
                  </a:ext>
                </a:extLst>
              </a:tr>
              <a:tr h="7887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Fraud Fighters — How AI and ML are Revolutionizing UPI Security (2024) — IEEE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solidFill>
                            <a:srgbClr val="0070C0"/>
                          </a:solidFill>
                        </a:rPr>
                        <a:t>Survey of multiple AI/ML models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Survey-level, security lens only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reliability-index concept discussed</a:t>
                      </a:r>
                      <a:br>
                        <a:rPr lang="en-IN" sz="19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900" dirty="0">
                          <a:solidFill>
                            <a:srgbClr val="0070C0"/>
                          </a:solidFill>
                        </a:rPr>
                        <a:t>• No forecasting/RAG methodology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9735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26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587" y="1618938"/>
            <a:ext cx="10373193" cy="4122294"/>
          </a:xfrm>
        </p:spPr>
        <p:txBody>
          <a:bodyPr/>
          <a:lstStyle/>
          <a:p>
            <a:pPr lvl="0"/>
            <a:r>
              <a:rPr lang="en-IN" dirty="0"/>
              <a:t>Fraud-Centric Research: </a:t>
            </a:r>
            <a:r>
              <a:rPr lang="en-IN" b="0" dirty="0"/>
              <a:t>Existing UPI studies focus mainly on fraud detection, with limited attention to</a:t>
            </a:r>
            <a:r>
              <a:rPr lang="en-IN" dirty="0"/>
              <a:t> </a:t>
            </a:r>
            <a:r>
              <a:rPr lang="en-IN" b="0" dirty="0"/>
              <a:t>system reliability and technical failures. </a:t>
            </a:r>
          </a:p>
          <a:p>
            <a:pPr lvl="0"/>
            <a:r>
              <a:rPr lang="en-IN" dirty="0"/>
              <a:t>No Reliability Risk Framework: </a:t>
            </a:r>
            <a:r>
              <a:rPr lang="en-IN" b="0" dirty="0"/>
              <a:t>Lack of a</a:t>
            </a:r>
            <a:r>
              <a:rPr lang="en-IN" dirty="0"/>
              <a:t> </a:t>
            </a:r>
            <a:r>
              <a:rPr lang="en-IN" b="0" dirty="0"/>
              <a:t>bank-wise reliability index, trend analysis, and risk ranking. </a:t>
            </a:r>
          </a:p>
          <a:p>
            <a:pPr lvl="0" algn="just"/>
            <a:r>
              <a:rPr lang="en-IN" dirty="0"/>
              <a:t>No Early-Warning Mechanism: </a:t>
            </a:r>
            <a:r>
              <a:rPr lang="en-IN" b="0" dirty="0"/>
              <a:t>Limited use of</a:t>
            </a:r>
            <a:r>
              <a:rPr lang="en-IN" dirty="0"/>
              <a:t> </a:t>
            </a:r>
            <a:r>
              <a:rPr lang="en-IN" b="0" dirty="0"/>
              <a:t>forecasting and change-point detection to identify emerging reliability deterioration.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Limited Risk Prioritization: </a:t>
            </a:r>
            <a:r>
              <a:rPr lang="en-IN" b="0" dirty="0"/>
              <a:t>Transaction volume is rarely incorporated to prioritize</a:t>
            </a:r>
            <a:r>
              <a:rPr lang="en-IN" dirty="0"/>
              <a:t> </a:t>
            </a:r>
            <a:r>
              <a:rPr lang="en-IN" b="0" dirty="0"/>
              <a:t>high-impact bank-level risks.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F13E56-7ADB-20BF-C9A8-460017B9C483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1675" y="1708449"/>
            <a:ext cx="9528649" cy="3957795"/>
          </a:xfrm>
        </p:spPr>
        <p:txBody>
          <a:bodyPr/>
          <a:lstStyle/>
          <a:p>
            <a:r>
              <a:rPr lang="en-IN" dirty="0"/>
              <a:t>Dataset: </a:t>
            </a:r>
            <a:r>
              <a:rPr lang="en-IN" b="0" dirty="0"/>
              <a:t>NPCI remitter-bank monthly UPI transaction data</a:t>
            </a:r>
          </a:p>
          <a:p>
            <a:r>
              <a:rPr lang="en-IN" dirty="0"/>
              <a:t>Data Characteristics: </a:t>
            </a:r>
            <a:r>
              <a:rPr lang="en-IN" b="0" dirty="0"/>
              <a:t>Customer-facing reliability metrics with month mismatches and duplicate records automatically handled</a:t>
            </a:r>
          </a:p>
          <a:p>
            <a:r>
              <a:rPr lang="en-IN" dirty="0"/>
              <a:t>Tech Stack: </a:t>
            </a:r>
            <a:r>
              <a:rPr lang="en-IN" b="0" dirty="0"/>
              <a:t>Python, Pandas, Prophet, PELT, Sentence-Transformers, </a:t>
            </a:r>
            <a:r>
              <a:rPr lang="en-IN" b="0" dirty="0" err="1"/>
              <a:t>MLflow</a:t>
            </a:r>
            <a:r>
              <a:rPr lang="en-IN" b="0" dirty="0"/>
              <a:t>, SQLite, Power BI</a:t>
            </a:r>
          </a:p>
          <a:p>
            <a:r>
              <a:rPr lang="en-IN" dirty="0"/>
              <a:t>Web Application: </a:t>
            </a:r>
            <a:r>
              <a:rPr lang="en-IN" b="0" dirty="0" err="1"/>
              <a:t>FastAPI</a:t>
            </a:r>
            <a:r>
              <a:rPr lang="en-IN" b="0" dirty="0"/>
              <a:t>-based monitoring dashboard with RAG-powered explanations using RBI circulars, notices, and news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DFDA5E-B17B-26E2-9AB5-D86FF86A8436}"/>
              </a:ext>
            </a:extLst>
          </p:cNvPr>
          <p:cNvSpPr txBox="1"/>
          <p:nvPr/>
        </p:nvSpPr>
        <p:spPr>
          <a:xfrm>
            <a:off x="1659103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500" y="1792428"/>
            <a:ext cx="10417000" cy="3873815"/>
          </a:xfrm>
        </p:spPr>
        <p:txBody>
          <a:bodyPr/>
          <a:lstStyle/>
          <a:p>
            <a:r>
              <a:rPr lang="en-IN" dirty="0"/>
              <a:t>Data Engineering – </a:t>
            </a:r>
            <a:r>
              <a:rPr lang="en-IN" b="0" dirty="0"/>
              <a:t>Ingestion, cleaning, validation, SQLite storage</a:t>
            </a:r>
            <a:endParaRPr lang="en-IN" dirty="0"/>
          </a:p>
          <a:p>
            <a:r>
              <a:rPr lang="en-IN" dirty="0"/>
              <a:t>Reliability Analytics – </a:t>
            </a:r>
            <a:r>
              <a:rPr lang="en-IN" b="0" dirty="0"/>
              <a:t>Forecasting, seasonality, change-point detection, benchmarking</a:t>
            </a:r>
            <a:endParaRPr lang="en-IN" dirty="0"/>
          </a:p>
          <a:p>
            <a:r>
              <a:rPr lang="en-IN" dirty="0"/>
              <a:t>Risk Scoring – </a:t>
            </a:r>
            <a:r>
              <a:rPr lang="en-IN" b="0" dirty="0"/>
              <a:t>Volume-weighted scoring, anomaly ranking, impact prioritization</a:t>
            </a:r>
            <a:endParaRPr lang="en-IN" dirty="0"/>
          </a:p>
          <a:p>
            <a:r>
              <a:rPr lang="en-IN" dirty="0"/>
              <a:t>RAG – </a:t>
            </a:r>
            <a:r>
              <a:rPr lang="en-IN" b="0" dirty="0"/>
              <a:t>Document retrieval, semantic search, grounded explanations</a:t>
            </a:r>
            <a:endParaRPr lang="en-IN" dirty="0"/>
          </a:p>
          <a:p>
            <a:r>
              <a:rPr lang="en-IN" dirty="0"/>
              <a:t>Dashboard &amp; </a:t>
            </a:r>
            <a:r>
              <a:rPr lang="en-IN" dirty="0" err="1"/>
              <a:t>MLOps</a:t>
            </a:r>
            <a:r>
              <a:rPr lang="en-IN" dirty="0"/>
              <a:t> – </a:t>
            </a:r>
            <a:r>
              <a:rPr lang="en-IN" b="0" dirty="0"/>
              <a:t>Power BI visualization, </a:t>
            </a:r>
            <a:r>
              <a:rPr lang="en-IN" b="0" dirty="0" err="1"/>
              <a:t>MLflow</a:t>
            </a:r>
            <a:r>
              <a:rPr lang="en-IN" b="0" dirty="0"/>
              <a:t> tracking, automated refresh</a:t>
            </a:r>
          </a:p>
          <a:p>
            <a:pPr>
              <a:lnSpc>
                <a:spcPct val="100000"/>
              </a:lnSpc>
            </a:pP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3531E4-4164-C519-7FEA-076B990D5B1A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093A-7026-C022-FDDD-E9DA18D9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3508FF-60B7-4BC3-B818-7579132CC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5216" y="1170629"/>
            <a:ext cx="10901021" cy="2142527"/>
          </a:xfrm>
        </p:spPr>
        <p:txBody>
          <a:bodyPr/>
          <a:lstStyle/>
          <a:p>
            <a:r>
              <a:rPr lang="en-IN" dirty="0"/>
              <a:t>Data Collection: </a:t>
            </a:r>
            <a:r>
              <a:rPr lang="en-IN" b="0" dirty="0"/>
              <a:t>Processes real NPCI bank-wise monthly files. </a:t>
            </a:r>
          </a:p>
          <a:p>
            <a:pPr lvl="0"/>
            <a:r>
              <a:rPr lang="en-IN" dirty="0"/>
              <a:t>Data Cleaning: </a:t>
            </a:r>
            <a:r>
              <a:rPr lang="en-IN" b="0" dirty="0"/>
              <a:t>Standardizes columns and percentage formats.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Data Validation: </a:t>
            </a:r>
            <a:r>
              <a:rPr lang="en-IN" b="0" dirty="0"/>
              <a:t>Detects duplicate and inconsistent monthly records.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Data Storage: </a:t>
            </a:r>
            <a:r>
              <a:rPr lang="en-IN" b="0" dirty="0"/>
              <a:t>Maintains structured data in SQLite.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F6D82-B1F4-1010-78EB-2196DDA9520E}"/>
              </a:ext>
            </a:extLst>
          </p:cNvPr>
          <p:cNvSpPr txBox="1"/>
          <p:nvPr/>
        </p:nvSpPr>
        <p:spPr>
          <a:xfrm>
            <a:off x="255996" y="43853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Data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4F8B47-7681-AB6A-F8F4-6EBD262D502C}"/>
              </a:ext>
            </a:extLst>
          </p:cNvPr>
          <p:cNvCxnSpPr>
            <a:cxnSpLocks/>
          </p:cNvCxnSpPr>
          <p:nvPr/>
        </p:nvCxnSpPr>
        <p:spPr>
          <a:xfrm>
            <a:off x="221274" y="112774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1F9F8E-B464-7627-F9BB-16239C43C3C1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E83CA85-4AB4-88A4-F875-7D475FF7C903}"/>
              </a:ext>
            </a:extLst>
          </p:cNvPr>
          <p:cNvSpPr txBox="1">
            <a:spLocks/>
          </p:cNvSpPr>
          <p:nvPr/>
        </p:nvSpPr>
        <p:spPr>
          <a:xfrm>
            <a:off x="675216" y="3874602"/>
            <a:ext cx="10522435" cy="2544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Forecasting: </a:t>
            </a:r>
            <a:r>
              <a:rPr lang="en-IN" b="0" dirty="0"/>
              <a:t>Predicts next-month decline rates using Prophet.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Trend Analysis: </a:t>
            </a:r>
            <a:r>
              <a:rPr lang="en-IN" b="0" dirty="0"/>
              <a:t>Captures seasonal reliability patterns. </a:t>
            </a:r>
          </a:p>
          <a:p>
            <a:pPr lvl="0"/>
            <a:r>
              <a:rPr lang="en-IN" dirty="0"/>
              <a:t>Change-Point Detection: </a:t>
            </a:r>
            <a:r>
              <a:rPr lang="en-IN" b="0" dirty="0"/>
              <a:t>Identifies significant shifts using PELT, and Binary Segmentation. </a:t>
            </a:r>
          </a:p>
          <a:p>
            <a:pPr lvl="0"/>
            <a:r>
              <a:rPr lang="en-IN" dirty="0"/>
              <a:t>Benchmarking: </a:t>
            </a:r>
            <a:r>
              <a:rPr lang="en-IN" b="0" dirty="0"/>
              <a:t>Compares Prophet with Naïve Baseline.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FDAAB-59F4-4B9E-1C07-8A41AE200844}"/>
              </a:ext>
            </a:extLst>
          </p:cNvPr>
          <p:cNvSpPr txBox="1"/>
          <p:nvPr/>
        </p:nvSpPr>
        <p:spPr>
          <a:xfrm>
            <a:off x="255996" y="31638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Reliability Analytics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0D7BD1-0012-57B0-158E-201C632654BC}"/>
              </a:ext>
            </a:extLst>
          </p:cNvPr>
          <p:cNvCxnSpPr>
            <a:cxnSpLocks/>
          </p:cNvCxnSpPr>
          <p:nvPr/>
        </p:nvCxnSpPr>
        <p:spPr>
          <a:xfrm>
            <a:off x="221274" y="385303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79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F90F-D10F-4E75-F8A3-6F3D82E1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58B55A-B711-8E46-5CFE-542E0AC9E2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9824" y="1170629"/>
            <a:ext cx="11851275" cy="2142527"/>
          </a:xfrm>
        </p:spPr>
        <p:txBody>
          <a:bodyPr/>
          <a:lstStyle/>
          <a:p>
            <a:pPr lvl="0"/>
            <a:r>
              <a:rPr lang="en-IN" dirty="0"/>
              <a:t>Impact Scoring: </a:t>
            </a:r>
            <a:r>
              <a:rPr lang="en-IN" b="0" dirty="0"/>
              <a:t>Combines decline rates with transaction volume. </a:t>
            </a:r>
          </a:p>
          <a:p>
            <a:pPr lvl="0"/>
            <a:r>
              <a:rPr lang="en-IN" dirty="0"/>
              <a:t>Bank Ranking: </a:t>
            </a:r>
            <a:r>
              <a:rPr lang="en-IN" b="0" dirty="0"/>
              <a:t>Prioritizes anomalies by business impact. </a:t>
            </a:r>
          </a:p>
          <a:p>
            <a:pPr lvl="0"/>
            <a:r>
              <a:rPr lang="en-IN" dirty="0"/>
              <a:t>Risk Detection: </a:t>
            </a:r>
            <a:r>
              <a:rPr lang="en-IN" b="0" dirty="0"/>
              <a:t>Distinguishes genuine deterioration from stable performance. </a:t>
            </a:r>
          </a:p>
          <a:p>
            <a:pPr lvl="0"/>
            <a:r>
              <a:rPr lang="en-IN" dirty="0"/>
              <a:t>Auditability: </a:t>
            </a:r>
            <a:r>
              <a:rPr lang="en-IN" b="0" dirty="0"/>
              <a:t>Uses transparent, formula-based scoring.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3DDD3-62F9-2AC1-9ACC-3E1B8B8C1A44}"/>
              </a:ext>
            </a:extLst>
          </p:cNvPr>
          <p:cNvSpPr txBox="1"/>
          <p:nvPr/>
        </p:nvSpPr>
        <p:spPr>
          <a:xfrm>
            <a:off x="255996" y="3785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Risk Scoring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7C7451-58F2-9007-F2F4-67BECA6F0680}"/>
              </a:ext>
            </a:extLst>
          </p:cNvPr>
          <p:cNvCxnSpPr>
            <a:cxnSpLocks/>
          </p:cNvCxnSpPr>
          <p:nvPr/>
        </p:nvCxnSpPr>
        <p:spPr>
          <a:xfrm>
            <a:off x="221274" y="106778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0C0819-4797-4FFD-8180-2F0FBF23A6CF}"/>
              </a:ext>
            </a:extLst>
          </p:cNvPr>
          <p:cNvSpPr txBox="1"/>
          <p:nvPr/>
        </p:nvSpPr>
        <p:spPr>
          <a:xfrm>
            <a:off x="1631671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43BB1B6-E5CE-902D-AA9B-559EA6668FD6}"/>
              </a:ext>
            </a:extLst>
          </p:cNvPr>
          <p:cNvSpPr txBox="1">
            <a:spLocks/>
          </p:cNvSpPr>
          <p:nvPr/>
        </p:nvSpPr>
        <p:spPr>
          <a:xfrm>
            <a:off x="610508" y="3846302"/>
            <a:ext cx="10901021" cy="2544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Document Retrieval:</a:t>
            </a:r>
            <a:r>
              <a:rPr lang="en-IN" b="0" dirty="0"/>
              <a:t> Retrieves relevant RBI documents. </a:t>
            </a:r>
          </a:p>
          <a:p>
            <a:r>
              <a:rPr lang="en-IN" dirty="0"/>
              <a:t>Semantic Search: </a:t>
            </a:r>
            <a:r>
              <a:rPr lang="en-IN" b="0" dirty="0"/>
              <a:t>Uses Sentence-Transformer embeddings. </a:t>
            </a:r>
          </a:p>
          <a:p>
            <a:r>
              <a:rPr lang="en-IN" dirty="0"/>
              <a:t>Grounded Explanation: </a:t>
            </a:r>
            <a:r>
              <a:rPr lang="en-IN" b="0" dirty="0"/>
              <a:t>Generates explanations only from retrieved sources. </a:t>
            </a:r>
          </a:p>
          <a:p>
            <a:r>
              <a:rPr lang="en-IN" dirty="0"/>
              <a:t>Root-Cause Insight:</a:t>
            </a:r>
            <a:r>
              <a:rPr lang="en-IN" b="0" dirty="0"/>
              <a:t> Answers </a:t>
            </a:r>
            <a:r>
              <a:rPr lang="en-IN" b="0" i="1" dirty="0"/>
              <a:t>“Why was this bank flagged?”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44AA3-4F93-583B-9E06-8E030B4CC097}"/>
              </a:ext>
            </a:extLst>
          </p:cNvPr>
          <p:cNvSpPr txBox="1"/>
          <p:nvPr/>
        </p:nvSpPr>
        <p:spPr>
          <a:xfrm>
            <a:off x="446124" y="311421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 Explanation Layer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EEF7BE-0601-4B1B-0F7A-DF71909DAAC3}"/>
              </a:ext>
            </a:extLst>
          </p:cNvPr>
          <p:cNvCxnSpPr>
            <a:cxnSpLocks/>
          </p:cNvCxnSpPr>
          <p:nvPr/>
        </p:nvCxnSpPr>
        <p:spPr>
          <a:xfrm>
            <a:off x="411402" y="380342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00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A798-3C31-80C7-B1E2-749586D5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33C96E-C337-8515-BB4D-487916F878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469" y="2138280"/>
            <a:ext cx="10624338" cy="2553642"/>
          </a:xfrm>
        </p:spPr>
        <p:txBody>
          <a:bodyPr/>
          <a:lstStyle/>
          <a:p>
            <a:pPr lvl="0" algn="just"/>
            <a:r>
              <a:rPr lang="en-IN" dirty="0"/>
              <a:t>Power BI Dashboard: </a:t>
            </a:r>
            <a:r>
              <a:rPr lang="en-IN" b="0" dirty="0"/>
              <a:t>Displays reliability trends and risk rankings. </a:t>
            </a:r>
          </a:p>
          <a:p>
            <a:pPr lvl="0" algn="just"/>
            <a:r>
              <a:rPr lang="en-IN" dirty="0"/>
              <a:t>Interactive Analysis: </a:t>
            </a:r>
            <a:r>
              <a:rPr lang="en-IN" b="0" dirty="0"/>
              <a:t>Filters by bank, region, and time period.</a:t>
            </a:r>
            <a:r>
              <a:rPr lang="en-IN" dirty="0"/>
              <a:t> </a:t>
            </a:r>
          </a:p>
          <a:p>
            <a:pPr lvl="0" algn="just"/>
            <a:r>
              <a:rPr lang="en-IN" dirty="0"/>
              <a:t>Model Tracking: </a:t>
            </a:r>
            <a:r>
              <a:rPr lang="en-IN" b="0" dirty="0"/>
              <a:t>Logs forecasts, and model runs using </a:t>
            </a:r>
            <a:r>
              <a:rPr lang="en-IN" b="0" dirty="0" err="1"/>
              <a:t>MLflow</a:t>
            </a:r>
            <a:r>
              <a:rPr lang="en-IN" b="0" dirty="0"/>
              <a:t>. </a:t>
            </a:r>
          </a:p>
          <a:p>
            <a:pPr lvl="0" algn="just"/>
            <a:r>
              <a:rPr lang="en-IN" dirty="0"/>
              <a:t>Automated Refresh:</a:t>
            </a:r>
            <a:r>
              <a:rPr lang="en-IN" b="0" dirty="0"/>
              <a:t> Uses GitHub Actions for reproducible monthly updates.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B1E00-0B0A-E4DB-A06E-4244145F58E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Dashboard &amp; </a:t>
            </a: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MLOps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0AB0C-9A38-C4DC-8A7B-C32C07D81D2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A82992-D233-0564-5A43-8C4D603D34E1}"/>
              </a:ext>
            </a:extLst>
          </p:cNvPr>
          <p:cNvSpPr txBox="1"/>
          <p:nvPr/>
        </p:nvSpPr>
        <p:spPr>
          <a:xfrm>
            <a:off x="1649959" y="57036"/>
            <a:ext cx="1062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UPI Digital Payment Reliability Index: Forecasting, Change-Point Detection &amp; RAG-Based Anomaly Explanation</a:t>
            </a:r>
          </a:p>
        </p:txBody>
      </p:sp>
    </p:spTree>
    <p:extLst>
      <p:ext uri="{BB962C8B-B14F-4D97-AF65-F5344CB8AC3E}">
        <p14:creationId xmlns:p14="http://schemas.microsoft.com/office/powerpoint/2010/main" val="3063199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2125" y="11449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2. Signature-Driven Inventory: Profiling Shopper </a:t>
            </a:r>
            <a:r>
              <a:rPr lang="en-IN" sz="3600" b="1" dirty="0" err="1">
                <a:solidFill>
                  <a:schemeClr val="bg1"/>
                </a:solidFill>
              </a:rPr>
              <a:t>Behavior</a:t>
            </a:r>
            <a:r>
              <a:rPr lang="en-IN" sz="3600" b="1" dirty="0">
                <a:solidFill>
                  <a:schemeClr val="bg1"/>
                </a:solidFill>
              </a:rPr>
              <a:t> From Basket Data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 descr="LTM GIFs on GIPHY - Be Animated">
            <a:extLst>
              <a:ext uri="{FF2B5EF4-FFF2-40B4-BE49-F238E27FC236}">
                <a16:creationId xmlns:a16="http://schemas.microsoft.com/office/drawing/2014/main" id="{A88C2434-EC0C-2840-FB5F-6C30A116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58" b="34969"/>
          <a:stretch>
            <a:fillRect/>
          </a:stretch>
        </p:blipFill>
        <p:spPr>
          <a:xfrm>
            <a:off x="-14990" y="5995981"/>
            <a:ext cx="3007330" cy="88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4211" y="2267915"/>
            <a:ext cx="8339364" cy="2852721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Inventory decisions ignore true </a:t>
            </a:r>
            <a:r>
              <a:rPr lang="en-IN" dirty="0">
                <a:latin typeface="+mn-lt"/>
              </a:rPr>
              <a:t>shopping patterns</a:t>
            </a:r>
          </a:p>
          <a:p>
            <a:pPr lvl="0"/>
            <a:r>
              <a:rPr lang="en-IN" b="0" dirty="0">
                <a:latin typeface="+mn-lt"/>
              </a:rPr>
              <a:t>Rely on </a:t>
            </a:r>
            <a:r>
              <a:rPr lang="en-IN" dirty="0">
                <a:latin typeface="+mn-lt"/>
              </a:rPr>
              <a:t>aggregate demand</a:t>
            </a:r>
            <a:r>
              <a:rPr lang="en-IN" b="0" dirty="0">
                <a:latin typeface="+mn-lt"/>
              </a:rPr>
              <a:t>, not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Causes </a:t>
            </a:r>
            <a:r>
              <a:rPr lang="en-IN" dirty="0">
                <a:latin typeface="+mn-lt"/>
              </a:rPr>
              <a:t>overstocking </a:t>
            </a:r>
            <a:r>
              <a:rPr lang="en-IN" b="0" dirty="0">
                <a:latin typeface="+mn-lt"/>
              </a:rPr>
              <a:t>some,</a:t>
            </a:r>
            <a:r>
              <a:rPr lang="en-IN" dirty="0">
                <a:latin typeface="+mn-lt"/>
              </a:rPr>
              <a:t> underserving </a:t>
            </a:r>
            <a:r>
              <a:rPr lang="en-IN" b="0" dirty="0">
                <a:latin typeface="+mn-lt"/>
              </a:rPr>
              <a:t>others</a:t>
            </a:r>
          </a:p>
          <a:p>
            <a:pPr lvl="0"/>
            <a:r>
              <a:rPr lang="en-IN" b="0" dirty="0">
                <a:latin typeface="+mn-lt"/>
              </a:rPr>
              <a:t>No </a:t>
            </a:r>
            <a:r>
              <a:rPr lang="en-IN" dirty="0">
                <a:latin typeface="+mn-lt"/>
              </a:rPr>
              <a:t>basket-level</a:t>
            </a:r>
            <a:r>
              <a:rPr lang="en-IN" b="0" dirty="0">
                <a:latin typeface="+mn-lt"/>
              </a:rPr>
              <a:t> </a:t>
            </a:r>
            <a:r>
              <a:rPr lang="en-IN" b="0" dirty="0" err="1">
                <a:latin typeface="+mn-lt"/>
              </a:rPr>
              <a:t>behavioral</a:t>
            </a:r>
            <a:r>
              <a:rPr lang="en-IN" b="0" dirty="0">
                <a:latin typeface="+mn-lt"/>
              </a:rPr>
              <a:t> insight exists</a:t>
            </a:r>
          </a:p>
          <a:p>
            <a:pPr lvl="0"/>
            <a:r>
              <a:rPr lang="en-IN" b="0" dirty="0">
                <a:latin typeface="+mn-lt"/>
              </a:rPr>
              <a:t>Build a system to profile </a:t>
            </a:r>
            <a:r>
              <a:rPr lang="en-IN" dirty="0">
                <a:latin typeface="+mn-lt"/>
              </a:rPr>
              <a:t>shopper </a:t>
            </a:r>
            <a:r>
              <a:rPr lang="en-IN" dirty="0" err="1">
                <a:latin typeface="+mn-lt"/>
              </a:rPr>
              <a:t>behavior</a:t>
            </a:r>
            <a:r>
              <a:rPr lang="en-IN" dirty="0">
                <a:latin typeface="+mn-lt"/>
              </a:rPr>
              <a:t> </a:t>
            </a:r>
            <a:r>
              <a:rPr lang="en-IN" b="0" dirty="0">
                <a:latin typeface="+mn-lt"/>
              </a:rPr>
              <a:t>for smarter inventory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0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319" y="2203908"/>
            <a:ext cx="11183148" cy="298988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</a:t>
            </a:r>
            <a:r>
              <a:rPr lang="en-IN" dirty="0">
                <a:latin typeface="+mn-lt"/>
              </a:rPr>
              <a:t>retail consumption observation system </a:t>
            </a:r>
            <a:r>
              <a:rPr lang="en-IN" b="0" dirty="0">
                <a:latin typeface="+mn-lt"/>
              </a:rPr>
              <a:t>for shopper profiling</a:t>
            </a:r>
          </a:p>
          <a:p>
            <a:pPr lvl="0"/>
            <a:r>
              <a:rPr lang="en-IN" b="0" dirty="0">
                <a:latin typeface="+mn-lt"/>
              </a:rPr>
              <a:t>Engineer </a:t>
            </a:r>
            <a:r>
              <a:rPr lang="en-IN" dirty="0">
                <a:latin typeface="+mn-lt"/>
              </a:rPr>
              <a:t>LLM-based features: </a:t>
            </a:r>
            <a:r>
              <a:rPr lang="en-IN" b="0" dirty="0">
                <a:latin typeface="+mn-lt"/>
              </a:rPr>
              <a:t>orientation, mission, convenience,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Discover distinct shopping patterns via </a:t>
            </a:r>
            <a:r>
              <a:rPr lang="en-IN" dirty="0">
                <a:latin typeface="+mn-lt"/>
              </a:rPr>
              <a:t>unsupervised clustering</a:t>
            </a:r>
          </a:p>
          <a:p>
            <a:pPr lvl="0"/>
            <a:r>
              <a:rPr lang="en-IN" b="0" dirty="0">
                <a:latin typeface="+mn-lt"/>
              </a:rPr>
              <a:t>Compare </a:t>
            </a:r>
            <a:r>
              <a:rPr lang="en-IN" dirty="0">
                <a:latin typeface="+mn-lt"/>
              </a:rPr>
              <a:t>category, brand, and pack-size </a:t>
            </a:r>
            <a:r>
              <a:rPr lang="en-IN" b="0" dirty="0">
                <a:latin typeface="+mn-lt"/>
              </a:rPr>
              <a:t>preferences across patterns</a:t>
            </a:r>
          </a:p>
          <a:p>
            <a:pPr lvl="0"/>
            <a:r>
              <a:rPr lang="en-IN" b="0" dirty="0">
                <a:latin typeface="+mn-lt"/>
              </a:rPr>
              <a:t>Translate discovered patterns into </a:t>
            </a:r>
            <a:r>
              <a:rPr lang="en-IN" dirty="0">
                <a:latin typeface="+mn-lt"/>
              </a:rPr>
              <a:t>inventory &amp; assortment insights</a:t>
            </a:r>
          </a:p>
          <a:p>
            <a:pPr lvl="0"/>
            <a:r>
              <a:rPr lang="en-IN" b="0" dirty="0">
                <a:latin typeface="+mn-lt"/>
              </a:rPr>
              <a:t>Deliver insights through a </a:t>
            </a:r>
            <a:r>
              <a:rPr lang="en-IN" dirty="0">
                <a:latin typeface="+mn-lt"/>
              </a:rPr>
              <a:t>live, filterable interactive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380A3B-A440-13C7-17C2-D930D6EB0055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16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649" y="1823050"/>
            <a:ext cx="11122702" cy="3706559"/>
          </a:xfrm>
        </p:spPr>
        <p:txBody>
          <a:bodyPr/>
          <a:lstStyle/>
          <a:p>
            <a:pPr lvl="0" algn="just"/>
            <a:r>
              <a:rPr lang="en-IN" dirty="0"/>
              <a:t>Inventory &amp; Assortment:</a:t>
            </a:r>
            <a:r>
              <a:rPr lang="en-IN" b="0" dirty="0"/>
              <a:t> Optimize pack sizes and product mix by store/region using shopper segments.</a:t>
            </a:r>
          </a:p>
          <a:p>
            <a:pPr lvl="0" algn="just"/>
            <a:r>
              <a:rPr lang="en-IN" dirty="0"/>
              <a:t>Targeted Marketing: </a:t>
            </a:r>
            <a:r>
              <a:rPr lang="en-IN" b="0" dirty="0"/>
              <a:t>Personalize promotions, recommendations, and bundles by shopper signature.</a:t>
            </a:r>
          </a:p>
          <a:p>
            <a:pPr lvl="0" algn="just"/>
            <a:r>
              <a:rPr lang="en-IN" dirty="0"/>
              <a:t>Demand Forecasting:</a:t>
            </a:r>
            <a:r>
              <a:rPr lang="en-IN" b="0" dirty="0"/>
              <a:t> Use cluster-level basket patterns to reduce overstock and stockouts.</a:t>
            </a:r>
          </a:p>
          <a:p>
            <a:pPr lvl="0" algn="just"/>
            <a:r>
              <a:rPr lang="en-IN" dirty="0"/>
              <a:t>Scalable: </a:t>
            </a:r>
            <a:r>
              <a:rPr lang="en-IN" b="0" dirty="0"/>
              <a:t>Extend the pipeline to pharmacy, e-commerce retail,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9CF357-F270-4AD0-BED4-B78A44433D8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25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9818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5DF61B-0875-B91D-B80F-8BA89D18D0A8}"/>
              </a:ext>
            </a:extLst>
          </p:cNvPr>
          <p:cNvGraphicFramePr>
            <a:graphicFrameLocks noGrp="1"/>
          </p:cNvGraphicFramePr>
          <p:nvPr/>
        </p:nvGraphicFramePr>
        <p:xfrm>
          <a:off x="146304" y="1088718"/>
          <a:ext cx="11859770" cy="5108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77">
                  <a:extLst>
                    <a:ext uri="{9D8B030D-6E8A-4147-A177-3AD203B41FA5}">
                      <a16:colId xmlns:a16="http://schemas.microsoft.com/office/drawing/2014/main" val="2728507133"/>
                    </a:ext>
                  </a:extLst>
                </a:gridCol>
                <a:gridCol w="4756108">
                  <a:extLst>
                    <a:ext uri="{9D8B030D-6E8A-4147-A177-3AD203B41FA5}">
                      <a16:colId xmlns:a16="http://schemas.microsoft.com/office/drawing/2014/main" val="471237689"/>
                    </a:ext>
                  </a:extLst>
                </a:gridCol>
                <a:gridCol w="1798819">
                  <a:extLst>
                    <a:ext uri="{9D8B030D-6E8A-4147-A177-3AD203B41FA5}">
                      <a16:colId xmlns:a16="http://schemas.microsoft.com/office/drawing/2014/main" val="96784165"/>
                    </a:ext>
                  </a:extLst>
                </a:gridCol>
                <a:gridCol w="4855766">
                  <a:extLst>
                    <a:ext uri="{9D8B030D-6E8A-4147-A177-3AD203B41FA5}">
                      <a16:colId xmlns:a16="http://schemas.microsoft.com/office/drawing/2014/main" val="3479704243"/>
                    </a:ext>
                  </a:extLst>
                </a:gridCol>
              </a:tblGrid>
              <a:tr h="333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000" dirty="0"/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Paper Title 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Models Used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Research Gaps</a:t>
                      </a:r>
                    </a:p>
                  </a:txBody>
                  <a:tcPr marT="0" marB="0" anchor="ctr" anchorCtr="1"/>
                </a:tc>
                <a:extLst>
                  <a:ext uri="{0D108BD9-81ED-4DB2-BD59-A6C34878D82A}">
                    <a16:rowId xmlns:a16="http://schemas.microsoft.com/office/drawing/2014/main" val="2198453493"/>
                  </a:ext>
                </a:extLst>
              </a:tr>
              <a:tr h="10537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Investigating Customer Segmentation Dynamics via Market Basket Analysis: An Extensive Exploration of Market Insights (ResearchGate, 2025)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K-Means clustering on market basket transaction data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Descriptive clustering only, no inventory action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Limited comparison across clustering algorithms</a:t>
                      </a:r>
                    </a:p>
                  </a:txBody>
                  <a:tcPr marL="54000" marR="54000" marT="0" marB="0"/>
                </a:tc>
                <a:extLst>
                  <a:ext uri="{0D108BD9-81ED-4DB2-BD59-A6C34878D82A}">
                    <a16:rowId xmlns:a16="http://schemas.microsoft.com/office/drawing/2014/main" val="3820599226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Customer-Based Market Segmentation Using Clustering in Data Mining (IEEE, 2025)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RFM approach + clustering</a:t>
                      </a:r>
                    </a:p>
                  </a:txBody>
                  <a:tcPr marL="54000" marR="5400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RFM-only features, ignores basket composition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No inventory/assortment output layer</a:t>
                      </a:r>
                    </a:p>
                  </a:txBody>
                  <a:tcPr marL="54000" marR="54000" marT="0" marB="0"/>
                </a:tc>
                <a:extLst>
                  <a:ext uri="{0D108BD9-81ED-4DB2-BD59-A6C34878D82A}">
                    <a16:rowId xmlns:a16="http://schemas.microsoft.com/office/drawing/2014/main" val="3111679754"/>
                  </a:ext>
                </a:extLst>
              </a:tr>
              <a:tr h="11415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Enhancing Customer Segmentation: RFM Analysis and K-Means Clustering Implementation (Taylor &amp; Francis,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RFM + 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Transaction-value features only, no basket content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UK online-commerce dataset, not grocery-specific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6174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IN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Customer Segmentation Using Clustering Analysis (IEEE,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Small benchmark dataset (n=200), limited scale</a:t>
                      </a:r>
                      <a:br>
                        <a:rPr lang="en-IN" sz="18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• Sales-forecasting focus, not shopper profiling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996867"/>
                  </a:ext>
                </a:extLst>
              </a:tr>
              <a:tr h="8294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60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n-IN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Data-Driven Strategic Customer Segmentation Considering Cart Abandonment Behavior: Insights from E-Grocery Delivery Platforms (ScienceDirect,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Extended </a:t>
                      </a:r>
                      <a:r>
                        <a:rPr lang="en-IN" sz="1600" dirty="0" err="1">
                          <a:solidFill>
                            <a:srgbClr val="0070C0"/>
                          </a:solidFill>
                        </a:rPr>
                        <a:t>RFM+delivery</a:t>
                      </a: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 ratio+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Focuses on cart abandonment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product-category or pack-size level features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semantic product tagging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97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A41DF4-21EC-3CE2-05C7-04190F17090C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4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F642-81A8-A3C0-20D8-C8EEB317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2485C-490F-07FD-7668-F0A01DBDF018}"/>
              </a:ext>
            </a:extLst>
          </p:cNvPr>
          <p:cNvSpPr txBox="1"/>
          <p:nvPr/>
        </p:nvSpPr>
        <p:spPr>
          <a:xfrm>
            <a:off x="255996" y="3526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1DB909-2241-15A6-2DF7-8239FEBB12E5}"/>
              </a:ext>
            </a:extLst>
          </p:cNvPr>
          <p:cNvCxnSpPr>
            <a:cxnSpLocks/>
          </p:cNvCxnSpPr>
          <p:nvPr/>
        </p:nvCxnSpPr>
        <p:spPr>
          <a:xfrm>
            <a:off x="221274" y="98189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F2FEC3-E421-C9CB-ADBE-E04A5DA85E4D}"/>
              </a:ext>
            </a:extLst>
          </p:cNvPr>
          <p:cNvGraphicFramePr>
            <a:graphicFrameLocks noGrp="1"/>
          </p:cNvGraphicFramePr>
          <p:nvPr/>
        </p:nvGraphicFramePr>
        <p:xfrm>
          <a:off x="146304" y="1493448"/>
          <a:ext cx="1185977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77">
                  <a:extLst>
                    <a:ext uri="{9D8B030D-6E8A-4147-A177-3AD203B41FA5}">
                      <a16:colId xmlns:a16="http://schemas.microsoft.com/office/drawing/2014/main" val="2728507133"/>
                    </a:ext>
                  </a:extLst>
                </a:gridCol>
                <a:gridCol w="4756108">
                  <a:extLst>
                    <a:ext uri="{9D8B030D-6E8A-4147-A177-3AD203B41FA5}">
                      <a16:colId xmlns:a16="http://schemas.microsoft.com/office/drawing/2014/main" val="471237689"/>
                    </a:ext>
                  </a:extLst>
                </a:gridCol>
                <a:gridCol w="1798819">
                  <a:extLst>
                    <a:ext uri="{9D8B030D-6E8A-4147-A177-3AD203B41FA5}">
                      <a16:colId xmlns:a16="http://schemas.microsoft.com/office/drawing/2014/main" val="96784165"/>
                    </a:ext>
                  </a:extLst>
                </a:gridCol>
                <a:gridCol w="4855766">
                  <a:extLst>
                    <a:ext uri="{9D8B030D-6E8A-4147-A177-3AD203B41FA5}">
                      <a16:colId xmlns:a16="http://schemas.microsoft.com/office/drawing/2014/main" val="3479704243"/>
                    </a:ext>
                  </a:extLst>
                </a:gridCol>
              </a:tblGrid>
              <a:tr h="2621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000" dirty="0"/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Paper Title 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Models Used</a:t>
                      </a:r>
                    </a:p>
                  </a:txBody>
                  <a:tcPr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Research Gaps</a:t>
                      </a:r>
                    </a:p>
                  </a:txBody>
                  <a:tcPr marT="0" marB="0" anchor="ctr" anchorCtr="1"/>
                </a:tc>
                <a:extLst>
                  <a:ext uri="{0D108BD9-81ED-4DB2-BD59-A6C34878D82A}">
                    <a16:rowId xmlns:a16="http://schemas.microsoft.com/office/drawing/2014/main" val="2198453493"/>
                  </a:ext>
                </a:extLst>
              </a:tr>
              <a:tr h="707919"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GB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 Machine Learning Approach to Consumer Behavior in Supermarket Analytics (ScienceDirect, 2025)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K-Means clustering, Elbow Method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Purchase-frequency features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No shopping-mission or convenience labelling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Static clustering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599226"/>
                  </a:ext>
                </a:extLst>
              </a:tr>
              <a:tr h="707919"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Customer Segmentation Using Clustering Techniques: Data-Driven Approach to Enhance Marketing Strategy (IEEE, 2025)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K-Means, Hierarchical Clustering, DBSCAN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just" rtl="0" eaLnBrk="1" fontAlgn="ctr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Demographic/</a:t>
                      </a:r>
                      <a:r>
                        <a:rPr lang="en-IN" sz="1600" b="0" i="0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behavioral</a:t>
                      </a: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mall dataset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No product-category</a:t>
                      </a:r>
                      <a:b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6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• Marketing-focused, not inventory-focused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679754"/>
                  </a:ext>
                </a:extLst>
              </a:tr>
              <a:tr h="11274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LLMs for Product Classification in E-Commerce: A Zero-Shot Comparative Study of GPT and Claude Models (ScienceDirect,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Zero-shot LLM classification (GPT-4o, GPT-4o mini, Claude 3.5 Sonnet/Haiku)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downstream basket- or shopper-level application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Evaluated on general </a:t>
                      </a:r>
                      <a:r>
                        <a:rPr lang="en-IN" sz="1600" dirty="0" err="1">
                          <a:solidFill>
                            <a:srgbClr val="0070C0"/>
                          </a:solidFill>
                        </a:rPr>
                        <a:t>catalog</a:t>
                      </a:r>
                      <a:endParaRPr lang="en-IN" sz="16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96174"/>
                  </a:ext>
                </a:extLst>
              </a:tr>
              <a:tr h="9176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A New Large Language Model for Attribute Extraction in E-Commerce Product Categorization (ResearchGate,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LLM-based attribute/NER extraction vs. DL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Generalizability untested</a:t>
                      </a:r>
                      <a:br>
                        <a:rPr lang="en-IN" sz="16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1600" dirty="0">
                          <a:solidFill>
                            <a:srgbClr val="0070C0"/>
                          </a:solidFill>
                        </a:rPr>
                        <a:t>• No integration with clustering/segmentation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9968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7E8605-D455-3BB2-34B2-517A0C55E7D6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455" y="1527251"/>
            <a:ext cx="11292876" cy="4462068"/>
          </a:xfrm>
        </p:spPr>
        <p:txBody>
          <a:bodyPr/>
          <a:lstStyle/>
          <a:p>
            <a:pPr lvl="0"/>
            <a:r>
              <a:rPr lang="en-IN" dirty="0"/>
              <a:t>Limited Basket-Level Insights: </a:t>
            </a:r>
            <a:r>
              <a:rPr lang="en-IN" b="0" dirty="0"/>
              <a:t>Most studies rely on RFM (Recency, Frequency, and Monetary)/transaction metrics.</a:t>
            </a:r>
            <a:endParaRPr lang="en-IN" dirty="0"/>
          </a:p>
          <a:p>
            <a:pPr lvl="0"/>
            <a:r>
              <a:rPr lang="en-IN" dirty="0"/>
              <a:t>Lack of Semantic Features: </a:t>
            </a:r>
            <a:r>
              <a:rPr lang="en-IN" b="0" dirty="0"/>
              <a:t>Shopping mission, household orientation, and convenience</a:t>
            </a:r>
            <a:r>
              <a:rPr lang="en-IN" dirty="0"/>
              <a:t> </a:t>
            </a:r>
            <a:r>
              <a:rPr lang="en-IN" b="0" dirty="0"/>
              <a:t>are rarely captured through LLM-based product understanding.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Limited Clustering Evaluation: </a:t>
            </a:r>
            <a:r>
              <a:rPr lang="en-IN" b="0" dirty="0"/>
              <a:t>Few studies </a:t>
            </a:r>
            <a:r>
              <a:rPr lang="en-IN" dirty="0"/>
              <a:t>benchmark multiple clustering algorithms </a:t>
            </a:r>
            <a:r>
              <a:rPr lang="en-IN" b="0" dirty="0"/>
              <a:t>to identify the most effective segmentation. </a:t>
            </a:r>
          </a:p>
          <a:p>
            <a:pPr lvl="0"/>
            <a:r>
              <a:rPr lang="en-IN" dirty="0"/>
              <a:t>Static &amp; Non-Actionable Segmentation: </a:t>
            </a:r>
            <a:r>
              <a:rPr lang="en-IN" b="0" dirty="0"/>
              <a:t>Segments are often static and rarely linked to </a:t>
            </a:r>
            <a:r>
              <a:rPr lang="en-IN" dirty="0"/>
              <a:t>inventory, assortment, </a:t>
            </a:r>
            <a:r>
              <a:rPr lang="en-IN" b="0" dirty="0"/>
              <a:t>or</a:t>
            </a:r>
            <a:r>
              <a:rPr lang="en-IN" dirty="0"/>
              <a:t> pack-size decisions.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B0822-82B6-38CC-3AF2-B5EC5EE2989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70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831" y="1963718"/>
            <a:ext cx="10624338" cy="3427320"/>
          </a:xfrm>
        </p:spPr>
        <p:txBody>
          <a:bodyPr/>
          <a:lstStyle/>
          <a:p>
            <a:r>
              <a:rPr lang="en-IN" dirty="0"/>
              <a:t>Dataset: </a:t>
            </a:r>
            <a:r>
              <a:rPr lang="en-IN" b="0" dirty="0"/>
              <a:t>Instacart Market Basket Analysis — 3M+ orders, 200K+ users (Kaggle)</a:t>
            </a:r>
          </a:p>
          <a:p>
            <a:r>
              <a:rPr lang="en-IN" dirty="0"/>
              <a:t>Live pipeline: </a:t>
            </a:r>
            <a:r>
              <a:rPr lang="en-IN" b="0" dirty="0"/>
              <a:t>SQLite-based ingestion simulation with resumable cursor</a:t>
            </a:r>
          </a:p>
          <a:p>
            <a:r>
              <a:rPr lang="en-IN" dirty="0"/>
              <a:t>Tech stack: </a:t>
            </a:r>
            <a:r>
              <a:rPr lang="en-IN" b="0" dirty="0"/>
              <a:t>Python, Pandas, Scikit-learn, UMAP, </a:t>
            </a:r>
            <a:r>
              <a:rPr lang="en-IN" b="0" dirty="0" err="1"/>
              <a:t>MLflow</a:t>
            </a:r>
            <a:r>
              <a:rPr lang="en-IN" b="0" dirty="0"/>
              <a:t>, Power BI</a:t>
            </a:r>
          </a:p>
          <a:p>
            <a:r>
              <a:rPr lang="en-IN" dirty="0"/>
              <a:t>Web application: </a:t>
            </a:r>
            <a:r>
              <a:rPr lang="en-IN" b="0" dirty="0" err="1"/>
              <a:t>FastAPI</a:t>
            </a:r>
            <a:r>
              <a:rPr lang="en-IN" b="0" dirty="0"/>
              <a:t> backend with secure login, signup, OTP verification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880C73-8B16-0A6C-D11E-216DFBEBDF6E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8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348" y="1725414"/>
            <a:ext cx="10298311" cy="3536131"/>
          </a:xfrm>
        </p:spPr>
        <p:txBody>
          <a:bodyPr/>
          <a:lstStyle/>
          <a:p>
            <a:pPr lvl="0"/>
            <a:r>
              <a:rPr lang="en-IN" dirty="0"/>
              <a:t>Data Engineering - </a:t>
            </a:r>
            <a:r>
              <a:rPr lang="en-IN" b="0" dirty="0"/>
              <a:t>Ingestion, cleaning, basket-level transformation</a:t>
            </a:r>
          </a:p>
          <a:p>
            <a:pPr lvl="0"/>
            <a:r>
              <a:rPr lang="en-IN" dirty="0"/>
              <a:t>LLM Feature Engineering - </a:t>
            </a:r>
            <a:r>
              <a:rPr lang="en-IN" b="0" dirty="0"/>
              <a:t>Product tagging via GPT/Gemini API/</a:t>
            </a:r>
            <a:r>
              <a:rPr lang="en-IN" b="0" dirty="0" err="1"/>
              <a:t>Ollama</a:t>
            </a:r>
            <a:endParaRPr lang="en-IN" b="0" dirty="0"/>
          </a:p>
          <a:p>
            <a:pPr lvl="0"/>
            <a:r>
              <a:rPr lang="en-IN" dirty="0"/>
              <a:t>Pattern Discovery - </a:t>
            </a:r>
            <a:r>
              <a:rPr lang="en-IN" b="0" dirty="0"/>
              <a:t>Clustering shoppers into </a:t>
            </a:r>
            <a:r>
              <a:rPr lang="en-IN" b="0" dirty="0" err="1"/>
              <a:t>behavioral</a:t>
            </a:r>
            <a:r>
              <a:rPr lang="en-IN" b="0" dirty="0"/>
              <a:t> signatures</a:t>
            </a:r>
          </a:p>
          <a:p>
            <a:pPr lvl="0"/>
            <a:r>
              <a:rPr lang="en-IN" dirty="0"/>
              <a:t>Comparative Analysis - </a:t>
            </a:r>
            <a:r>
              <a:rPr lang="en-IN" b="0" dirty="0"/>
              <a:t>Category, brand, and pack-size profiling per cluster</a:t>
            </a:r>
          </a:p>
          <a:p>
            <a:pPr lvl="0"/>
            <a:r>
              <a:rPr lang="en-IN" dirty="0"/>
              <a:t>Dashboard - </a:t>
            </a:r>
            <a:r>
              <a:rPr lang="en-IN" b="0" dirty="0"/>
              <a:t>Live filterable shopper-signature visualization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8157FF-4F56-E3CE-00C1-5965ECE4A750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6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1433-4411-54F7-9C5D-821E6A4A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6EF2B-91BC-3EC5-56BD-ADC740F18F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047" y="917603"/>
            <a:ext cx="11631203" cy="2621374"/>
          </a:xfrm>
        </p:spPr>
        <p:txBody>
          <a:bodyPr tIns="18000" bIns="18000"/>
          <a:lstStyle/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Data Source: </a:t>
            </a:r>
            <a:r>
              <a:rPr lang="en-IN" b="0" dirty="0"/>
              <a:t>Instacart order and product transaction files.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Data Processing: </a:t>
            </a:r>
            <a:r>
              <a:rPr lang="en-IN" b="0" dirty="0"/>
              <a:t>Cleans, joins, and filters incomplete records across order-related tables.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Basket Creation: </a:t>
            </a:r>
            <a:r>
              <a:rPr lang="en-IN" b="0" dirty="0"/>
              <a:t>Builds a basket-level dataset with product lists and purchase timing. </a:t>
            </a:r>
          </a:p>
          <a:p>
            <a:pPr lvl="0" indent="-144000" algn="just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Storage &amp; Automation: </a:t>
            </a:r>
            <a:r>
              <a:rPr lang="en-IN" b="0" dirty="0"/>
              <a:t>Stores clean data in SQLite and automatically skips already-processed files.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29E63-0B38-7BD4-357B-857EF0644742}"/>
              </a:ext>
            </a:extLst>
          </p:cNvPr>
          <p:cNvSpPr txBox="1"/>
          <p:nvPr/>
        </p:nvSpPr>
        <p:spPr>
          <a:xfrm>
            <a:off x="221274" y="22178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Data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A34B48-3F9B-2267-813D-F52A5FE02FAE}"/>
              </a:ext>
            </a:extLst>
          </p:cNvPr>
          <p:cNvCxnSpPr>
            <a:cxnSpLocks/>
          </p:cNvCxnSpPr>
          <p:nvPr/>
        </p:nvCxnSpPr>
        <p:spPr>
          <a:xfrm>
            <a:off x="221274" y="86812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F8D38D-C739-042A-21A4-E9BD2EF43133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7D97E-5433-76CD-0B2A-99FE8A7AB44E}"/>
              </a:ext>
            </a:extLst>
          </p:cNvPr>
          <p:cNvSpPr txBox="1"/>
          <p:nvPr/>
        </p:nvSpPr>
        <p:spPr>
          <a:xfrm>
            <a:off x="236264" y="337597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LLM Feature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B74D6C-ABDF-7945-B43E-5D03E4DEAE17}"/>
              </a:ext>
            </a:extLst>
          </p:cNvPr>
          <p:cNvCxnSpPr>
            <a:cxnSpLocks/>
          </p:cNvCxnSpPr>
          <p:nvPr/>
        </p:nvCxnSpPr>
        <p:spPr>
          <a:xfrm>
            <a:off x="236264" y="4007311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42A936B-5649-815F-8A98-397CFC033A1C}"/>
              </a:ext>
            </a:extLst>
          </p:cNvPr>
          <p:cNvSpPr txBox="1">
            <a:spLocks/>
          </p:cNvSpPr>
          <p:nvPr/>
        </p:nvSpPr>
        <p:spPr>
          <a:xfrm>
            <a:off x="156065" y="4054161"/>
            <a:ext cx="12000960" cy="2057400"/>
          </a:xfrm>
          <a:prstGeom prst="rect">
            <a:avLst/>
          </a:prstGeom>
        </p:spPr>
        <p:txBody>
          <a:bodyPr vert="horz" lIns="91440" tIns="18000" rIns="91440" bIns="1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Product </a:t>
            </a:r>
            <a:r>
              <a:rPr lang="en-IN" dirty="0" err="1"/>
              <a:t>Catalog</a:t>
            </a:r>
            <a:r>
              <a:rPr lang="en-IN" dirty="0"/>
              <a:t>: </a:t>
            </a:r>
            <a:r>
              <a:rPr lang="en-IN" b="0" dirty="0"/>
              <a:t>~49,688 unique products, tagged once.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LLM Tagging: </a:t>
            </a:r>
            <a:r>
              <a:rPr lang="en-IN" b="0" dirty="0" err="1"/>
              <a:t>Ollama</a:t>
            </a:r>
            <a:r>
              <a:rPr lang="en-IN" b="0" dirty="0"/>
              <a:t> classifies household, mission, </a:t>
            </a:r>
            <a:r>
              <a:rPr lang="en-IN" b="0"/>
              <a:t>convenience, </a:t>
            </a:r>
            <a:r>
              <a:rPr lang="en-IN" b="0" dirty="0"/>
              <a:t>and purchase </a:t>
            </a:r>
            <a:r>
              <a:rPr lang="en-IN" b="0" dirty="0" err="1"/>
              <a:t>behavior</a:t>
            </a:r>
            <a:r>
              <a:rPr lang="en-IN" b="0" dirty="0"/>
              <a:t>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Feature Aggregation: </a:t>
            </a:r>
            <a:r>
              <a:rPr lang="en-IN" b="0" dirty="0"/>
              <a:t>Converts product tags into basket- and user-level features. </a:t>
            </a:r>
          </a:p>
          <a:p>
            <a:pPr lvl="0" indent="-144000">
              <a:lnSpc>
                <a:spcPct val="85000"/>
              </a:lnSpc>
              <a:spcBef>
                <a:spcPts val="0"/>
              </a:spcBef>
            </a:pPr>
            <a:r>
              <a:rPr lang="en-IN" dirty="0"/>
              <a:t>Caching &amp; Storage:</a:t>
            </a:r>
            <a:r>
              <a:rPr lang="en-IN" b="0" dirty="0"/>
              <a:t> Caches results and stores tagged data in SQLite.</a:t>
            </a:r>
          </a:p>
        </p:txBody>
      </p:sp>
    </p:spTree>
    <p:extLst>
      <p:ext uri="{BB962C8B-B14F-4D97-AF65-F5344CB8AC3E}">
        <p14:creationId xmlns:p14="http://schemas.microsoft.com/office/powerpoint/2010/main" val="2999161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6ADC-EEFE-E79B-3BA6-8D5C2DB2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76D6DC2-23D5-6162-00C5-BBD0509C2DFF}"/>
              </a:ext>
            </a:extLst>
          </p:cNvPr>
          <p:cNvSpPr txBox="1">
            <a:spLocks/>
          </p:cNvSpPr>
          <p:nvPr/>
        </p:nvSpPr>
        <p:spPr>
          <a:xfrm>
            <a:off x="288935" y="1083836"/>
            <a:ext cx="11598264" cy="2345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Feature Matrix: </a:t>
            </a:r>
            <a:r>
              <a:rPr lang="en-IN" b="0" dirty="0"/>
              <a:t>Combines </a:t>
            </a:r>
            <a:r>
              <a:rPr lang="en-IN" b="0" dirty="0" err="1"/>
              <a:t>behavioral</a:t>
            </a:r>
            <a:r>
              <a:rPr lang="en-IN" b="0" dirty="0"/>
              <a:t> and LLM-derived features.</a:t>
            </a:r>
            <a:r>
              <a:rPr lang="en-IN" dirty="0"/>
              <a:t>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Dimensionality Reduction: </a:t>
            </a:r>
            <a:r>
              <a:rPr lang="en-IN" b="0" dirty="0"/>
              <a:t>Uses UMAP before clustering.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Clustering:</a:t>
            </a:r>
            <a:r>
              <a:rPr lang="en-IN" b="0" dirty="0"/>
              <a:t> Applies K-Means, GMM, Hierarchical clustering or DBSCAN. </a:t>
            </a:r>
          </a:p>
          <a:p>
            <a:pPr lvl="0" indent="-144000">
              <a:lnSpc>
                <a:spcPct val="100000"/>
              </a:lnSpc>
              <a:spcBef>
                <a:spcPts val="200"/>
              </a:spcBef>
            </a:pPr>
            <a:r>
              <a:rPr lang="en-IN" dirty="0"/>
              <a:t>Evaluation &amp; Tracking: </a:t>
            </a:r>
            <a:r>
              <a:rPr lang="en-IN" b="0" dirty="0"/>
              <a:t>Uses Silhouette/DB scores and </a:t>
            </a:r>
            <a:r>
              <a:rPr lang="en-IN" b="0" dirty="0" err="1"/>
              <a:t>MLflow</a:t>
            </a:r>
            <a:r>
              <a:rPr lang="en-IN" b="0" dirty="0"/>
              <a:t>; assigns plain-language shopper signatures.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E606C-F075-8220-6E9D-3AAED16AB670}"/>
              </a:ext>
            </a:extLst>
          </p:cNvPr>
          <p:cNvSpPr txBox="1"/>
          <p:nvPr/>
        </p:nvSpPr>
        <p:spPr>
          <a:xfrm>
            <a:off x="228974" y="37303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Pattern Discovery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74648D-3827-A18C-0CDB-790C9D286FA3}"/>
              </a:ext>
            </a:extLst>
          </p:cNvPr>
          <p:cNvCxnSpPr>
            <a:cxnSpLocks/>
          </p:cNvCxnSpPr>
          <p:nvPr/>
        </p:nvCxnSpPr>
        <p:spPr>
          <a:xfrm>
            <a:off x="228974" y="101936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E4BFC0-5B16-1E6C-A9F7-62630D358EEE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AC37F04-E8EF-47D8-F31E-81650B24CCFE}"/>
              </a:ext>
            </a:extLst>
          </p:cNvPr>
          <p:cNvSpPr txBox="1">
            <a:spLocks/>
          </p:cNvSpPr>
          <p:nvPr/>
        </p:nvSpPr>
        <p:spPr>
          <a:xfrm>
            <a:off x="603727" y="4145535"/>
            <a:ext cx="11598264" cy="2124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Cluster Profiling: </a:t>
            </a:r>
            <a:r>
              <a:rPr lang="en-IN" b="0" dirty="0" err="1"/>
              <a:t>Analyzes</a:t>
            </a:r>
            <a:r>
              <a:rPr lang="en-IN" b="0" dirty="0"/>
              <a:t> category, brand, and pack-size preferences.</a:t>
            </a:r>
          </a:p>
          <a:p>
            <a:pPr lvl="0"/>
            <a:r>
              <a:rPr lang="en-IN" dirty="0"/>
              <a:t>Basket &amp; Reorder: </a:t>
            </a:r>
            <a:r>
              <a:rPr lang="en-IN" b="0" dirty="0"/>
              <a:t>Compares basket size, reorders, and timing patterns.</a:t>
            </a:r>
          </a:p>
          <a:p>
            <a:pPr lvl="0"/>
            <a:r>
              <a:rPr lang="en-IN" dirty="0"/>
              <a:t>Inventory Insights: </a:t>
            </a:r>
            <a:r>
              <a:rPr lang="en-IN" b="0" dirty="0"/>
              <a:t>Identifies bulk vs. convenience demand.</a:t>
            </a:r>
          </a:p>
          <a:p>
            <a:pPr lvl="0"/>
            <a:r>
              <a:rPr lang="en-IN" dirty="0"/>
              <a:t>Dashboard Output:</a:t>
            </a:r>
            <a:r>
              <a:rPr lang="en-IN" b="0" dirty="0"/>
              <a:t> Generates summary tables for Power BI.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5B7F0-A130-27EA-4758-413A26BC0CC0}"/>
              </a:ext>
            </a:extLst>
          </p:cNvPr>
          <p:cNvSpPr txBox="1"/>
          <p:nvPr/>
        </p:nvSpPr>
        <p:spPr>
          <a:xfrm>
            <a:off x="438838" y="33747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Comparative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63BA8C-24A0-8B07-E2B7-786C09F472F0}"/>
              </a:ext>
            </a:extLst>
          </p:cNvPr>
          <p:cNvCxnSpPr>
            <a:cxnSpLocks/>
          </p:cNvCxnSpPr>
          <p:nvPr/>
        </p:nvCxnSpPr>
        <p:spPr>
          <a:xfrm>
            <a:off x="438838" y="40211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6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CFAF-7FB5-2DAD-B684-91616B78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7CD2B71-6606-8BE8-CCB3-BDC7ECBE7968}"/>
              </a:ext>
            </a:extLst>
          </p:cNvPr>
          <p:cNvSpPr txBox="1">
            <a:spLocks/>
          </p:cNvSpPr>
          <p:nvPr/>
        </p:nvSpPr>
        <p:spPr>
          <a:xfrm>
            <a:off x="423672" y="1970146"/>
            <a:ext cx="11375172" cy="26917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Interactive Filters:</a:t>
            </a:r>
            <a:r>
              <a:rPr lang="en-IN" b="0" dirty="0"/>
              <a:t> Filter by household, mission, convenience, and </a:t>
            </a:r>
            <a:r>
              <a:rPr lang="en-IN" b="0" dirty="0" err="1"/>
              <a:t>behavior</a:t>
            </a:r>
            <a:r>
              <a:rPr lang="en-IN" b="0" dirty="0"/>
              <a:t>. </a:t>
            </a:r>
          </a:p>
          <a:p>
            <a:pPr lvl="0"/>
            <a:r>
              <a:rPr lang="en-IN" dirty="0"/>
              <a:t>Live Insights: </a:t>
            </a:r>
            <a:r>
              <a:rPr lang="en-IN" b="0" dirty="0"/>
              <a:t>View basket size, reorder rate, and category mix by signature. </a:t>
            </a:r>
          </a:p>
          <a:p>
            <a:pPr lvl="0"/>
            <a:r>
              <a:rPr lang="en-IN" dirty="0"/>
              <a:t>Visualization: </a:t>
            </a:r>
            <a:r>
              <a:rPr lang="en-IN" b="0" dirty="0"/>
              <a:t>Native </a:t>
            </a:r>
            <a:r>
              <a:rPr lang="en-IN" b="0" dirty="0" err="1"/>
              <a:t>Plotly</a:t>
            </a:r>
            <a:r>
              <a:rPr lang="en-IN" b="0" dirty="0"/>
              <a:t>/Recharts charts driven by clustering output. </a:t>
            </a:r>
          </a:p>
          <a:p>
            <a:pPr lvl="0"/>
            <a:r>
              <a:rPr lang="en-IN" dirty="0"/>
              <a:t>Power BI &amp; Design: </a:t>
            </a:r>
            <a:r>
              <a:rPr lang="en-IN" b="0" dirty="0"/>
              <a:t>Separate Power BI dashboard with consistent black-and-red theme.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5917B-46AF-A1DF-5412-65AF4E5D5C41}"/>
              </a:ext>
            </a:extLst>
          </p:cNvPr>
          <p:cNvSpPr txBox="1"/>
          <p:nvPr/>
        </p:nvSpPr>
        <p:spPr>
          <a:xfrm>
            <a:off x="388950" y="70471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Dashboard &amp; Insights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AA3D2A-B335-8D65-0EA6-738D95740445}"/>
              </a:ext>
            </a:extLst>
          </p:cNvPr>
          <p:cNvCxnSpPr>
            <a:cxnSpLocks/>
          </p:cNvCxnSpPr>
          <p:nvPr/>
        </p:nvCxnSpPr>
        <p:spPr>
          <a:xfrm>
            <a:off x="388950" y="135104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39DC4A-54C1-E87F-FF33-0F7EC402B1A1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7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2275</Words>
  <Application>Microsoft Office PowerPoint</Application>
  <PresentationFormat>Widescreen</PresentationFormat>
  <Paragraphs>263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Poojitha D</cp:lastModifiedBy>
  <cp:revision>41</cp:revision>
  <dcterms:created xsi:type="dcterms:W3CDTF">2024-05-13T10:33:11Z</dcterms:created>
  <dcterms:modified xsi:type="dcterms:W3CDTF">2026-09-11T09:01:31Z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