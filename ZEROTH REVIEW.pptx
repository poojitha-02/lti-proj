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MT Bold" charset="1" panose="02030802070405020303"/>
      <p:regular r:id="rId12"/>
    </p:embeddedFont>
    <p:embeddedFont>
      <p:font typeface="Times New Roman MT" charset="1" panose="02030502070405020303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www.kaggle.com/datasets/psparks/instacart-market-basket-analysis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447800" y="7763317"/>
            <a:ext cx="1077509" cy="0"/>
          </a:xfrm>
          <a:prstGeom prst="line">
            <a:avLst/>
          </a:prstGeom>
          <a:ln cap="flat" w="95250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true" flipV="true" rot="0">
            <a:off x="11673891" y="0"/>
            <a:ext cx="6614109" cy="10287000"/>
          </a:xfrm>
          <a:custGeom>
            <a:avLst/>
            <a:gdLst/>
            <a:ahLst/>
            <a:cxnLst/>
            <a:rect r="r" b="b" t="t" l="l"/>
            <a:pathLst>
              <a:path h="10287000" w="6614109">
                <a:moveTo>
                  <a:pt x="6614109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6614109" y="0"/>
                </a:lnTo>
                <a:lnTo>
                  <a:pt x="6614109" y="10287000"/>
                </a:lnTo>
                <a:close/>
              </a:path>
            </a:pathLst>
          </a:custGeom>
          <a:blipFill>
            <a:blip r:embed="rId2"/>
            <a:stretch>
              <a:fillRect l="-99999" t="-14295" r="0" b="-1429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94972" y="3546475"/>
            <a:ext cx="5337600" cy="357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spc="19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Name</a:t>
            </a:r>
          </a:p>
          <a:p>
            <a:pPr algn="l">
              <a:lnSpc>
                <a:spcPts val="5599"/>
              </a:lnSpc>
            </a:pPr>
            <a:r>
              <a:rPr lang="en-US" sz="3999" spc="19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Roll number</a:t>
            </a:r>
          </a:p>
          <a:p>
            <a:pPr algn="l">
              <a:lnSpc>
                <a:spcPts val="5599"/>
              </a:lnSpc>
            </a:pPr>
            <a:r>
              <a:rPr lang="en-US" sz="3999" spc="19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Registered email address</a:t>
            </a:r>
          </a:p>
          <a:p>
            <a:pPr algn="l">
              <a:lnSpc>
                <a:spcPts val="5599"/>
              </a:lnSpc>
            </a:pPr>
            <a:r>
              <a:rPr lang="en-US" sz="3999" spc="19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Institution </a:t>
            </a:r>
          </a:p>
          <a:p>
            <a:pPr algn="l">
              <a:lnSpc>
                <a:spcPts val="5599"/>
              </a:lnSpc>
            </a:pPr>
            <a:r>
              <a:rPr lang="en-US" sz="3999" spc="19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Course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32572" y="3556000"/>
            <a:ext cx="285383" cy="357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spc="19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:</a:t>
            </a:r>
          </a:p>
          <a:p>
            <a:pPr algn="l">
              <a:lnSpc>
                <a:spcPts val="5599"/>
              </a:lnSpc>
            </a:pPr>
            <a:r>
              <a:rPr lang="en-US" sz="3999" spc="19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:</a:t>
            </a:r>
          </a:p>
          <a:p>
            <a:pPr algn="l">
              <a:lnSpc>
                <a:spcPts val="5599"/>
              </a:lnSpc>
            </a:pPr>
            <a:r>
              <a:rPr lang="en-US" sz="3999" spc="19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:</a:t>
            </a:r>
          </a:p>
          <a:p>
            <a:pPr algn="l">
              <a:lnSpc>
                <a:spcPts val="5599"/>
              </a:lnSpc>
            </a:pPr>
            <a:r>
              <a:rPr lang="en-US" sz="3999" spc="19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:</a:t>
            </a:r>
          </a:p>
          <a:p>
            <a:pPr algn="l">
              <a:lnSpc>
                <a:spcPts val="5599"/>
              </a:lnSpc>
            </a:pPr>
            <a:r>
              <a:rPr lang="en-US" sz="3999" spc="19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17955" y="3556000"/>
            <a:ext cx="5568481" cy="357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spc="19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Poojitha D</a:t>
            </a:r>
          </a:p>
          <a:p>
            <a:pPr algn="l">
              <a:lnSpc>
                <a:spcPts val="5599"/>
              </a:lnSpc>
            </a:pPr>
            <a:r>
              <a:rPr lang="en-US" sz="3999" spc="19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25MAS1005</a:t>
            </a:r>
          </a:p>
          <a:p>
            <a:pPr algn="l">
              <a:lnSpc>
                <a:spcPts val="5599"/>
              </a:lnSpc>
            </a:pPr>
            <a:r>
              <a:rPr lang="en-US" sz="3999" spc="19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poojithad254@gmail.com</a:t>
            </a:r>
          </a:p>
          <a:p>
            <a:pPr algn="l">
              <a:lnSpc>
                <a:spcPts val="5599"/>
              </a:lnSpc>
            </a:pPr>
            <a:r>
              <a:rPr lang="en-US" sz="3999" spc="19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VIT Chennai</a:t>
            </a:r>
          </a:p>
          <a:p>
            <a:pPr algn="l">
              <a:lnSpc>
                <a:spcPts val="5599"/>
              </a:lnSpc>
            </a:pPr>
            <a:r>
              <a:rPr lang="en-US" sz="3999" spc="19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M.Tech AI &amp; DS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17887" y="8493126"/>
            <a:ext cx="3941413" cy="765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spc="20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REVIEW NO. - 0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249282" y="1353963"/>
            <a:ext cx="7789437" cy="873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b="true" sz="4600" spc="23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INDIVIDUAL PROJECTS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26086" y="2478722"/>
            <a:ext cx="1077509" cy="0"/>
          </a:xfrm>
          <a:prstGeom prst="line">
            <a:avLst/>
          </a:prstGeom>
          <a:ln cap="flat" w="57150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907036" y="1855250"/>
            <a:ext cx="9731335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6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PROBLEM STATEMENT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07036" y="2573972"/>
            <a:ext cx="16435828" cy="1410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40"/>
              </a:lnSpc>
            </a:pP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Digital payment reliability varies across banks, but raw decline rates don’t reveal the</a:t>
            </a:r>
            <a:r>
              <a:rPr lang="en-US" b="true" sz="2600" spc="0">
                <a:solidFill>
                  <a:srgbClr val="000000">
                    <a:alpha val="69804"/>
                  </a:srgbClr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underlying bank-side issues. 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Technical failures such as </a:t>
            </a:r>
            <a:r>
              <a:rPr lang="en-US" b="true" sz="2600" spc="0">
                <a:solidFill>
                  <a:srgbClr val="000000">
                    <a:alpha val="69804"/>
                  </a:srgbClr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failed/delayed reversals, transaction timeouts, and processing errors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can trigger </a:t>
            </a:r>
            <a:r>
              <a:rPr lang="en-US" b="true" sz="2600" spc="0">
                <a:solidFill>
                  <a:srgbClr val="000000">
                    <a:alpha val="69804"/>
                  </a:srgbClr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Business Declines (BD)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, causing </a:t>
            </a:r>
            <a:r>
              <a:rPr lang="en-US" b="true" sz="2600" spc="0">
                <a:solidFill>
                  <a:srgbClr val="000000">
                    <a:alpha val="69804"/>
                  </a:srgbClr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customer distrust and poor payment experience.</a:t>
            </a:r>
          </a:p>
        </p:txBody>
      </p:sp>
      <p:sp>
        <p:nvSpPr>
          <p:cNvPr name="AutoShape 5" id="5"/>
          <p:cNvSpPr/>
          <p:nvPr/>
        </p:nvSpPr>
        <p:spPr>
          <a:xfrm>
            <a:off x="926086" y="4584382"/>
            <a:ext cx="1077509" cy="0"/>
          </a:xfrm>
          <a:prstGeom prst="line">
            <a:avLst/>
          </a:prstGeom>
          <a:ln cap="flat" w="57150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907036" y="3984307"/>
            <a:ext cx="9731335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6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OBJECTIVES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6086" y="4689157"/>
            <a:ext cx="16435828" cy="530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10"/>
              </a:lnSpc>
            </a:pP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develop a </a:t>
            </a:r>
            <a:r>
              <a:rPr lang="en-US" b="true" sz="2600" spc="0">
                <a:solidFill>
                  <a:srgbClr val="000000">
                    <a:alpha val="69804"/>
                  </a:srgbClr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UPI reliability monitoring system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detect, explain, an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pr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ori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ti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ze ba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k-level reliabili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y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shi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ts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for better r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sk o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versi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ght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.</a:t>
            </a:r>
          </a:p>
          <a:p>
            <a:pPr algn="just" marL="561341" indent="-280670" lvl="1">
              <a:lnSpc>
                <a:spcPts val="3510"/>
              </a:lnSpc>
              <a:buFont typeface="Arial"/>
              <a:buChar char="•"/>
            </a:pPr>
            <a:r>
              <a:rPr lang="en-US" b="true" sz="2600" spc="0">
                <a:solidFill>
                  <a:srgbClr val="000000">
                    <a:alpha val="69804"/>
                  </a:srgbClr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 Engineering 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— Collect, clean, and structure NPCI bank-wise transaction data into an analysis-ready monthly time series.</a:t>
            </a:r>
          </a:p>
          <a:p>
            <a:pPr algn="just" marL="561341" indent="-280670" lvl="1">
              <a:lnSpc>
                <a:spcPts val="3510"/>
              </a:lnSpc>
              <a:buFont typeface="Arial"/>
              <a:buChar char="•"/>
            </a:pPr>
            <a:r>
              <a:rPr lang="en-US" b="true" sz="2600" spc="0">
                <a:solidFill>
                  <a:srgbClr val="000000">
                    <a:alpha val="69804"/>
                  </a:srgbClr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Analytics &amp; Forecasting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— Apply</a:t>
            </a:r>
            <a:r>
              <a:rPr lang="en-US" b="true" sz="2600" spc="0">
                <a:solidFill>
                  <a:srgbClr val="000000">
                    <a:alpha val="69804"/>
                  </a:srgbClr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forecasting models 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and</a:t>
            </a:r>
            <a:r>
              <a:rPr lang="en-US" b="true" sz="2600" spc="0">
                <a:solidFill>
                  <a:srgbClr val="000000">
                    <a:alpha val="69804"/>
                  </a:srgbClr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change-point detection 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 i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tify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e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xp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ec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 vs.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act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ua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li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lity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tre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nd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s.</a:t>
            </a:r>
          </a:p>
          <a:p>
            <a:pPr algn="just" marL="561341" indent="-280670" lvl="1">
              <a:lnSpc>
                <a:spcPts val="3510"/>
              </a:lnSpc>
              <a:buFont typeface="Arial"/>
              <a:buChar char="•"/>
            </a:pPr>
            <a:r>
              <a:rPr lang="en-US" b="true" sz="2600" spc="0">
                <a:solidFill>
                  <a:srgbClr val="000000">
                    <a:alpha val="69804"/>
                  </a:srgbClr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Risk Prioritization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— Comp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 a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2600" spc="0">
                <a:solidFill>
                  <a:srgbClr val="000000">
                    <a:alpha val="69804"/>
                  </a:srgbClr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transaction-volume-weighted Impact Score 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rank which anomalies matter most.</a:t>
            </a:r>
          </a:p>
          <a:p>
            <a:pPr algn="just" marL="561341" indent="-280670" lvl="1">
              <a:lnSpc>
                <a:spcPts val="3510"/>
              </a:lnSpc>
              <a:buFont typeface="Arial"/>
              <a:buChar char="•"/>
            </a:pPr>
            <a:r>
              <a:rPr lang="en-US" b="true" sz="2600" spc="0">
                <a:solidFill>
                  <a:srgbClr val="000000">
                    <a:alpha val="69804"/>
                  </a:srgbClr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GenAI Explanation Layer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— Use </a:t>
            </a:r>
            <a:r>
              <a:rPr lang="en-US" b="true" sz="2600" spc="0">
                <a:solidFill>
                  <a:srgbClr val="000000">
                    <a:alpha val="69804"/>
                  </a:srgbClr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RAG-based retrieval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to gener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ate 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ou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nd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ed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, 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ou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e-ci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ed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expl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ana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ons for flagged anomalies.</a:t>
            </a:r>
          </a:p>
          <a:p>
            <a:pPr algn="just" marL="561341" indent="-280670" lvl="1">
              <a:lnSpc>
                <a:spcPts val="3510"/>
              </a:lnSpc>
              <a:buFont typeface="Arial"/>
              <a:buChar char="•"/>
            </a:pPr>
            <a:r>
              <a:rPr lang="en-US" b="true" sz="2600" spc="0">
                <a:solidFill>
                  <a:srgbClr val="000000">
                    <a:alpha val="69804"/>
                  </a:srgbClr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Dashboard &amp; Insights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— Translate flagged risks into </a:t>
            </a:r>
            <a:r>
              <a:rPr lang="en-US" b="true" sz="2600" spc="0">
                <a:solidFill>
                  <a:srgbClr val="000000">
                    <a:alpha val="69804"/>
                  </a:srgbClr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actionable monitoring insights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2600" spc="0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through an interactive Power BI dashboard.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0715" y="484986"/>
            <a:ext cx="16487135" cy="128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55649" indent="-377824" lvl="1">
              <a:lnSpc>
                <a:spcPts val="4899"/>
              </a:lnSpc>
              <a:buAutoNum type="arabicPeriod" startAt="1"/>
            </a:pPr>
            <a:r>
              <a:rPr lang="en-US" b="true" sz="3499" spc="6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UPI DIGITAL PAYMENT RELIABILITY INDEX: FORECASTING, CHANGE-POINT DETECTION &amp; RAG-BASED ANOMALY EXPLANATION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46385" y="1128944"/>
            <a:ext cx="1077509" cy="0"/>
          </a:xfrm>
          <a:prstGeom prst="line">
            <a:avLst/>
          </a:prstGeom>
          <a:ln cap="flat" w="57150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693044" y="6857524"/>
            <a:ext cx="1077509" cy="0"/>
          </a:xfrm>
          <a:prstGeom prst="line">
            <a:avLst/>
          </a:prstGeom>
          <a:ln cap="flat" w="57150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673994" y="6191726"/>
            <a:ext cx="5421548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6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EXPECTED OUTCOMES</a:t>
            </a:r>
          </a:p>
        </p:txBody>
      </p:sp>
      <p:sp>
        <p:nvSpPr>
          <p:cNvPr name="Freeform 5" id="5"/>
          <p:cNvSpPr/>
          <p:nvPr/>
        </p:nvSpPr>
        <p:spPr>
          <a:xfrm flipH="true" flipV="true" rot="0">
            <a:off x="9493344" y="0"/>
            <a:ext cx="8794656" cy="10287000"/>
          </a:xfrm>
          <a:custGeom>
            <a:avLst/>
            <a:gdLst/>
            <a:ahLst/>
            <a:cxnLst/>
            <a:rect r="r" b="b" t="t" l="l"/>
            <a:pathLst>
              <a:path h="10287000" w="8794656">
                <a:moveTo>
                  <a:pt x="8794656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8794656" y="0"/>
                </a:lnTo>
                <a:lnTo>
                  <a:pt x="8794656" y="10287000"/>
                </a:lnTo>
                <a:close/>
              </a:path>
            </a:pathLst>
          </a:custGeom>
          <a:blipFill>
            <a:blip r:embed="rId2"/>
            <a:stretch>
              <a:fillRect l="-100000" t="-35492" r="0" b="-35492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9058275" y="1057275"/>
            <a:ext cx="1077509" cy="0"/>
          </a:xfrm>
          <a:prstGeom prst="line">
            <a:avLst/>
          </a:prstGeom>
          <a:ln cap="flat" w="57150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9086850" y="1262294"/>
          <a:ext cx="8516443" cy="8699220"/>
        </p:xfrm>
        <a:graphic>
          <a:graphicData uri="http://schemas.openxmlformats.org/drawingml/2006/table">
            <a:tbl>
              <a:tblPr/>
              <a:tblGrid>
                <a:gridCol w="4350324"/>
                <a:gridCol w="4166120"/>
              </a:tblGrid>
              <a:tr h="7887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b="true" sz="2600" spc="5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Component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Technology / Packages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07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Data Engineering &amp; Storage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Python, Pandas, NumPy, PostgreSQL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972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Forecasting &amp; Change-Point Detection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Prophet/ SARIMA/ LGBM regression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07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RAG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OpenAI/Claude API, Sentence-Transformers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87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Risk Scoring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Pandas, NumPy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87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Experiment Tracking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MLflow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07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Visualization &amp; Dashboard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Matplotlib, Seaborn, Power BI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07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Deployment &amp; Version Control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 Git/GitHub, Supabase/Neon (cloud DB)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627335" y="433991"/>
            <a:ext cx="2137901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6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DATASET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3994" y="1309919"/>
            <a:ext cx="8134350" cy="4610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b="true" sz="2600" spc="2">
                <a:solidFill>
                  <a:srgbClr val="000000">
                    <a:alpha val="69804"/>
                  </a:srgbClr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NPCI UPI Ecosystem Statistics</a:t>
            </a:r>
          </a:p>
          <a:p>
            <a:pPr algn="just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 spc="2">
                <a:solidFill>
                  <a:srgbClr val="000000">
                    <a:alpha val="69804"/>
                  </a:srgbClr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Source: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NPCI (npci.org.in) / D</a:t>
            </a:r>
            <a:r>
              <a:rPr lang="en-US" sz="2600" spc="2" u="none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tafu</a:t>
            </a:r>
            <a:r>
              <a:rPr lang="en-US" sz="2600" spc="2" u="none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.in</a:t>
            </a:r>
          </a:p>
          <a:p>
            <a:pPr algn="just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 spc="2">
                <a:solidFill>
                  <a:srgbClr val="000000">
                    <a:alpha val="69804"/>
                  </a:srgbClr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Data: 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Bank-wise monthly Technical Decline%, Business Decline%, and transaction volume, spanning multiple years across all major banks.</a:t>
            </a:r>
          </a:p>
          <a:p>
            <a:pPr algn="just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 spc="2">
                <a:solidFill>
                  <a:srgbClr val="000000">
                    <a:alpha val="69804"/>
                  </a:srgbClr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Preparation: 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Prepare rolling trend attributes (SQL window functions) in the bank-month time series; provide context to the flagged anomalies via RAG.</a:t>
            </a:r>
          </a:p>
          <a:p>
            <a:pPr algn="just" marL="561341" indent="-280670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0" spc="2">
                <a:solidFill>
                  <a:srgbClr val="000000">
                    <a:alpha val="69804"/>
                  </a:srgbClr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Relevance: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Facilitates analysis of reliability trends, risk concentration, and early warning signals.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3994" y="7014296"/>
            <a:ext cx="8115300" cy="278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Ident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ify thos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b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nks tha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 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su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ff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f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rom tru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liability decline compared to stable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b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ut h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igh levels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of performanc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, a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 assess the actual transaction volume effect for each. These can be used to </a:t>
            </a:r>
            <a:r>
              <a:rPr lang="en-US" b="true" sz="2600" spc="2">
                <a:solidFill>
                  <a:srgbClr val="000000">
                    <a:alpha val="69804"/>
                  </a:srgbClr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enhance regulatory oversight, risk assessment, and supervision of banks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via a Power BI interactive dashboard.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010650" y="433991"/>
            <a:ext cx="2727932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6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TECH STACK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2414654"/>
            <a:ext cx="1077509" cy="0"/>
          </a:xfrm>
          <a:prstGeom prst="line">
            <a:avLst/>
          </a:prstGeom>
          <a:ln cap="flat" w="57150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9650" y="1791182"/>
            <a:ext cx="9731335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6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PROBLEM STATEMENT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09650" y="2535872"/>
            <a:ext cx="16230600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 spc="2">
                <a:solidFill>
                  <a:srgbClr val="000000">
                    <a:alpha val="69804"/>
                  </a:srgbClr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Retail demand 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varies across different </a:t>
            </a:r>
            <a:r>
              <a:rPr lang="en-US" b="true" sz="2600" spc="2">
                <a:solidFill>
                  <a:srgbClr val="000000">
                    <a:alpha val="69804"/>
                  </a:srgbClr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consumer needs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, yet </a:t>
            </a:r>
            <a:r>
              <a:rPr lang="en-US" b="true" sz="2600" spc="2">
                <a:solidFill>
                  <a:srgbClr val="000000">
                    <a:alpha val="69804"/>
                  </a:srgbClr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inventory decisions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are often based on </a:t>
            </a:r>
            <a:r>
              <a:rPr lang="en-US" b="true" sz="2600" spc="2">
                <a:solidFill>
                  <a:srgbClr val="000000">
                    <a:alpha val="69804"/>
                  </a:srgbClr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overall demand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rather than underlying </a:t>
            </a:r>
            <a:r>
              <a:rPr lang="en-US" b="true" sz="2600" spc="2">
                <a:solidFill>
                  <a:srgbClr val="000000">
                    <a:alpha val="69804"/>
                  </a:srgbClr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shopping patterns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. This can lead to </a:t>
            </a:r>
            <a:r>
              <a:rPr lang="en-US" b="true" sz="2600" spc="2">
                <a:solidFill>
                  <a:srgbClr val="000000">
                    <a:alpha val="69804"/>
                  </a:srgbClr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overstocking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some products while </a:t>
            </a:r>
            <a:r>
              <a:rPr lang="en-US" b="true" sz="2600" spc="2">
                <a:solidFill>
                  <a:srgbClr val="000000">
                    <a:alpha val="69804"/>
                  </a:srgbClr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underserving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others.</a:t>
            </a:r>
          </a:p>
        </p:txBody>
      </p:sp>
      <p:sp>
        <p:nvSpPr>
          <p:cNvPr name="AutoShape 5" id="5"/>
          <p:cNvSpPr/>
          <p:nvPr/>
        </p:nvSpPr>
        <p:spPr>
          <a:xfrm>
            <a:off x="1028700" y="4221480"/>
            <a:ext cx="1077509" cy="0"/>
          </a:xfrm>
          <a:prstGeom prst="line">
            <a:avLst/>
          </a:prstGeom>
          <a:ln cap="flat" w="57150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09650" y="3555682"/>
            <a:ext cx="9731335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6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OBJECTIVES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9650" y="4354830"/>
            <a:ext cx="16230600" cy="5525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develop a </a:t>
            </a:r>
            <a:r>
              <a:rPr lang="en-US" b="true" sz="2600" spc="2">
                <a:solidFill>
                  <a:srgbClr val="000000">
                    <a:alpha val="69804"/>
                  </a:srgbClr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retail consumption observation system 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identify and explain </a:t>
            </a:r>
            <a:r>
              <a:rPr lang="en-US" b="true" sz="2600" spc="2">
                <a:solidFill>
                  <a:srgbClr val="000000">
                    <a:alpha val="69804"/>
                  </a:srgbClr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distinct shopping patterns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for better </a:t>
            </a:r>
            <a:r>
              <a:rPr lang="en-US" b="true" sz="2600" spc="2">
                <a:solidFill>
                  <a:srgbClr val="000000">
                    <a:alpha val="69804"/>
                  </a:srgbClr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inventory decisions. </a:t>
            </a:r>
          </a:p>
          <a:p>
            <a:pPr algn="just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 spc="2">
                <a:solidFill>
                  <a:srgbClr val="000000">
                    <a:alpha val="69804"/>
                  </a:srgbClr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 Engineering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— Collect, clean, integrate, and transform retail transaction and product data into an analysis-ready basket dataset.</a:t>
            </a:r>
          </a:p>
          <a:p>
            <a:pPr algn="just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 spc="2">
                <a:solidFill>
                  <a:srgbClr val="000000">
                    <a:alpha val="69804"/>
                  </a:srgbClr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Feature Engineering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— </a:t>
            </a:r>
            <a:r>
              <a:rPr lang="en-US" b="true" sz="2600" spc="2">
                <a:solidFill>
                  <a:srgbClr val="000000">
                    <a:alpha val="69804"/>
                  </a:srgbClr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LLM-based product classification 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derive meaningful features representing </a:t>
            </a:r>
            <a:r>
              <a:rPr lang="en-US" b="true" sz="2600" spc="2">
                <a:solidFill>
                  <a:srgbClr val="000000">
                    <a:alpha val="69804"/>
                  </a:srgbClr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household orientation, shopping mission, convenience, purchase behavior, and basket behavior.</a:t>
            </a:r>
          </a:p>
          <a:p>
            <a:pPr algn="just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 spc="2">
                <a:solidFill>
                  <a:srgbClr val="000000">
                    <a:alpha val="69804"/>
                  </a:srgbClr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Pattern Discovery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— Apply </a:t>
            </a:r>
            <a:r>
              <a:rPr lang="en-US" b="true" sz="2600" spc="2">
                <a:solidFill>
                  <a:srgbClr val="000000">
                    <a:alpha val="69804"/>
                  </a:srgbClr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unsupervised learning and clustering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to identify and characterize distinct consumption patterns.</a:t>
            </a:r>
          </a:p>
          <a:p>
            <a:pPr algn="just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 spc="2">
                <a:solidFill>
                  <a:srgbClr val="000000">
                    <a:alpha val="69804"/>
                  </a:srgbClr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Comparative Analysis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— Analyze differences in </a:t>
            </a:r>
            <a:r>
              <a:rPr lang="en-US" b="true" sz="2600" spc="2">
                <a:solidFill>
                  <a:srgbClr val="000000">
                    <a:alpha val="69804"/>
                  </a:srgbClr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categories, brands, products, and pack sizes 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across the identified consumption patterns.</a:t>
            </a:r>
          </a:p>
          <a:p>
            <a:pPr algn="just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 spc="2">
                <a:solidFill>
                  <a:srgbClr val="000000">
                    <a:alpha val="69804"/>
                  </a:srgbClr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Dashboard &amp; Insights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— Translate discovered patterns into </a:t>
            </a:r>
            <a:r>
              <a:rPr lang="en-US" b="true" sz="2600" spc="2">
                <a:solidFill>
                  <a:srgbClr val="000000">
                    <a:alpha val="69804"/>
                  </a:srgbClr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actionable inventory and assortment insights 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through an interactive dashboard.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8675" y="513561"/>
            <a:ext cx="16230600" cy="128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55649" indent="-377824" lvl="1">
              <a:lnSpc>
                <a:spcPts val="4899"/>
              </a:lnSpc>
              <a:buAutoNum type="arabicPeriod" startAt="1"/>
            </a:pPr>
            <a:r>
              <a:rPr lang="en-US" b="true" sz="3499" spc="6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SIGNATURE-DRIVEN INVENTORY: PROFILING SHOPPER BEHAVIOR BASKET DATA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83544" y="1119791"/>
            <a:ext cx="1077509" cy="0"/>
          </a:xfrm>
          <a:prstGeom prst="line">
            <a:avLst/>
          </a:prstGeom>
          <a:ln cap="flat" w="57150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883544" y="6686446"/>
            <a:ext cx="1077509" cy="0"/>
          </a:xfrm>
          <a:prstGeom prst="line">
            <a:avLst/>
          </a:prstGeom>
          <a:ln cap="flat" w="57150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864494" y="6020648"/>
            <a:ext cx="5421548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6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EXPECTED OUTCOMES</a:t>
            </a:r>
          </a:p>
        </p:txBody>
      </p:sp>
      <p:sp>
        <p:nvSpPr>
          <p:cNvPr name="Freeform 5" id="5"/>
          <p:cNvSpPr/>
          <p:nvPr/>
        </p:nvSpPr>
        <p:spPr>
          <a:xfrm flipH="true" flipV="true" rot="0">
            <a:off x="9493344" y="0"/>
            <a:ext cx="8794656" cy="10287000"/>
          </a:xfrm>
          <a:custGeom>
            <a:avLst/>
            <a:gdLst/>
            <a:ahLst/>
            <a:cxnLst/>
            <a:rect r="r" b="b" t="t" l="l"/>
            <a:pathLst>
              <a:path h="10287000" w="8794656">
                <a:moveTo>
                  <a:pt x="8794656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8794656" y="0"/>
                </a:lnTo>
                <a:lnTo>
                  <a:pt x="8794656" y="10287000"/>
                </a:lnTo>
                <a:close/>
              </a:path>
            </a:pathLst>
          </a:custGeom>
          <a:blipFill>
            <a:blip r:embed="rId2"/>
            <a:stretch>
              <a:fillRect l="-100000" t="-35492" r="0" b="-35492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9643190" y="1091216"/>
            <a:ext cx="1077509" cy="0"/>
          </a:xfrm>
          <a:prstGeom prst="line">
            <a:avLst/>
          </a:prstGeom>
          <a:ln cap="flat" w="57150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9643190" y="1253141"/>
          <a:ext cx="7695532" cy="8630437"/>
        </p:xfrm>
        <a:graphic>
          <a:graphicData uri="http://schemas.openxmlformats.org/drawingml/2006/table">
            <a:tbl>
              <a:tblPr/>
              <a:tblGrid>
                <a:gridCol w="4042759"/>
                <a:gridCol w="3652773"/>
              </a:tblGrid>
              <a:tr h="78710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b="true" sz="2600" spc="5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Component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Technology / Packages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59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Data Engineering &amp; Storage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Python, Pandas, NumPy, PostgreSQL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59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LLM &amp; Feature Engineering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GPT/Gemini API, Pandas, Scikit-learn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25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ML &amp; Pattern Discovery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Scikit-learn — K-Means/ GMM, Hierarchical Clustering/ DBSCAN/ UMAP 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710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Experiment Tracking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MLflow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59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Visualization &amp; Dashboard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Matplotlib, Seaborn, Power BI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59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Deployment &amp; Version Control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Docker or Git/GitHub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864494" y="481616"/>
            <a:ext cx="2137901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6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DATASET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4494" y="1205516"/>
            <a:ext cx="8134350" cy="4610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b="true" sz="2600" spc="2">
                <a:solidFill>
                  <a:srgbClr val="000000">
                    <a:alpha val="69804"/>
                  </a:srgbClr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Instacart Market Basket Analysis</a:t>
            </a:r>
          </a:p>
          <a:p>
            <a:pPr algn="just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 spc="2">
                <a:solidFill>
                  <a:srgbClr val="000000">
                    <a:alpha val="69804"/>
                  </a:srgbClr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Source: </a:t>
            </a:r>
            <a:r>
              <a:rPr lang="en-US" sz="2600" spc="2" u="sng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  <a:hlinkClick r:id="rId3" tooltip="https://www.kaggle.com/datasets/psparks/instacart-market-basket-analysis"/>
              </a:rPr>
              <a:t>Kaggle</a:t>
            </a:r>
          </a:p>
          <a:p>
            <a:pPr algn="just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 spc="2">
                <a:solidFill>
                  <a:srgbClr val="000000">
                    <a:alpha val="69804"/>
                  </a:srgbClr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Data: 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3M+ anonymized grocery orders from 200K+ users, with product, category, timing, and reorder information.</a:t>
            </a:r>
          </a:p>
          <a:p>
            <a:pPr algn="just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 spc="2">
                <a:solidFill>
                  <a:srgbClr val="000000">
                    <a:alpha val="69804"/>
                  </a:srgbClr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Preparation: 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Clean, join, and aggregate transactions into basket-level data; derive additional product attributes using LLM.</a:t>
            </a:r>
          </a:p>
          <a:p>
            <a:pPr algn="just" marL="561341" indent="-280670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0" spc="2">
                <a:solidFill>
                  <a:srgbClr val="000000">
                    <a:alpha val="69804"/>
                  </a:srgbClr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Relevance: 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Enables analysis of </a:t>
            </a:r>
            <a:r>
              <a:rPr lang="en-US" b="true" sz="2600" spc="2">
                <a:solidFill>
                  <a:srgbClr val="000000">
                    <a:alpha val="69804"/>
                  </a:srgbClr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consumption patterns, product preferences, and inventory/assortment needs.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64494" y="6843219"/>
            <a:ext cx="8115300" cy="278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Dete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ne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2600" spc="2">
                <a:solidFill>
                  <a:srgbClr val="000000">
                    <a:alpha val="69804"/>
                  </a:srgbClr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consumption behavior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b="true" sz="2600" spc="2">
                <a:solidFill>
                  <a:srgbClr val="000000">
                    <a:alpha val="69804"/>
                  </a:srgbClr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measure differences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between var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ou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co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sumer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gr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 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 ter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of pr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od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at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or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ie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s, b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ds, products, and package sizes. Insights gained can support </a:t>
            </a:r>
            <a:r>
              <a:rPr lang="en-US" b="true" sz="2600" spc="2">
                <a:solidFill>
                  <a:srgbClr val="000000">
                    <a:alpha val="69804"/>
                  </a:srgbClr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real-time inventory, assortment, and stocking decisions</a:t>
            </a:r>
            <a:r>
              <a:rPr lang="en-US" sz="2600" spc="2">
                <a:solidFill>
                  <a:srgbClr val="000000">
                    <a:alpha val="69804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through an interactive Power BI dashboard.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43190" y="481616"/>
            <a:ext cx="2727932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6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TECH STACK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5606461" y="6337647"/>
            <a:ext cx="1077509" cy="0"/>
          </a:xfrm>
          <a:prstGeom prst="line">
            <a:avLst/>
          </a:prstGeom>
          <a:ln cap="flat" w="95250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true" flipV="true" rot="0">
            <a:off x="0" y="0"/>
            <a:ext cx="6614109" cy="10287000"/>
          </a:xfrm>
          <a:custGeom>
            <a:avLst/>
            <a:gdLst/>
            <a:ahLst/>
            <a:cxnLst/>
            <a:rect r="r" b="b" t="t" l="l"/>
            <a:pathLst>
              <a:path h="10287000" w="6614109">
                <a:moveTo>
                  <a:pt x="6614109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6614109" y="0"/>
                </a:lnTo>
                <a:lnTo>
                  <a:pt x="6614109" y="10287000"/>
                </a:lnTo>
                <a:close/>
              </a:path>
            </a:pathLst>
          </a:custGeom>
          <a:blipFill>
            <a:blip r:embed="rId2"/>
            <a:stretch>
              <a:fillRect l="0" t="-14295" r="-99999" b="-1429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635310" y="2530045"/>
            <a:ext cx="5077235" cy="3082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761"/>
              </a:lnSpc>
            </a:pPr>
            <a:r>
              <a:rPr lang="en-US" b="true" sz="8400" spc="-336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THANK</a:t>
            </a:r>
          </a:p>
          <a:p>
            <a:pPr algn="r">
              <a:lnSpc>
                <a:spcPts val="11761"/>
              </a:lnSpc>
            </a:pPr>
            <a:r>
              <a:rPr lang="en-US" b="true" sz="8400" spc="-336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DAHTFFUY48k</dc:identifier>
  <dcterms:modified xsi:type="dcterms:W3CDTF">2011-08-01T06:04:30Z</dcterms:modified>
  <cp:revision>1</cp:revision>
  <dc:title>ZEROTH REVIEW</dc:title>
</cp:coreProperties>
</file>