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72033"/>
                </a:solidFill>
              </a:rPr>
              <a:t>Share of all items bought (Sep 2026)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987E5"/>
            </a:solidFill>
          </c:spPr>
          <c:cat>
            <c:strRef>
              <c:f>Sheet1!$A$2:$A$7</c:f>
              <c:strCache>
                <c:ptCount val="6"/>
                <c:pt idx="0">
                  <c:v>Pantry staples</c:v>
                </c:pt>
                <c:pt idx="1">
                  <c:v>Frozen food</c:v>
                </c:pt>
                <c:pt idx="2">
                  <c:v>Drinks</c:v>
                </c:pt>
                <c:pt idx="3">
                  <c:v>Snacks</c:v>
                </c:pt>
                <c:pt idx="4">
                  <c:v>Dairy &amp; eggs</c:v>
                </c:pt>
                <c:pt idx="5">
                  <c:v>Fresh produce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5.8</c:v>
                </c:pt>
                <c:pt idx="1">
                  <c:v>7.0</c:v>
                </c:pt>
                <c:pt idx="2">
                  <c:v>8.3</c:v>
                </c:pt>
                <c:pt idx="3">
                  <c:v>8.6</c:v>
                </c:pt>
                <c:pt idx="4">
                  <c:v>15.8</c:v>
                </c:pt>
                <c:pt idx="5">
                  <c:v>30.0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12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72033"/>
                </a:solidFill>
              </a:rPr>
              <a:t>Shopper groups (% of 206,213 shoppers)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A800"/>
            </a:solidFill>
          </c:spPr>
          <c:cat>
            <c:strRef>
              <c:f>Sheet1!$A$2:$A$7</c:f>
              <c:strCache>
                <c:ptCount val="6"/>
                <c:pt idx="0">
                  <c:v>Families: pet supplies</c:v>
                </c:pt>
                <c:pt idx="1">
                  <c:v>Shoppers: alcohol</c:v>
                </c:pt>
                <c:pt idx="2">
                  <c:v>Families: baby products</c:v>
                </c:pt>
                <c:pt idx="3">
                  <c:v>Singles: snacks</c:v>
                </c:pt>
                <c:pt idx="4">
                  <c:v>Singles: fresh produce</c:v>
                </c:pt>
                <c:pt idx="5">
                  <c:v>Everyday families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6</c:v>
                </c:pt>
                <c:pt idx="5">
                  <c:v>81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12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72033"/>
                </a:solidFill>
              </a:rPr>
              <a:t>Stock needed for the same 97% of orders filled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items in stock</c:v>
                </c:pt>
              </c:strCache>
            </c:strRef>
          </c:tx>
          <c:dPt>
            <c:idx val="0"/>
            <c:spPr>
              <a:solidFill>
                <a:srgbClr val="9CA3AF"/>
              </a:solidFill>
            </c:spPr>
          </c:dPt>
          <c:dPt>
            <c:idx val="1"/>
            <c:spPr>
              <a:solidFill>
                <a:srgbClr val="E8A800"/>
              </a:solidFill>
            </c:spPr>
          </c:dPt>
          <c:cat>
            <c:strRef>
              <c:f>Sheet1!$A$2:$A$3</c:f>
              <c:strCache>
                <c:ptCount val="2"/>
                <c:pt idx="0">
                  <c:v>Traditional stocking</c:v>
                </c:pt>
                <c:pt idx="1">
                  <c:v>Our system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52443</c:v>
                </c:pt>
                <c:pt idx="1">
                  <c:v>47352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" cy="173736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A800"/>
                </a:solidFill>
                <a:latin typeface="Calibri"/>
              </a:rPr>
              <a:t>SECOND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Signature-Driven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D1D5DB"/>
                </a:solidFill>
                <a:latin typeface="Calibri"/>
              </a:rPr>
              <a:t>Stocking for the shopper who is actually in the aisle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Shopper-behaviour-based stock planning on 3.3 million real grocery orders (Instacart)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03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Presented by: ____________________        Guide: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The problem with traditional stocking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Traditional ordering: </a:t>
            </a:r>
            <a:r>
              <a:rPr sz="1900">
                <a:solidFill>
                  <a:srgbClr val="1F2937"/>
                </a:solidFill>
                <a:latin typeface="Calibri"/>
              </a:rPr>
              <a:t>stores order stock from the average of recent weeks' sales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Averages miss who is buying: </a:t>
            </a:r>
            <a:r>
              <a:rPr sz="1900">
                <a:solidFill>
                  <a:srgbClr val="1F2937"/>
                </a:solidFill>
                <a:latin typeface="Calibri"/>
              </a:rPr>
              <a:t>every shopper is treated as one "average customer"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They react late to change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Demand jumps: shelves run empty, sales are lost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Demand drops: excess stock piles up, fresh food spoils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Demand is not stable in real data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Total orders swing by more than 25% within weeks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489 sudden demand spikes in one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Our solution: Signature-Driven Inventory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Stock planned from how shoppers actually buy, not one store-wide average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Learns each shopper's behaviour from real baskets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Single or family · top-up or stock-up · ready-to-eat or cooking · routine or exploring · small or large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Groups similar shoppers, spots demand spikes early and forecasts how much to stock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Dataset: </a:t>
            </a:r>
            <a:r>
              <a:rPr sz="1900">
                <a:solidFill>
                  <a:srgbClr val="1F2937"/>
                </a:solidFill>
                <a:latin typeface="Calibri"/>
              </a:rPr>
              <a:t>Instacart Market Basket (real, anonymised grocery orders)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3.3M orders · 33.8M order lines · 206,213 shoppers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49,688 products · 21 departments · 134 aisles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Delivered as a live web app with plain-language, fact-checked AI summaries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Objectives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Profile every basket and shopper on 5 behaviours: </a:t>
            </a:r>
            <a:r>
              <a:rPr sz="2000">
                <a:solidFill>
                  <a:srgbClr val="1F2937"/>
                </a:solidFill>
                <a:latin typeface="Calibri"/>
              </a:rPr>
              <a:t>single/family, top-up/stock-up, ready-to-eat/cooking, routine/exploring, small/large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Discover shopper groups: </a:t>
            </a:r>
            <a:r>
              <a:rPr sz="2000">
                <a:solidFill>
                  <a:srgbClr val="1F2937"/>
                </a:solidFill>
                <a:latin typeface="Calibri"/>
              </a:rPr>
              <a:t>deep clustering, comparing 7 models objectively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Detect demand peaks: </a:t>
            </a:r>
            <a:r>
              <a:rPr sz="2000">
                <a:solidFill>
                  <a:srgbClr val="1F2937"/>
                </a:solidFill>
                <a:latin typeface="Calibri"/>
              </a:rPr>
              <a:t>from each product's own history, without a festival calendar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Map relationships: </a:t>
            </a:r>
            <a:r>
              <a:rPr sz="2000">
                <a:solidFill>
                  <a:srgbClr val="1F2937"/>
                </a:solidFill>
                <a:latin typeface="Calibri"/>
              </a:rPr>
              <a:t>which products are bought together, and how that changes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Prove the value: </a:t>
            </a:r>
            <a:r>
              <a:rPr sz="2000">
                <a:solidFill>
                  <a:srgbClr val="1F2937"/>
                </a:solidFill>
                <a:latin typeface="Calibri"/>
              </a:rPr>
              <a:t>compare against traditional stocking on real orders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Deploy: </a:t>
            </a:r>
            <a:r>
              <a:rPr sz="2000">
                <a:solidFill>
                  <a:srgbClr val="1F2937"/>
                </a:solidFill>
                <a:latin typeface="Calibri"/>
              </a:rPr>
              <a:t>a live, automatically updating website anyone can understand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Module names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645920"/>
            <a:ext cx="685800" cy="685800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18488"/>
            <a:ext cx="4480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Calibri"/>
              </a:rPr>
              <a:t>Data Engineering &amp; Live Order Ingestion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1645920"/>
            <a:ext cx="685800" cy="685800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618488"/>
            <a:ext cx="4480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Calibri"/>
              </a:rPr>
              <a:t>Feature Engineering &amp; Basket Behaviour Profiling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46120"/>
            <a:ext cx="685800" cy="68580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18688"/>
            <a:ext cx="4480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Calibri"/>
              </a:rPr>
              <a:t>Shopper Pattern Discovery (Deep Clustering)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3246120"/>
            <a:ext cx="685800" cy="68580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18688"/>
            <a:ext cx="4480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Calibri"/>
              </a:rPr>
              <a:t>Demand Peak Detection &amp; Product Relationship Graph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46320"/>
            <a:ext cx="685800" cy="68580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818888"/>
            <a:ext cx="4480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Calibri"/>
              </a:rPr>
              <a:t>Inventory Backtest: Value vs Traditional Stocking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4846320"/>
            <a:ext cx="685800" cy="685800"/>
          </a:xfrm>
          <a:prstGeom prst="ellipse">
            <a:avLst/>
          </a:prstGeom>
          <a:solidFill>
            <a:srgbClr val="199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818888"/>
            <a:ext cx="4480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Calibri"/>
              </a:rPr>
              <a:t>Web Application, AI Insights &amp;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Blue = data layer   ·   Orange = analytics &amp; ML layer   ·   Green = serving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What each module produces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Module 1: </a:t>
            </a:r>
            <a:r>
              <a:rPr sz="2000">
                <a:solidFill>
                  <a:srgbClr val="1F2937"/>
                </a:solidFill>
                <a:latin typeface="Calibri"/>
              </a:rPr>
              <a:t>clean SQLite database of all orders; new orders processed live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Module 2: </a:t>
            </a:r>
            <a:r>
              <a:rPr sz="2000">
                <a:solidFill>
                  <a:srgbClr val="1F2937"/>
                </a:solidFill>
                <a:latin typeface="Calibri"/>
              </a:rPr>
              <a:t>5 behaviour labels for each of 3.3M baskets, with evidence and confidence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Module 3: </a:t>
            </a:r>
            <a:r>
              <a:rPr sz="2000">
                <a:solidFill>
                  <a:srgbClr val="1F2937"/>
                </a:solidFill>
                <a:latin typeface="Calibri"/>
              </a:rPr>
              <a:t>6 shopper groups with plain names and stocking suggestions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Module 4: </a:t>
            </a:r>
            <a:r>
              <a:rPr sz="2000">
                <a:solidFill>
                  <a:srgbClr val="1F2937"/>
                </a:solidFill>
                <a:latin typeface="Calibri"/>
              </a:rPr>
              <a:t>489 demand peaks, typed; bought-together product pairs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Module 5: </a:t>
            </a:r>
            <a:r>
              <a:rPr sz="2000">
                <a:solidFill>
                  <a:srgbClr val="1F2937"/>
                </a:solidFill>
                <a:latin typeface="Calibri"/>
              </a:rPr>
              <a:t>stock needed and missed sales, traditional vs our system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Module 6: </a:t>
            </a:r>
            <a:r>
              <a:rPr sz="2000">
                <a:solidFill>
                  <a:srgbClr val="1F2937"/>
                </a:solidFill>
                <a:latin typeface="Calibri"/>
              </a:rPr>
              <a:t>7-page website over HTTPS, updated automatically on every code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METHODOLOGY / MODELLING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End-to-end pipeline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154680" cy="384048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74519"/>
            <a:ext cx="2788920" cy="1082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398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1">
                <a:solidFill>
                  <a:srgbClr val="172033"/>
                </a:solidFill>
                <a:latin typeface="Calibri"/>
              </a:rPr>
              <a:t>Raw data</a:t>
            </a:r>
          </a:p>
          <a:p>
            <a:r>
              <a:rPr sz="1150">
                <a:solidFill>
                  <a:srgbClr val="1F2937"/>
                </a:solidFill>
                <a:latin typeface="Calibri"/>
              </a:rPr>
              <a:t>Instacart CSVs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30880"/>
            <a:ext cx="2788920" cy="1082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398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1">
                <a:solidFill>
                  <a:srgbClr val="172033"/>
                </a:solidFill>
                <a:latin typeface="Calibri"/>
              </a:rPr>
              <a:t>Load &amp; clean</a:t>
            </a:r>
          </a:p>
          <a:p>
            <a:r>
              <a:rPr sz="1150">
                <a:solidFill>
                  <a:srgbClr val="1F2937"/>
                </a:solidFill>
                <a:latin typeface="Calibri"/>
              </a:rPr>
              <a:t>SQLite, rebuilt dates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2956560"/>
            <a:ext cx="0" cy="274320"/>
          </a:xfrm>
          <a:prstGeom prst="line">
            <a:avLst/>
          </a:prstGeom>
          <a:ln w="22225"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4587240"/>
            <a:ext cx="2788920" cy="1082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398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1">
                <a:solidFill>
                  <a:srgbClr val="172033"/>
                </a:solidFill>
                <a:latin typeface="Calibri"/>
              </a:rPr>
              <a:t>Product tagging</a:t>
            </a:r>
          </a:p>
          <a:p>
            <a:r>
              <a:rPr sz="1150">
                <a:solidFill>
                  <a:srgbClr val="1F2937"/>
                </a:solidFill>
                <a:latin typeface="Calibri"/>
              </a:rPr>
              <a:t>rules + AI 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04288" y="4312920"/>
            <a:ext cx="0" cy="274320"/>
          </a:xfrm>
          <a:prstGeom prst="line">
            <a:avLst/>
          </a:prstGeom>
          <a:ln w="22225"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26280" y="1280160"/>
            <a:ext cx="3154680" cy="384048"/>
          </a:xfrm>
          <a:prstGeom prst="rect">
            <a:avLst/>
          </a:prstGeom>
          <a:solidFill>
            <a:srgbClr val="D95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ANALYTICS &amp; ML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874519"/>
            <a:ext cx="2788920" cy="74295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D95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1">
                <a:solidFill>
                  <a:srgbClr val="172033"/>
                </a:solidFill>
                <a:latin typeface="Calibri"/>
              </a:rPr>
              <a:t>Basket behaviour</a:t>
            </a:r>
          </a:p>
          <a:p>
            <a:r>
              <a:rPr sz="1150">
                <a:solidFill>
                  <a:srgbClr val="1F2937"/>
                </a:solidFill>
                <a:latin typeface="Calibri"/>
              </a:rPr>
              <a:t>5 labels +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891789"/>
            <a:ext cx="2788920" cy="74295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D95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1">
                <a:solidFill>
                  <a:srgbClr val="172033"/>
                </a:solidFill>
                <a:latin typeface="Calibri"/>
              </a:rPr>
              <a:t>Peaks &amp; product graph</a:t>
            </a:r>
          </a:p>
          <a:p>
            <a:r>
              <a:rPr sz="1150">
                <a:solidFill>
                  <a:srgbClr val="1F2937"/>
                </a:solidFill>
                <a:latin typeface="Calibri"/>
              </a:rPr>
              <a:t>z-score, co-purchase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8" y="2617470"/>
            <a:ext cx="0" cy="274319"/>
          </a:xfrm>
          <a:prstGeom prst="line">
            <a:avLst/>
          </a:prstGeom>
          <a:ln w="22225"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09160" y="3909060"/>
            <a:ext cx="2788920" cy="74295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D95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1">
                <a:solidFill>
                  <a:srgbClr val="172033"/>
                </a:solidFill>
                <a:latin typeface="Calibri"/>
              </a:rPr>
              <a:t>Deep clustering</a:t>
            </a:r>
          </a:p>
          <a:p>
            <a:r>
              <a:rPr sz="1150">
                <a:solidFill>
                  <a:srgbClr val="1F2937"/>
                </a:solidFill>
                <a:latin typeface="Calibri"/>
              </a:rPr>
              <a:t>7 models → 6 groups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3634740"/>
            <a:ext cx="0" cy="274320"/>
          </a:xfrm>
          <a:prstGeom prst="line">
            <a:avLst/>
          </a:prstGeom>
          <a:ln w="22225"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09160" y="4926330"/>
            <a:ext cx="2788920" cy="74295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D95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1">
                <a:solidFill>
                  <a:srgbClr val="172033"/>
                </a:solidFill>
                <a:latin typeface="Calibri"/>
              </a:rPr>
              <a:t>Backtest</a:t>
            </a:r>
          </a:p>
          <a:p>
            <a:r>
              <a:rPr sz="1150">
                <a:solidFill>
                  <a:srgbClr val="1F2937"/>
                </a:solidFill>
                <a:latin typeface="Calibri"/>
              </a:rPr>
              <a:t>vs traditional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4652010"/>
            <a:ext cx="0" cy="274320"/>
          </a:xfrm>
          <a:prstGeom prst="line">
            <a:avLst/>
          </a:prstGeom>
          <a:ln w="22225"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21040" y="1280160"/>
            <a:ext cx="3154680" cy="384048"/>
          </a:xfrm>
          <a:prstGeom prst="rect">
            <a:avLst/>
          </a:prstGeom>
          <a:solidFill>
            <a:srgbClr val="199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SERVING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19" y="1874519"/>
            <a:ext cx="2788920" cy="1082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199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1">
                <a:solidFill>
                  <a:srgbClr val="172033"/>
                </a:solidFill>
                <a:latin typeface="Calibri"/>
              </a:rPr>
              <a:t>Live processing</a:t>
            </a:r>
          </a:p>
          <a:p>
            <a:r>
              <a:rPr sz="1150">
                <a:solidFill>
                  <a:srgbClr val="1F2937"/>
                </a:solidFill>
                <a:latin typeface="Calibri"/>
              </a:rPr>
              <a:t>new orders → groups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19" y="3230880"/>
            <a:ext cx="2788920" cy="1082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199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1">
                <a:solidFill>
                  <a:srgbClr val="172033"/>
                </a:solidFill>
                <a:latin typeface="Calibri"/>
              </a:rPr>
              <a:t>Web app + AI</a:t>
            </a:r>
          </a:p>
          <a:p>
            <a:r>
              <a:rPr sz="1150">
                <a:solidFill>
                  <a:srgbClr val="1F2937"/>
                </a:solidFill>
                <a:latin typeface="Calibri"/>
              </a:rPr>
              <a:t>7 pages, checked summaries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93808" y="2956560"/>
            <a:ext cx="0" cy="274320"/>
          </a:xfrm>
          <a:prstGeom prst="line">
            <a:avLst/>
          </a:prstGeom>
          <a:ln w="22225"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03919" y="4587240"/>
            <a:ext cx="2788920" cy="1082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199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1">
                <a:solidFill>
                  <a:srgbClr val="172033"/>
                </a:solidFill>
                <a:latin typeface="Calibri"/>
              </a:rPr>
              <a:t>Deployment</a:t>
            </a:r>
          </a:p>
          <a:p>
            <a:r>
              <a:rPr sz="1150">
                <a:solidFill>
                  <a:srgbClr val="1F2937"/>
                </a:solidFill>
                <a:latin typeface="Calibri"/>
              </a:rPr>
              <a:t>Docker, CI/CD, HTTPS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93808" y="4312920"/>
            <a:ext cx="0" cy="274320"/>
          </a:xfrm>
          <a:prstGeom prst="line">
            <a:avLst/>
          </a:prstGeom>
          <a:ln w="22225"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703320" y="2194560"/>
            <a:ext cx="1005840" cy="3291840"/>
          </a:xfrm>
          <a:prstGeom prst="line">
            <a:avLst/>
          </a:prstGeom>
          <a:ln w="22225"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498079" y="2194560"/>
            <a:ext cx="1005841" cy="3291840"/>
          </a:xfrm>
          <a:prstGeom prst="line">
            <a:avLst/>
          </a:prstGeom>
          <a:ln w="22225"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603504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All results stored in one SQLite database (instacart.db); the web app only reads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METHODOLOGY / MODELLING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Behaviour rules &amp; clustering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Behaviour rules (per basket)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Indicators such as baby products or family-size packs point to a family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Each indicator casts a weighted vote; confidence = how one-sided the vote is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Thresholds learned from the data's own distribution, not guessed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Shopper clustering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7 models trained on the same shopper features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Ranked on quality, stability and agreement with the rule labels: best average rank wins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Each group named from measurable statistics, e.g. "Families who buy a lot of pet supplies"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Live updates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Every new order re-profiles its shopper; a nearest-neighbour model assigns the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METHODOLOGY / MODELLING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Peak detection &amp; value-test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Demand peak detection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Product's share of weekly sales vs the median of its previous 8 weeks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A week is unusual when z ≥ 3 and the rise is at least 25%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Peaks typed: one-off / lasting / repeating; one product / category / whole store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Backtest: </a:t>
            </a:r>
            <a:r>
              <a:rPr sz="1900">
                <a:solidFill>
                  <a:srgbClr val="1F2937"/>
                </a:solidFill>
                <a:latin typeface="Calibri"/>
              </a:rPr>
              <a:t>traditional vs our system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Traditional: moving average and exponential smoothing of past sales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Ours: shopper groups + purchase cycles + peak awareness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Walk-forward: each week, each method sees only the past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Same ordering rule for both: order up to forecast + safety stock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Compared at the same 97% of orders filled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DATA PREPROCESSING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Dataset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000">
                <a:solidFill>
                  <a:srgbClr val="172033"/>
                </a:solidFill>
                <a:latin typeface="Calibri"/>
              </a:rPr>
              <a:t>Source: </a:t>
            </a:r>
            <a:r>
              <a:rPr sz="2000">
                <a:solidFill>
                  <a:srgbClr val="1F2937"/>
                </a:solidFill>
                <a:latin typeface="Calibri"/>
              </a:rPr>
              <a:t>Instacart Market Basket Analysis (Kaggle)</a:t>
            </a:r>
          </a:p>
          <a:p>
            <a:pPr lvl="1">
              <a:spcAft>
                <a:spcPts val="600"/>
              </a:spcAft>
            </a:pPr>
            <a:r>
              <a:rPr sz="1800" b="1">
                <a:solidFill>
                  <a:srgbClr val="6B7280"/>
                </a:solidFill>
                <a:latin typeface="Calibri"/>
              </a:rPr>
              <a:t>–  </a:t>
            </a:r>
            <a:r>
              <a:rPr sz="1800" b="0">
                <a:solidFill>
                  <a:srgbClr val="374151"/>
                </a:solidFill>
                <a:latin typeface="Calibri"/>
              </a:rPr>
              <a:t>orders · order_products (prior + train) · products · aisles · departments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sz="2000" b="1">
                <a:solidFill>
                  <a:srgbClr val="172033"/>
                </a:solidFill>
                <a:latin typeface="Calibri"/>
              </a:rPr>
              <a:t>Scale</a:t>
            </a:r>
          </a:p>
          <a:p>
            <a:pPr lvl="1">
              <a:spcAft>
                <a:spcPts val="600"/>
              </a:spcAft>
            </a:pPr>
            <a:r>
              <a:rPr sz="1800" b="1">
                <a:solidFill>
                  <a:srgbClr val="6B7280"/>
                </a:solidFill>
                <a:latin typeface="Calibri"/>
              </a:rPr>
              <a:t>–  </a:t>
            </a:r>
            <a:r>
              <a:rPr sz="1800" b="0">
                <a:solidFill>
                  <a:srgbClr val="374151"/>
                </a:solidFill>
                <a:latin typeface="Calibri"/>
              </a:rPr>
              <a:t>3.3M orders · 33.8M order lines</a:t>
            </a:r>
          </a:p>
          <a:p>
            <a:pPr lvl="1">
              <a:spcAft>
                <a:spcPts val="600"/>
              </a:spcAft>
            </a:pPr>
            <a:r>
              <a:rPr sz="1800" b="1">
                <a:solidFill>
                  <a:srgbClr val="6B7280"/>
                </a:solidFill>
                <a:latin typeface="Calibri"/>
              </a:rPr>
              <a:t>–  </a:t>
            </a:r>
            <a:r>
              <a:rPr sz="1800" b="0">
                <a:solidFill>
                  <a:srgbClr val="374151"/>
                </a:solidFill>
                <a:latin typeface="Calibri"/>
              </a:rPr>
              <a:t>206,213 shoppers · 49,688 products · 21 departments · 134 aisles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E8A800"/>
                </a:solidFill>
                <a:latin typeface="Calibri"/>
              </a:rPr>
              <a:t>•  </a:t>
            </a:r>
            <a:r>
              <a:rPr sz="2000" b="1">
                <a:solidFill>
                  <a:srgbClr val="172033"/>
                </a:solidFill>
                <a:latin typeface="Calibri"/>
              </a:rPr>
              <a:t>Not in the data (stated in the app, never estimated)</a:t>
            </a:r>
          </a:p>
          <a:p>
            <a:pPr lvl="1">
              <a:spcAft>
                <a:spcPts val="600"/>
              </a:spcAft>
            </a:pPr>
            <a:r>
              <a:rPr sz="1800" b="1">
                <a:solidFill>
                  <a:srgbClr val="6B7280"/>
                </a:solidFill>
                <a:latin typeface="Calibri"/>
              </a:rPr>
              <a:t>–  </a:t>
            </a:r>
            <a:r>
              <a:rPr sz="1800" b="0">
                <a:solidFill>
                  <a:srgbClr val="374151"/>
                </a:solidFill>
                <a:latin typeface="Calibri"/>
              </a:rPr>
              <a:t>Calendar dates · quantity per item · prices · pack-size field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DATA PREPROCESSING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Preprocessing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Loading: </a:t>
            </a:r>
            <a:r>
              <a:rPr sz="1900">
                <a:solidFill>
                  <a:srgbClr val="1F2937"/>
                </a:solidFill>
                <a:latin typeface="Calibri"/>
              </a:rPr>
              <a:t>bulk-loaded the CSVs into SQLite with indexes for fast queries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Dates: </a:t>
            </a:r>
            <a:r>
              <a:rPr sz="1900">
                <a:solidFill>
                  <a:srgbClr val="1F2937"/>
                </a:solidFill>
                <a:latin typeface="Calibri"/>
              </a:rPr>
              <a:t>rebuilt from each shopper's gaps between orders (days_since_prior_order)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Product tagging: </a:t>
            </a:r>
            <a:r>
              <a:rPr sz="1900">
                <a:solidFill>
                  <a:srgbClr val="1F2937"/>
                </a:solidFill>
                <a:latin typeface="Calibri"/>
              </a:rPr>
              <a:t>all 49,688 products by rules + AI model (family/single use, ready-to-eat/raw, staple)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Pack size: </a:t>
            </a:r>
            <a:r>
              <a:rPr sz="1900">
                <a:solidFill>
                  <a:srgbClr val="1F2937"/>
                </a:solidFill>
                <a:latin typeface="Calibri"/>
              </a:rPr>
              <a:t>read only from product names (e.g. "12 ct", "Twin Pack")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Weekly timelines: </a:t>
            </a:r>
            <a:r>
              <a:rPr sz="1900">
                <a:solidFill>
                  <a:srgbClr val="1F2937"/>
                </a:solidFill>
                <a:latin typeface="Calibri"/>
              </a:rPr>
              <a:t>sales per product, aisle and department; partial and low-volume weeks excluded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Filtering: </a:t>
            </a:r>
            <a:r>
              <a:rPr sz="1900">
                <a:solidFill>
                  <a:srgbClr val="1F2937"/>
                </a:solidFill>
                <a:latin typeface="Calibri"/>
              </a:rPr>
              <a:t>5,237 products with enough sales tracked weekly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Basket profiles: </a:t>
            </a:r>
            <a:r>
              <a:rPr sz="1900">
                <a:solidFill>
                  <a:srgbClr val="1F2937"/>
                </a:solidFill>
                <a:latin typeface="Calibri"/>
              </a:rPr>
              <a:t>3.3M baskets, 5 behaviour labels each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DATA PREPROCESSING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EDA: what people buy and who buys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234440"/>
          <a:ext cx="54864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6235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Average basket ≈ 10 items  ·  orders swing &gt;25% within weeks  ·  489 demand peaks in a year  ·  niche groups over-buy one department: pet supplies 31×, alcohol 23×, baby products 16× the average shopper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APPROACH / ALGORITHMS /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Algorithms by module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Behaviour: </a:t>
            </a:r>
            <a:r>
              <a:rPr sz="1900">
                <a:solidFill>
                  <a:srgbClr val="1F2937"/>
                </a:solidFill>
                <a:latin typeface="Calibri"/>
              </a:rPr>
              <a:t>rule-based weighted voting with confidence scores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Clustering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GCN (selected) · DGCformer · DEC · IDEC · contrastive clustering · transformer · k-means baseline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Live group assignment: </a:t>
            </a:r>
            <a:r>
              <a:rPr sz="1900">
                <a:solidFill>
                  <a:srgbClr val="1F2937"/>
                </a:solidFill>
                <a:latin typeface="Calibri"/>
              </a:rPr>
              <a:t>k-nearest neighbours, agreeing with the batch model for 98% of held-out shoppers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Product graph: </a:t>
            </a:r>
            <a:r>
              <a:rPr sz="1900">
                <a:solidFill>
                  <a:srgbClr val="1F2937"/>
                </a:solidFill>
                <a:latin typeface="Calibri"/>
              </a:rPr>
              <a:t>co-purchase lift + GCN product embeddings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1900">
                <a:solidFill>
                  <a:srgbClr val="172033"/>
                </a:solidFill>
                <a:latin typeface="Calibri"/>
              </a:rPr>
              <a:t>Peaks: </a:t>
            </a:r>
            <a:r>
              <a:rPr sz="1900">
                <a:solidFill>
                  <a:srgbClr val="1F2937"/>
                </a:solidFill>
                <a:latin typeface="Calibri"/>
              </a:rPr>
              <a:t>robust median baseline + z-score anomaly detection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E8A800"/>
                </a:solidFill>
                <a:latin typeface="Calibri"/>
              </a:rPr>
              <a:t>•  </a:t>
            </a:r>
            <a:r>
              <a:rPr sz="1900" b="1">
                <a:solidFill>
                  <a:srgbClr val="172033"/>
                </a:solidFill>
                <a:latin typeface="Calibri"/>
              </a:rPr>
              <a:t>Forecasting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Traditional: moving average, exponential smoothing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6B7280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Ours: shopper-group demand + purchase cycles + peak-aware momentum, tuned weekly (walk-forward)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APPROACH / ALGORITHMS /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How the best clustering model was chosen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100">
                <a:solidFill>
                  <a:srgbClr val="172033"/>
                </a:solidFill>
                <a:latin typeface="Calibri"/>
              </a:rPr>
              <a:t>Cluster quality: </a:t>
            </a:r>
            <a:r>
              <a:rPr sz="2100">
                <a:solidFill>
                  <a:srgbClr val="1F2937"/>
                </a:solidFill>
                <a:latin typeface="Calibri"/>
              </a:rPr>
              <a:t>silhouette, Davies–Bouldin, Calinski–Harabasz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100">
                <a:solidFill>
                  <a:srgbClr val="172033"/>
                </a:solidFill>
                <a:latin typeface="Calibri"/>
              </a:rPr>
              <a:t>Stability: </a:t>
            </a:r>
            <a:r>
              <a:rPr sz="2100">
                <a:solidFill>
                  <a:srgbClr val="1F2937"/>
                </a:solidFill>
                <a:latin typeface="Calibri"/>
              </a:rPr>
              <a:t>agreement across random seeds (ARI)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100">
                <a:solidFill>
                  <a:srgbClr val="172033"/>
                </a:solidFill>
                <a:latin typeface="Calibri"/>
              </a:rPr>
              <a:t>Representation quality: </a:t>
            </a:r>
            <a:r>
              <a:rPr sz="2100">
                <a:solidFill>
                  <a:srgbClr val="1F2937"/>
                </a:solidFill>
                <a:latin typeface="Calibri"/>
              </a:rPr>
              <a:t>how well it predicts the behaviour labels (macro-F1)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100">
                <a:solidFill>
                  <a:srgbClr val="172033"/>
                </a:solidFill>
                <a:latin typeface="Calibri"/>
              </a:rPr>
              <a:t>Agreement with rule labels: </a:t>
            </a:r>
            <a:r>
              <a:rPr sz="2100">
                <a:solidFill>
                  <a:srgbClr val="1F2937"/>
                </a:solidFill>
                <a:latin typeface="Calibri"/>
              </a:rPr>
              <a:t>NMI, accuracy, precision, recall, F1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E8A800"/>
                </a:solidFill>
                <a:latin typeface="Calibri"/>
              </a:rPr>
              <a:t>•  </a:t>
            </a:r>
            <a:r>
              <a:rPr b="1" sz="2100">
                <a:solidFill>
                  <a:srgbClr val="172033"/>
                </a:solidFill>
                <a:latin typeface="Calibri"/>
              </a:rPr>
              <a:t>Selection: </a:t>
            </a:r>
            <a:r>
              <a:rPr sz="2100">
                <a:solidFill>
                  <a:srgbClr val="1F2937"/>
                </a:solidFill>
                <a:latin typeface="Calibri"/>
              </a:rPr>
              <a:t>best average rank across all metrics → GCN, 6 shopper groups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APPROACH / ALGORITHMS /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Tools &amp; technology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398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Data &amp; ML</a:t>
            </a:r>
          </a:p>
          <a:p>
            <a:r>
              <a:rPr sz="1500">
                <a:solidFill>
                  <a:srgbClr val="1F2937"/>
                </a:solidFill>
                <a:latin typeface="Calibri"/>
              </a:rPr>
              <a:t>Python · pandas · NumPy · SciPy
scikit-learn · PyTorch · UMAP · MLflow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398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Storage</a:t>
            </a:r>
          </a:p>
          <a:p>
            <a:r>
              <a:rPr sz="1500">
                <a:solidFill>
                  <a:srgbClr val="1F2937"/>
                </a:solidFill>
                <a:latin typeface="Calibri"/>
              </a:rPr>
              <a:t>SQLite (3.5 GB analytics DB)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199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Web app</a:t>
            </a:r>
          </a:p>
          <a:p>
            <a:r>
              <a:rPr sz="1500">
                <a:solidFill>
                  <a:srgbClr val="1F2937"/>
                </a:solidFill>
                <a:latin typeface="Calibri"/>
              </a:rPr>
              <a:t>FastAPI · Jinja2 · Chart.js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D95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AI summaries</a:t>
            </a:r>
          </a:p>
          <a:p>
            <a:r>
              <a:rPr sz="1500">
                <a:solidFill>
                  <a:srgbClr val="1F2937"/>
                </a:solidFill>
                <a:latin typeface="Calibri"/>
              </a:rPr>
              <a:t>LLM via Groq / Gemini
checked for numbers, jargon,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79476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199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DevOps</a:t>
            </a:r>
          </a:p>
          <a:p>
            <a:r>
              <a:rPr sz="1500">
                <a:solidFill>
                  <a:srgbClr val="1F2937"/>
                </a:solidFill>
                <a:latin typeface="Calibri"/>
              </a:rPr>
              <a:t>Docker · GitHub Actions · Caddy (HTTPS)
81 automated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79476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D95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Reporting</a:t>
            </a:r>
          </a:p>
          <a:p>
            <a:r>
              <a:rPr sz="1500">
                <a:solidFill>
                  <a:srgbClr val="1F2937"/>
                </a:solidFill>
                <a:latin typeface="Calibri"/>
              </a:rPr>
              <a:t>Power BI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PROJECT PLAN /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Project plan &amp; milestone progress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Data loading, cleaning, live order stream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9E7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Product tagging &amp; basket behaviour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9E7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Deep clustering &amp; model comparison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9E7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Peak detection &amp; product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9E7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Backtest vs traditional stocking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9E7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Web app (7 pages, AI insights)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9E7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Docker images &amp; CI/CD pipeline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9E7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Cloud go-live (VM + HTTPS)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8A80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Final validation, report, demo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6B7280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326880" y="2194560"/>
            <a:ext cx="2377440" cy="219456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E8A800"/>
                </a:solidFill>
              </a:rPr>
              <a:t>~85%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overall progress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PROJECT PLAN /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Calibri"/>
              </a:rPr>
              <a:t>Results so far &amp; next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Signature-Driven Inventory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80160"/>
          <a:ext cx="51206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E8A800"/>
                </a:solidFill>
                <a:latin typeface="Calibri"/>
              </a:rPr>
              <a:t>•  </a:t>
            </a:r>
            <a:r>
              <a:rPr sz="1800" b="1">
                <a:solidFill>
                  <a:srgbClr val="172033"/>
                </a:solidFill>
                <a:latin typeface="Calibri"/>
              </a:rPr>
              <a:t>Results (39 weeks of real orders, 5,237 products)</a:t>
            </a:r>
          </a:p>
          <a:p>
            <a:pPr lvl="1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–  </a:t>
            </a:r>
            <a:r>
              <a:rPr sz="1600" b="0">
                <a:solidFill>
                  <a:srgbClr val="374151"/>
                </a:solidFill>
                <a:latin typeface="Calibri"/>
              </a:rPr>
              <a:t>10% less stock for the same 97% of orders filled</a:t>
            </a:r>
          </a:p>
          <a:p>
            <a:pPr lvl="1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–  </a:t>
            </a:r>
            <a:r>
              <a:rPr sz="1600" b="0">
                <a:solidFill>
                  <a:srgbClr val="374151"/>
                </a:solidFill>
                <a:latin typeface="Calibri"/>
              </a:rPr>
              <a:t>31% fewer missed sales at the same safety margin</a:t>
            </a:r>
          </a:p>
          <a:p>
            <a:pPr lvl="1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–  </a:t>
            </a:r>
            <a:r>
              <a:rPr sz="1600" b="0">
                <a:solidFill>
                  <a:srgbClr val="374151"/>
                </a:solidFill>
                <a:latin typeface="Calibri"/>
              </a:rPr>
              <a:t>More accurate in demand spikes: off by 18% vs 20%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E8A800"/>
                </a:solidFill>
                <a:latin typeface="Calibri"/>
              </a:rPr>
              <a:t>•  </a:t>
            </a:r>
            <a:r>
              <a:rPr sz="1800" b="1">
                <a:solidFill>
                  <a:srgbClr val="172033"/>
                </a:solidFill>
                <a:latin typeface="Calibri"/>
              </a:rPr>
              <a:t>Next steps</a:t>
            </a:r>
          </a:p>
          <a:p>
            <a:pPr lvl="1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–  </a:t>
            </a:r>
            <a:r>
              <a:rPr sz="1600" b="0">
                <a:solidFill>
                  <a:srgbClr val="374151"/>
                </a:solidFill>
                <a:latin typeface="Calibri"/>
              </a:rPr>
              <a:t>Finish cloud deployment (VM + HTTPS)</a:t>
            </a:r>
          </a:p>
          <a:p>
            <a:pPr lvl="1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–  </a:t>
            </a:r>
            <a:r>
              <a:rPr sz="1600" b="0">
                <a:solidFill>
                  <a:srgbClr val="374151"/>
                </a:solidFill>
                <a:latin typeface="Calibri"/>
              </a:rPr>
              <a:t>User testing with non-technical users</a:t>
            </a:r>
          </a:p>
          <a:p>
            <a:pPr lvl="1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–  </a:t>
            </a:r>
            <a:r>
              <a:rPr sz="1600" b="0">
                <a:solidFill>
                  <a:srgbClr val="374151"/>
                </a:solidFill>
                <a:latin typeface="Calibri"/>
              </a:rPr>
              <a:t>Validate on data with real dates and prices</a:t>
            </a:r>
          </a:p>
          <a:p>
            <a:pPr lvl="1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–  </a:t>
            </a:r>
            <a:r>
              <a:rPr sz="1600" b="0">
                <a:solidFill>
                  <a:srgbClr val="374151"/>
                </a:solidFill>
                <a:latin typeface="Calibri"/>
              </a:rPr>
              <a:t>Final report and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