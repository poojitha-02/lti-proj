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94" r:id="rId5"/>
    <p:sldId id="2147470495" r:id="rId6"/>
    <p:sldId id="2147470506" r:id="rId7"/>
    <p:sldId id="2147470496" r:id="rId8"/>
    <p:sldId id="2147470497" r:id="rId9"/>
    <p:sldId id="2147470491" r:id="rId10"/>
    <p:sldId id="2147470503" r:id="rId11"/>
    <p:sldId id="2147470504" r:id="rId12"/>
    <p:sldId id="214747049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25B9ED"/>
    <a:srgbClr val="47BDAE"/>
    <a:srgbClr val="30BBDA"/>
    <a:srgbClr val="47BDAF"/>
    <a:srgbClr val="696969"/>
    <a:srgbClr val="1C4D98"/>
    <a:srgbClr val="8BC431"/>
    <a:srgbClr val="97B6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687F8C-4A73-4C74-BD05-19E9C879B545}" v="277" dt="2026-09-06T16:54:51.2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2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microsoft.com/office/2007/relationships/hdphoto" Target="../media/hdphoto3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22125" y="11449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endParaRPr lang="en-IN" sz="3600" b="1" dirty="0">
              <a:solidFill>
                <a:schemeClr val="bg1"/>
              </a:solidFill>
            </a:endParaRPr>
          </a:p>
          <a:p>
            <a:pPr lvl="0" algn="ctr">
              <a:defRPr/>
            </a:pPr>
            <a:r>
              <a:rPr lang="en-IN" sz="3600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sz="3600" b="1" dirty="0" err="1">
                <a:solidFill>
                  <a:schemeClr val="bg1"/>
                </a:solidFill>
              </a:rPr>
              <a:t>Behavior</a:t>
            </a:r>
            <a:r>
              <a:rPr lang="en-IN" sz="3600" b="1" dirty="0">
                <a:solidFill>
                  <a:schemeClr val="bg1"/>
                </a:solidFill>
              </a:rPr>
              <a:t> From Basket Data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24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24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24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24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lang="en-US" sz="24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POOJITHA D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924211" y="2267915"/>
            <a:ext cx="8339364" cy="2852721"/>
          </a:xfrm>
        </p:spPr>
        <p:txBody>
          <a:bodyPr/>
          <a:lstStyle/>
          <a:p>
            <a:pPr lvl="0"/>
            <a:r>
              <a:rPr lang="en-IN" b="0" dirty="0">
                <a:latin typeface="+mn-lt"/>
              </a:rPr>
              <a:t>Inventory decisions ignore true </a:t>
            </a:r>
            <a:r>
              <a:rPr lang="en-IN" dirty="0">
                <a:latin typeface="+mn-lt"/>
              </a:rPr>
              <a:t>shopping patterns</a:t>
            </a:r>
          </a:p>
          <a:p>
            <a:pPr lvl="0"/>
            <a:r>
              <a:rPr lang="en-IN" b="0" dirty="0">
                <a:latin typeface="+mn-lt"/>
              </a:rPr>
              <a:t>Rely on </a:t>
            </a:r>
            <a:r>
              <a:rPr lang="en-IN" dirty="0">
                <a:latin typeface="+mn-lt"/>
              </a:rPr>
              <a:t>aggregate demand</a:t>
            </a:r>
            <a:r>
              <a:rPr lang="en-IN" b="0" dirty="0">
                <a:latin typeface="+mn-lt"/>
              </a:rPr>
              <a:t>, not </a:t>
            </a:r>
            <a:r>
              <a:rPr lang="en-IN" b="0" dirty="0" err="1">
                <a:latin typeface="+mn-lt"/>
              </a:rPr>
              <a:t>behavior</a:t>
            </a:r>
            <a:endParaRPr lang="en-IN" b="0" dirty="0">
              <a:latin typeface="+mn-lt"/>
            </a:endParaRPr>
          </a:p>
          <a:p>
            <a:pPr lvl="0"/>
            <a:r>
              <a:rPr lang="en-IN" b="0" dirty="0">
                <a:latin typeface="+mn-lt"/>
              </a:rPr>
              <a:t>Causes </a:t>
            </a:r>
            <a:r>
              <a:rPr lang="en-IN" dirty="0">
                <a:latin typeface="+mn-lt"/>
              </a:rPr>
              <a:t>overstocking </a:t>
            </a:r>
            <a:r>
              <a:rPr lang="en-IN" b="0" dirty="0">
                <a:latin typeface="+mn-lt"/>
              </a:rPr>
              <a:t>some,</a:t>
            </a:r>
            <a:r>
              <a:rPr lang="en-IN" dirty="0">
                <a:latin typeface="+mn-lt"/>
              </a:rPr>
              <a:t> underserving </a:t>
            </a:r>
            <a:r>
              <a:rPr lang="en-IN" b="0" dirty="0">
                <a:latin typeface="+mn-lt"/>
              </a:rPr>
              <a:t>others</a:t>
            </a:r>
          </a:p>
          <a:p>
            <a:pPr lvl="0"/>
            <a:r>
              <a:rPr lang="en-IN" b="0" dirty="0">
                <a:latin typeface="+mn-lt"/>
              </a:rPr>
              <a:t>No </a:t>
            </a:r>
            <a:r>
              <a:rPr lang="en-IN" dirty="0">
                <a:latin typeface="+mn-lt"/>
              </a:rPr>
              <a:t>basket-level</a:t>
            </a:r>
            <a:r>
              <a:rPr lang="en-IN" b="0" dirty="0">
                <a:latin typeface="+mn-lt"/>
              </a:rPr>
              <a:t> </a:t>
            </a:r>
            <a:r>
              <a:rPr lang="en-IN" b="0" dirty="0" err="1">
                <a:latin typeface="+mn-lt"/>
              </a:rPr>
              <a:t>behavioral</a:t>
            </a:r>
            <a:r>
              <a:rPr lang="en-IN" b="0" dirty="0">
                <a:latin typeface="+mn-lt"/>
              </a:rPr>
              <a:t> insight exists</a:t>
            </a:r>
          </a:p>
          <a:p>
            <a:pPr lvl="0"/>
            <a:r>
              <a:rPr lang="en-IN" b="0" dirty="0">
                <a:latin typeface="+mn-lt"/>
              </a:rPr>
              <a:t>Build a system to profile </a:t>
            </a:r>
            <a:r>
              <a:rPr lang="en-IN" dirty="0">
                <a:latin typeface="+mn-lt"/>
              </a:rPr>
              <a:t>shopper </a:t>
            </a:r>
            <a:r>
              <a:rPr lang="en-IN" dirty="0" err="1">
                <a:latin typeface="+mn-lt"/>
              </a:rPr>
              <a:t>behavior</a:t>
            </a:r>
            <a:r>
              <a:rPr lang="en-IN" dirty="0">
                <a:latin typeface="+mn-lt"/>
              </a:rPr>
              <a:t> </a:t>
            </a:r>
            <a:r>
              <a:rPr lang="en-IN" b="0" dirty="0">
                <a:latin typeface="+mn-lt"/>
              </a:rPr>
              <a:t>for smarter inventory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319" y="2203908"/>
            <a:ext cx="11183148" cy="2989884"/>
          </a:xfrm>
        </p:spPr>
        <p:txBody>
          <a:bodyPr/>
          <a:lstStyle/>
          <a:p>
            <a:pPr lvl="0"/>
            <a:r>
              <a:rPr lang="en-IN" b="0" dirty="0">
                <a:latin typeface="+mn-lt"/>
              </a:rPr>
              <a:t>Develop a </a:t>
            </a:r>
            <a:r>
              <a:rPr lang="en-IN" dirty="0">
                <a:latin typeface="+mn-lt"/>
              </a:rPr>
              <a:t>retail consumption observation system </a:t>
            </a:r>
            <a:r>
              <a:rPr lang="en-IN" b="0" dirty="0">
                <a:latin typeface="+mn-lt"/>
              </a:rPr>
              <a:t>for shopper profiling</a:t>
            </a:r>
          </a:p>
          <a:p>
            <a:pPr lvl="0"/>
            <a:r>
              <a:rPr lang="en-IN" b="0" dirty="0">
                <a:latin typeface="+mn-lt"/>
              </a:rPr>
              <a:t>Engineer </a:t>
            </a:r>
            <a:r>
              <a:rPr lang="en-IN" dirty="0">
                <a:latin typeface="+mn-lt"/>
              </a:rPr>
              <a:t>LLM-based features: </a:t>
            </a:r>
            <a:r>
              <a:rPr lang="en-IN" b="0" dirty="0">
                <a:latin typeface="+mn-lt"/>
              </a:rPr>
              <a:t>orientation, mission, convenience, </a:t>
            </a:r>
            <a:r>
              <a:rPr lang="en-IN" b="0" dirty="0" err="1">
                <a:latin typeface="+mn-lt"/>
              </a:rPr>
              <a:t>behavior</a:t>
            </a:r>
            <a:endParaRPr lang="en-IN" b="0" dirty="0">
              <a:latin typeface="+mn-lt"/>
            </a:endParaRPr>
          </a:p>
          <a:p>
            <a:pPr lvl="0"/>
            <a:r>
              <a:rPr lang="en-IN" b="0" dirty="0">
                <a:latin typeface="+mn-lt"/>
              </a:rPr>
              <a:t>Discover distinct shopping patterns via </a:t>
            </a:r>
            <a:r>
              <a:rPr lang="en-IN" dirty="0">
                <a:latin typeface="+mn-lt"/>
              </a:rPr>
              <a:t>unsupervised clustering</a:t>
            </a:r>
          </a:p>
          <a:p>
            <a:pPr lvl="0"/>
            <a:r>
              <a:rPr lang="en-IN" b="0" dirty="0">
                <a:latin typeface="+mn-lt"/>
              </a:rPr>
              <a:t>Compare </a:t>
            </a:r>
            <a:r>
              <a:rPr lang="en-IN" dirty="0">
                <a:latin typeface="+mn-lt"/>
              </a:rPr>
              <a:t>category, brand, and pack-size </a:t>
            </a:r>
            <a:r>
              <a:rPr lang="en-IN" b="0" dirty="0">
                <a:latin typeface="+mn-lt"/>
              </a:rPr>
              <a:t>preferences across patterns</a:t>
            </a:r>
          </a:p>
          <a:p>
            <a:pPr lvl="0"/>
            <a:r>
              <a:rPr lang="en-IN" b="0" dirty="0">
                <a:latin typeface="+mn-lt"/>
              </a:rPr>
              <a:t>Translate discovered patterns into </a:t>
            </a:r>
            <a:r>
              <a:rPr lang="en-IN" dirty="0">
                <a:latin typeface="+mn-lt"/>
              </a:rPr>
              <a:t>inventory &amp; assortment insights</a:t>
            </a:r>
          </a:p>
          <a:p>
            <a:pPr lvl="0"/>
            <a:r>
              <a:rPr lang="en-IN" b="0" dirty="0">
                <a:latin typeface="+mn-lt"/>
              </a:rPr>
              <a:t>Deliver insights through a </a:t>
            </a:r>
            <a:r>
              <a:rPr lang="en-IN" dirty="0">
                <a:latin typeface="+mn-lt"/>
              </a:rPr>
              <a:t>live, filterable interactive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F380A3B-A440-13C7-17C2-D930D6EB0055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4649" y="1823050"/>
            <a:ext cx="11122702" cy="3706559"/>
          </a:xfrm>
        </p:spPr>
        <p:txBody>
          <a:bodyPr/>
          <a:lstStyle/>
          <a:p>
            <a:pPr lvl="0" algn="just"/>
            <a:r>
              <a:rPr lang="en-IN" dirty="0"/>
              <a:t>Inventory &amp; Assortment:</a:t>
            </a:r>
            <a:r>
              <a:rPr lang="en-IN" b="0" dirty="0"/>
              <a:t> Optimize pack sizes and product mix by store/region using shopper segments.</a:t>
            </a:r>
          </a:p>
          <a:p>
            <a:pPr lvl="0" algn="just"/>
            <a:r>
              <a:rPr lang="en-IN" dirty="0"/>
              <a:t>Targeted Marketing: </a:t>
            </a:r>
            <a:r>
              <a:rPr lang="en-IN" b="0" dirty="0"/>
              <a:t>Personalize promotions, recommendations, and bundles by shopper signature.</a:t>
            </a:r>
          </a:p>
          <a:p>
            <a:pPr lvl="0" algn="just"/>
            <a:r>
              <a:rPr lang="en-IN" dirty="0"/>
              <a:t>Demand Forecasting:</a:t>
            </a:r>
            <a:r>
              <a:rPr lang="en-IN" b="0" dirty="0"/>
              <a:t> Use cluster-level basket patterns to reduce overstock and stockouts.</a:t>
            </a:r>
          </a:p>
          <a:p>
            <a:pPr lvl="0" algn="just"/>
            <a:r>
              <a:rPr lang="en-IN" dirty="0"/>
              <a:t>Scalable: </a:t>
            </a:r>
            <a:r>
              <a:rPr lang="en-IN" b="0" dirty="0"/>
              <a:t>Extend the pipeline to pharmacy, convenience, and e-commerce retail.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89CF357-F270-4AD0-BED4-B78A44433D89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3526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98189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35DF61B-0875-B91D-B80F-8BA89D18D0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582252"/>
              </p:ext>
            </p:extLst>
          </p:nvPr>
        </p:nvGraphicFramePr>
        <p:xfrm>
          <a:off x="146304" y="1088718"/>
          <a:ext cx="11859770" cy="51080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077">
                  <a:extLst>
                    <a:ext uri="{9D8B030D-6E8A-4147-A177-3AD203B41FA5}">
                      <a16:colId xmlns:a16="http://schemas.microsoft.com/office/drawing/2014/main" val="2728507133"/>
                    </a:ext>
                  </a:extLst>
                </a:gridCol>
                <a:gridCol w="4756108">
                  <a:extLst>
                    <a:ext uri="{9D8B030D-6E8A-4147-A177-3AD203B41FA5}">
                      <a16:colId xmlns:a16="http://schemas.microsoft.com/office/drawing/2014/main" val="471237689"/>
                    </a:ext>
                  </a:extLst>
                </a:gridCol>
                <a:gridCol w="1798819">
                  <a:extLst>
                    <a:ext uri="{9D8B030D-6E8A-4147-A177-3AD203B41FA5}">
                      <a16:colId xmlns:a16="http://schemas.microsoft.com/office/drawing/2014/main" val="96784165"/>
                    </a:ext>
                  </a:extLst>
                </a:gridCol>
                <a:gridCol w="4855766">
                  <a:extLst>
                    <a:ext uri="{9D8B030D-6E8A-4147-A177-3AD203B41FA5}">
                      <a16:colId xmlns:a16="http://schemas.microsoft.com/office/drawing/2014/main" val="3479704243"/>
                    </a:ext>
                  </a:extLst>
                </a:gridCol>
              </a:tblGrid>
              <a:tr h="3336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000" dirty="0"/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Paper Title </a:t>
                      </a:r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Models Used</a:t>
                      </a:r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Research Gaps</a:t>
                      </a:r>
                    </a:p>
                  </a:txBody>
                  <a:tcPr marT="0" marB="0" anchor="ctr" anchorCtr="1"/>
                </a:tc>
                <a:extLst>
                  <a:ext uri="{0D108BD9-81ED-4DB2-BD59-A6C34878D82A}">
                    <a16:rowId xmlns:a16="http://schemas.microsoft.com/office/drawing/2014/main" val="2198453493"/>
                  </a:ext>
                </a:extLst>
              </a:tr>
              <a:tr h="10537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Investigating Customer Segmentation Dynamics via Market Basket Analysis: An Extensive Exploration of Market Insights (ResearchGate, 2025)</a:t>
                      </a: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>
                          <a:solidFill>
                            <a:srgbClr val="0070C0"/>
                          </a:solidFill>
                        </a:rPr>
                        <a:t>K-Means clustering on market basket transaction data</a:t>
                      </a: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Descriptive clustering only, no inventory action</a:t>
                      </a:r>
                      <a:br>
                        <a:rPr lang="en-IN" sz="18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Limited comparison across clustering algorithms</a:t>
                      </a:r>
                    </a:p>
                  </a:txBody>
                  <a:tcPr marL="54000" marR="54000" marT="0" marB="0"/>
                </a:tc>
                <a:extLst>
                  <a:ext uri="{0D108BD9-81ED-4DB2-BD59-A6C34878D82A}">
                    <a16:rowId xmlns:a16="http://schemas.microsoft.com/office/drawing/2014/main" val="3820599226"/>
                  </a:ext>
                </a:extLst>
              </a:tr>
              <a:tr h="82947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GB" sz="1800" dirty="0">
                          <a:solidFill>
                            <a:srgbClr val="0070C0"/>
                          </a:solidFill>
                        </a:rPr>
                        <a:t>2</a:t>
                      </a:r>
                      <a:endParaRPr lang="en-IN" sz="1800" dirty="0">
                        <a:solidFill>
                          <a:srgbClr val="0070C0"/>
                        </a:solidFill>
                      </a:endParaRP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Customer-Based Market Segmentation Using Clustering in Data Mining (IEEE, 2025)</a:t>
                      </a: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RFM approach + clustering</a:t>
                      </a:r>
                    </a:p>
                  </a:txBody>
                  <a:tcPr marL="54000" marR="54000" marT="0" marB="0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RFM-only features, ignores basket composition</a:t>
                      </a:r>
                      <a:br>
                        <a:rPr lang="en-IN" sz="18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No inventory/assortment output layer</a:t>
                      </a:r>
                    </a:p>
                  </a:txBody>
                  <a:tcPr marL="54000" marR="54000" marT="0" marB="0"/>
                </a:tc>
                <a:extLst>
                  <a:ext uri="{0D108BD9-81ED-4DB2-BD59-A6C34878D82A}">
                    <a16:rowId xmlns:a16="http://schemas.microsoft.com/office/drawing/2014/main" val="3111679754"/>
                  </a:ext>
                </a:extLst>
              </a:tr>
              <a:tr h="114151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GB" sz="1800" dirty="0">
                          <a:solidFill>
                            <a:srgbClr val="0070C0"/>
                          </a:solidFill>
                        </a:rPr>
                        <a:t>3</a:t>
                      </a:r>
                      <a:endParaRPr lang="en-IN" sz="1800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Enhancing Customer Segmentation: RFM Analysis and K-Means Clustering Implementation (Taylor &amp; Francis,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RFM + K-Means clustering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Transaction-value features only, no basket content</a:t>
                      </a:r>
                      <a:br>
                        <a:rPr lang="en-IN" sz="18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UK online-commerce dataset, not grocery-specific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496174"/>
                  </a:ext>
                </a:extLst>
              </a:tr>
              <a:tr h="82947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GB" sz="1800" dirty="0">
                          <a:solidFill>
                            <a:srgbClr val="0070C0"/>
                          </a:solidFill>
                        </a:rPr>
                        <a:t>4</a:t>
                      </a:r>
                      <a:endParaRPr lang="en-IN" sz="1800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Customer Segmentation Using Clustering Analysis (IEEE,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K-Means clustering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Small benchmark dataset (n=200), limited scale</a:t>
                      </a:r>
                      <a:br>
                        <a:rPr lang="en-IN" sz="18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800" dirty="0">
                          <a:solidFill>
                            <a:srgbClr val="0070C0"/>
                          </a:solidFill>
                        </a:rPr>
                        <a:t>• Sales-forecasting focus, not shopper profiling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996867"/>
                  </a:ext>
                </a:extLst>
              </a:tr>
              <a:tr h="82947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GB" sz="1600" dirty="0">
                          <a:solidFill>
                            <a:srgbClr val="0070C0"/>
                          </a:solidFill>
                        </a:rPr>
                        <a:t>5</a:t>
                      </a:r>
                      <a:endParaRPr lang="en-IN" sz="1600" dirty="0">
                        <a:solidFill>
                          <a:srgbClr val="0070C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>
                          <a:solidFill>
                            <a:srgbClr val="0070C0"/>
                          </a:solidFill>
                        </a:rPr>
                        <a:t>Data-Driven Strategic Customer Segmentation Considering Cart Abandonment Behavior: Insights from E-Grocery Delivery Platforms (ScienceDirect,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Extended </a:t>
                      </a:r>
                      <a:r>
                        <a:rPr lang="en-IN" sz="1600" dirty="0" err="1">
                          <a:solidFill>
                            <a:srgbClr val="0070C0"/>
                          </a:solidFill>
                        </a:rPr>
                        <a:t>RFM+delivery</a:t>
                      </a: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 ratio+ clustering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Focuses on cart abandonment</a:t>
                      </a:r>
                      <a:br>
                        <a:rPr lang="en-IN" sz="16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No product-category or pack-size level features</a:t>
                      </a:r>
                      <a:br>
                        <a:rPr lang="en-IN" sz="16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No semantic product tagging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9738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EA41DF4-21EC-3CE2-05C7-04190F17090C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0765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BF642-81A8-A3C0-20D8-C8EEB317A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32485C-490F-07FD-7668-F0A01DBDF018}"/>
              </a:ext>
            </a:extLst>
          </p:cNvPr>
          <p:cNvSpPr txBox="1"/>
          <p:nvPr/>
        </p:nvSpPr>
        <p:spPr>
          <a:xfrm>
            <a:off x="255996" y="3526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A1DB909-2241-15A6-2DF7-8239FEBB12E5}"/>
              </a:ext>
            </a:extLst>
          </p:cNvPr>
          <p:cNvCxnSpPr>
            <a:cxnSpLocks/>
          </p:cNvCxnSpPr>
          <p:nvPr/>
        </p:nvCxnSpPr>
        <p:spPr>
          <a:xfrm>
            <a:off x="221274" y="98189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1F2FEC3-E421-C9CB-ADBE-E04A5DA85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961082"/>
              </p:ext>
            </p:extLst>
          </p:nvPr>
        </p:nvGraphicFramePr>
        <p:xfrm>
          <a:off x="146304" y="1493448"/>
          <a:ext cx="11859770" cy="432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077">
                  <a:extLst>
                    <a:ext uri="{9D8B030D-6E8A-4147-A177-3AD203B41FA5}">
                      <a16:colId xmlns:a16="http://schemas.microsoft.com/office/drawing/2014/main" val="2728507133"/>
                    </a:ext>
                  </a:extLst>
                </a:gridCol>
                <a:gridCol w="4756108">
                  <a:extLst>
                    <a:ext uri="{9D8B030D-6E8A-4147-A177-3AD203B41FA5}">
                      <a16:colId xmlns:a16="http://schemas.microsoft.com/office/drawing/2014/main" val="471237689"/>
                    </a:ext>
                  </a:extLst>
                </a:gridCol>
                <a:gridCol w="1798819">
                  <a:extLst>
                    <a:ext uri="{9D8B030D-6E8A-4147-A177-3AD203B41FA5}">
                      <a16:colId xmlns:a16="http://schemas.microsoft.com/office/drawing/2014/main" val="96784165"/>
                    </a:ext>
                  </a:extLst>
                </a:gridCol>
                <a:gridCol w="4855766">
                  <a:extLst>
                    <a:ext uri="{9D8B030D-6E8A-4147-A177-3AD203B41FA5}">
                      <a16:colId xmlns:a16="http://schemas.microsoft.com/office/drawing/2014/main" val="3479704243"/>
                    </a:ext>
                  </a:extLst>
                </a:gridCol>
              </a:tblGrid>
              <a:tr h="2621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2000" dirty="0"/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Paper Title </a:t>
                      </a:r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Models Used</a:t>
                      </a:r>
                    </a:p>
                  </a:txBody>
                  <a:tcPr marT="0" marB="0" anchor="ctr" anchorCtr="1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dirty="0"/>
                        <a:t>Research Gaps</a:t>
                      </a:r>
                    </a:p>
                  </a:txBody>
                  <a:tcPr marT="0" marB="0" anchor="ctr" anchorCtr="1"/>
                </a:tc>
                <a:extLst>
                  <a:ext uri="{0D108BD9-81ED-4DB2-BD59-A6C34878D82A}">
                    <a16:rowId xmlns:a16="http://schemas.microsoft.com/office/drawing/2014/main" val="2198453493"/>
                  </a:ext>
                </a:extLst>
              </a:tr>
              <a:tr h="707919"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GB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A Machine Learning Approach to Consumer Behavior in Supermarket Analytics (ScienceDirect, 2025)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K-Means clustering, Elbow Method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Purchase-frequency features</a:t>
                      </a:r>
                      <a:b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No shopping-mission or convenience labelling</a:t>
                      </a:r>
                      <a:b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Static clustering</a:t>
                      </a:r>
                      <a:endParaRPr lang="en-IN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0599226"/>
                  </a:ext>
                </a:extLst>
              </a:tr>
              <a:tr h="707919"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Customer Segmentation Using Clustering Techniques: Data-Driven Approach to Enhance Marketing Strategy (IEEE, 2025)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K-Means, Hierarchical Clustering, DBSCAN</a:t>
                      </a:r>
                      <a:endParaRPr lang="en-IN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just" rtl="0" eaLnBrk="1" fontAlgn="ctr" latinLnBrk="0" hangingPunct="1">
                        <a:buNone/>
                      </a:pP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Demographic/</a:t>
                      </a:r>
                      <a:r>
                        <a:rPr lang="en-IN" sz="1600" b="0" i="0" u="none" strike="noStrike" kern="1200" dirty="0" err="1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behavioral</a:t>
                      </a: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mall dataset</a:t>
                      </a:r>
                      <a:b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No product-category</a:t>
                      </a:r>
                      <a:b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IN" sz="1600" b="0" i="0" u="none" strike="noStrike" kern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• Marketing-focused, not inventory-focused</a:t>
                      </a:r>
                      <a:endParaRPr lang="en-IN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1679754"/>
                  </a:ext>
                </a:extLst>
              </a:tr>
              <a:tr h="112742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>
                          <a:solidFill>
                            <a:srgbClr val="0070C0"/>
                          </a:solidFill>
                        </a:rPr>
                        <a:t>LLMs for Product Classification in E-Commerce: A Zero-Shot Comparative Study of GPT and Claude Models (ScienceDirect, 2025)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>
                          <a:solidFill>
                            <a:srgbClr val="0070C0"/>
                          </a:solidFill>
                        </a:rPr>
                        <a:t>Zero-shot LLM classification (GPT-4o, GPT-4o mini, Claude 3.5 Sonnet/Haiku)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No downstream basket- or shopper-level application</a:t>
                      </a:r>
                      <a:br>
                        <a:rPr lang="en-IN" sz="16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Evaluated on general </a:t>
                      </a:r>
                      <a:r>
                        <a:rPr lang="en-IN" sz="1600" dirty="0" err="1">
                          <a:solidFill>
                            <a:srgbClr val="0070C0"/>
                          </a:solidFill>
                        </a:rPr>
                        <a:t>catalog</a:t>
                      </a:r>
                      <a:endParaRPr lang="en-IN" sz="16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96174"/>
                  </a:ext>
                </a:extLst>
              </a:tr>
              <a:tr h="91767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>
                          <a:solidFill>
                            <a:srgbClr val="0070C0"/>
                          </a:solidFill>
                        </a:rP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A New Large Language Model for Attribute Extraction in E-Commerce Product Categorization (ResearchGate, 2025)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LLM-based attribute/NER extraction vs. DL 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Generalizability untested</a:t>
                      </a:r>
                      <a:br>
                        <a:rPr lang="en-IN" sz="1600" dirty="0">
                          <a:solidFill>
                            <a:srgbClr val="0070C0"/>
                          </a:solidFill>
                        </a:rPr>
                      </a:br>
                      <a:r>
                        <a:rPr lang="en-IN" sz="1600" dirty="0">
                          <a:solidFill>
                            <a:srgbClr val="0070C0"/>
                          </a:solidFill>
                        </a:rPr>
                        <a:t>• No integration with clustering/segmentation pipeline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099686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F7E8605-D455-3BB2-34B2-517A0C55E7D6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6521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7455" y="1527251"/>
            <a:ext cx="11292876" cy="4462068"/>
          </a:xfrm>
        </p:spPr>
        <p:txBody>
          <a:bodyPr/>
          <a:lstStyle/>
          <a:p>
            <a:pPr lvl="0"/>
            <a:r>
              <a:rPr lang="en-IN" dirty="0"/>
              <a:t>Limited Basket-Level Insights: </a:t>
            </a:r>
            <a:r>
              <a:rPr lang="en-IN" b="0" dirty="0"/>
              <a:t>Most studies rely on RFM/transaction metrics.</a:t>
            </a:r>
            <a:endParaRPr lang="en-IN" dirty="0"/>
          </a:p>
          <a:p>
            <a:pPr lvl="0"/>
            <a:r>
              <a:rPr lang="en-IN" dirty="0"/>
              <a:t>Lack of Semantic Features: Shopping mission, household orientation, and convenience </a:t>
            </a:r>
            <a:r>
              <a:rPr lang="en-IN" b="0" dirty="0"/>
              <a:t>are rarely captured through LLM-based product understanding.</a:t>
            </a:r>
            <a:r>
              <a:rPr lang="en-IN" dirty="0"/>
              <a:t> </a:t>
            </a:r>
          </a:p>
          <a:p>
            <a:pPr lvl="0"/>
            <a:r>
              <a:rPr lang="en-IN" dirty="0"/>
              <a:t>Limited Clustering Evaluation: </a:t>
            </a:r>
            <a:r>
              <a:rPr lang="en-IN" b="0" dirty="0"/>
              <a:t>Few studies </a:t>
            </a:r>
            <a:r>
              <a:rPr lang="en-IN" dirty="0"/>
              <a:t>benchmark multiple clustering algorithms </a:t>
            </a:r>
            <a:r>
              <a:rPr lang="en-IN" b="0" dirty="0"/>
              <a:t>to identify the most effective segmentation. </a:t>
            </a:r>
          </a:p>
          <a:p>
            <a:pPr lvl="0"/>
            <a:r>
              <a:rPr lang="en-IN" dirty="0"/>
              <a:t>Static &amp; Non-Actionable Segmentation: </a:t>
            </a:r>
            <a:r>
              <a:rPr lang="en-IN" b="0" dirty="0"/>
              <a:t>Segments are often static and rarely linked to </a:t>
            </a:r>
            <a:r>
              <a:rPr lang="en-IN" dirty="0"/>
              <a:t>inventory, assortment, </a:t>
            </a:r>
            <a:r>
              <a:rPr lang="en-IN" b="0" dirty="0"/>
              <a:t>or</a:t>
            </a:r>
            <a:r>
              <a:rPr lang="en-IN" dirty="0"/>
              <a:t> pack-size decisions.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26B0822-82B6-38CC-3AF2-B5EC5EE29899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0F88864-2E71-2992-AD53-E894883727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3831" y="1963718"/>
            <a:ext cx="10624338" cy="3427320"/>
          </a:xfrm>
        </p:spPr>
        <p:txBody>
          <a:bodyPr/>
          <a:lstStyle/>
          <a:p>
            <a:r>
              <a:rPr lang="en-IN" dirty="0"/>
              <a:t>Dataset: </a:t>
            </a:r>
            <a:r>
              <a:rPr lang="en-IN" b="0" dirty="0"/>
              <a:t>NPCI remitter-bank monthly UPI transaction data</a:t>
            </a:r>
          </a:p>
          <a:p>
            <a:r>
              <a:rPr lang="en-IN" dirty="0"/>
              <a:t>Data Characteristics: </a:t>
            </a:r>
            <a:r>
              <a:rPr lang="en-IN" b="0" dirty="0"/>
              <a:t>Customer-facing reliability metrics with month mismatches and duplicate records automatically handled</a:t>
            </a:r>
          </a:p>
          <a:p>
            <a:r>
              <a:rPr lang="en-IN" dirty="0"/>
              <a:t>Tech Stack: </a:t>
            </a:r>
            <a:r>
              <a:rPr lang="en-IN" b="0" dirty="0"/>
              <a:t>Python, Pandas, Prophet, SARIMA, Ruptures, Sentence-Transformers, </a:t>
            </a:r>
            <a:r>
              <a:rPr lang="en-IN" b="0" dirty="0" err="1"/>
              <a:t>MLflow</a:t>
            </a:r>
            <a:r>
              <a:rPr lang="en-IN" b="0" dirty="0"/>
              <a:t>, SQLite, Power BI</a:t>
            </a:r>
          </a:p>
          <a:p>
            <a:r>
              <a:rPr lang="en-IN" dirty="0"/>
              <a:t>Web Application: </a:t>
            </a:r>
            <a:r>
              <a:rPr lang="en-IN" b="0" dirty="0" err="1"/>
              <a:t>FastAPI</a:t>
            </a:r>
            <a:r>
              <a:rPr lang="en-IN" b="0" dirty="0"/>
              <a:t>-based monitoring dashboard with RAG-powered explanations using RBI circulars, notices, and news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Information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5880C73-8B16-0A6C-D11E-216DFBEBDF6E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348" y="1725414"/>
            <a:ext cx="10298311" cy="3536131"/>
          </a:xfrm>
        </p:spPr>
        <p:txBody>
          <a:bodyPr/>
          <a:lstStyle/>
          <a:p>
            <a:pPr lvl="0"/>
            <a:r>
              <a:rPr lang="en-IN" dirty="0"/>
              <a:t>Data Engineering - </a:t>
            </a:r>
            <a:r>
              <a:rPr lang="en-IN" b="0" dirty="0"/>
              <a:t>Ingestion, cleaning, basket-level transformation</a:t>
            </a:r>
          </a:p>
          <a:p>
            <a:pPr lvl="0"/>
            <a:r>
              <a:rPr lang="en-IN" dirty="0"/>
              <a:t>LLM Feature Engineering - </a:t>
            </a:r>
            <a:r>
              <a:rPr lang="en-IN" b="0" dirty="0"/>
              <a:t>Product tagging via GPT/Gemini API/</a:t>
            </a:r>
            <a:r>
              <a:rPr lang="en-IN" b="0" dirty="0" err="1"/>
              <a:t>Ollama</a:t>
            </a:r>
            <a:endParaRPr lang="en-IN" b="0" dirty="0"/>
          </a:p>
          <a:p>
            <a:pPr lvl="0"/>
            <a:r>
              <a:rPr lang="en-IN" dirty="0"/>
              <a:t>Pattern Discovery - </a:t>
            </a:r>
            <a:r>
              <a:rPr lang="en-IN" b="0" dirty="0"/>
              <a:t>Clustering shoppers into </a:t>
            </a:r>
            <a:r>
              <a:rPr lang="en-IN" b="0" dirty="0" err="1"/>
              <a:t>behavioral</a:t>
            </a:r>
            <a:r>
              <a:rPr lang="en-IN" b="0" dirty="0"/>
              <a:t> signatures</a:t>
            </a:r>
          </a:p>
          <a:p>
            <a:pPr lvl="0"/>
            <a:r>
              <a:rPr lang="en-IN" dirty="0"/>
              <a:t>Comparative Analysis - </a:t>
            </a:r>
            <a:r>
              <a:rPr lang="en-IN" b="0" dirty="0"/>
              <a:t>Category, brand, and pack-size profiling per cluster</a:t>
            </a:r>
          </a:p>
          <a:p>
            <a:pPr lvl="0"/>
            <a:r>
              <a:rPr lang="en-IN" dirty="0"/>
              <a:t>Dashboard - </a:t>
            </a:r>
            <a:r>
              <a:rPr lang="en-IN" b="0" dirty="0"/>
              <a:t>Live filterable shopper-signature visualization layer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to cover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18157FF-4F56-E3CE-00C1-5965ECE4A750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1433-4411-54F7-9C5D-821E6A4A6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B36EF2B-91BC-3EC5-56BD-ADC740F18F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047" y="917603"/>
            <a:ext cx="11631203" cy="2621374"/>
          </a:xfrm>
        </p:spPr>
        <p:txBody>
          <a:bodyPr tIns="18000" bIns="18000"/>
          <a:lstStyle/>
          <a:p>
            <a:pPr lvl="0" indent="-144000" algn="just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Data Source: </a:t>
            </a:r>
            <a:r>
              <a:rPr lang="en-IN" b="0" dirty="0"/>
              <a:t>Instacart order and product transaction files. </a:t>
            </a:r>
          </a:p>
          <a:p>
            <a:pPr lvl="0" indent="-144000" algn="just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Data Processing: </a:t>
            </a:r>
            <a:r>
              <a:rPr lang="en-IN" b="0" dirty="0"/>
              <a:t>Cleans, joins, and filters incomplete records across order-related tables. </a:t>
            </a:r>
          </a:p>
          <a:p>
            <a:pPr lvl="0" indent="-144000" algn="just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Basket Creation: </a:t>
            </a:r>
            <a:r>
              <a:rPr lang="en-IN" b="0" dirty="0"/>
              <a:t>Builds a basket-level dataset with product lists and purchase timing. </a:t>
            </a:r>
          </a:p>
          <a:p>
            <a:pPr lvl="0" indent="-144000" algn="just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Storage &amp; Automation: </a:t>
            </a:r>
            <a:r>
              <a:rPr lang="en-IN" b="0" dirty="0"/>
              <a:t>Stores clean data in SQLite and automatically skips already-processed files.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29E63-0B38-7BD4-357B-857EF0644742}"/>
              </a:ext>
            </a:extLst>
          </p:cNvPr>
          <p:cNvSpPr txBox="1"/>
          <p:nvPr/>
        </p:nvSpPr>
        <p:spPr>
          <a:xfrm>
            <a:off x="221274" y="221789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Data Engineering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2A34B48-3F9B-2267-813D-F52A5FE02FAE}"/>
              </a:ext>
            </a:extLst>
          </p:cNvPr>
          <p:cNvCxnSpPr>
            <a:cxnSpLocks/>
          </p:cNvCxnSpPr>
          <p:nvPr/>
        </p:nvCxnSpPr>
        <p:spPr>
          <a:xfrm>
            <a:off x="221274" y="868120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FF8D38D-C739-042A-21A4-E9BD2EF43133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27D97E-5433-76CD-0B2A-99FE8A7AB44E}"/>
              </a:ext>
            </a:extLst>
          </p:cNvPr>
          <p:cNvSpPr txBox="1"/>
          <p:nvPr/>
        </p:nvSpPr>
        <p:spPr>
          <a:xfrm>
            <a:off x="236264" y="3375970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LLM Feature Engineering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B74D6C-ABDF-7945-B43E-5D03E4DEAE17}"/>
              </a:ext>
            </a:extLst>
          </p:cNvPr>
          <p:cNvCxnSpPr>
            <a:cxnSpLocks/>
          </p:cNvCxnSpPr>
          <p:nvPr/>
        </p:nvCxnSpPr>
        <p:spPr>
          <a:xfrm>
            <a:off x="236264" y="4007311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542A936B-5649-815F-8A98-397CFC033A1C}"/>
              </a:ext>
            </a:extLst>
          </p:cNvPr>
          <p:cNvSpPr txBox="1">
            <a:spLocks/>
          </p:cNvSpPr>
          <p:nvPr/>
        </p:nvSpPr>
        <p:spPr>
          <a:xfrm>
            <a:off x="156065" y="4054161"/>
            <a:ext cx="12000960" cy="2057400"/>
          </a:xfrm>
          <a:prstGeom prst="rect">
            <a:avLst/>
          </a:prstGeom>
        </p:spPr>
        <p:txBody>
          <a:bodyPr vert="horz" lIns="91440" tIns="18000" rIns="91440" bIns="1800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indent="-144000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Product </a:t>
            </a:r>
            <a:r>
              <a:rPr lang="en-IN" dirty="0" err="1"/>
              <a:t>Catalog</a:t>
            </a:r>
            <a:r>
              <a:rPr lang="en-IN" dirty="0"/>
              <a:t>: </a:t>
            </a:r>
            <a:r>
              <a:rPr lang="en-IN" b="0" dirty="0"/>
              <a:t>~49,688 unique products, tagged once. </a:t>
            </a:r>
          </a:p>
          <a:p>
            <a:pPr lvl="0" indent="-144000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LLM Tagging: </a:t>
            </a:r>
            <a:r>
              <a:rPr lang="en-IN" b="0" dirty="0"/>
              <a:t>GPT/Gemini/</a:t>
            </a:r>
            <a:r>
              <a:rPr lang="en-IN" b="0" dirty="0" err="1"/>
              <a:t>Ollama</a:t>
            </a:r>
            <a:r>
              <a:rPr lang="en-IN" b="0" dirty="0"/>
              <a:t> classifies household, mission, convenience, and </a:t>
            </a:r>
            <a:r>
              <a:rPr lang="en-IN" b="0" dirty="0" err="1"/>
              <a:t>behavior</a:t>
            </a:r>
            <a:r>
              <a:rPr lang="en-IN" b="0" dirty="0"/>
              <a:t>. </a:t>
            </a:r>
          </a:p>
          <a:p>
            <a:pPr lvl="0" indent="-144000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Feature Aggregation: </a:t>
            </a:r>
            <a:r>
              <a:rPr lang="en-IN" b="0" dirty="0"/>
              <a:t>Converts product tags into basket- and user-level features. </a:t>
            </a:r>
          </a:p>
          <a:p>
            <a:pPr lvl="0" indent="-144000">
              <a:lnSpc>
                <a:spcPct val="85000"/>
              </a:lnSpc>
              <a:spcBef>
                <a:spcPts val="0"/>
              </a:spcBef>
            </a:pPr>
            <a:r>
              <a:rPr lang="en-IN" dirty="0"/>
              <a:t>Caching &amp; Storage:</a:t>
            </a:r>
            <a:r>
              <a:rPr lang="en-IN" b="0" dirty="0"/>
              <a:t> Caches results and stores tagged data in SQLite.</a:t>
            </a:r>
          </a:p>
        </p:txBody>
      </p:sp>
    </p:spTree>
    <p:extLst>
      <p:ext uri="{BB962C8B-B14F-4D97-AF65-F5344CB8AC3E}">
        <p14:creationId xmlns:p14="http://schemas.microsoft.com/office/powerpoint/2010/main" val="2999161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A6ADC-EEFE-E79B-3BA6-8D5C2DB26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76D6DC2-23D5-6162-00C5-BBD0509C2DFF}"/>
              </a:ext>
            </a:extLst>
          </p:cNvPr>
          <p:cNvSpPr txBox="1">
            <a:spLocks/>
          </p:cNvSpPr>
          <p:nvPr/>
        </p:nvSpPr>
        <p:spPr>
          <a:xfrm>
            <a:off x="288935" y="1083836"/>
            <a:ext cx="11598264" cy="23451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indent="-144000">
              <a:lnSpc>
                <a:spcPct val="100000"/>
              </a:lnSpc>
              <a:spcBef>
                <a:spcPts val="200"/>
              </a:spcBef>
            </a:pPr>
            <a:r>
              <a:rPr lang="en-IN" dirty="0"/>
              <a:t>Feature Matrix: </a:t>
            </a:r>
            <a:r>
              <a:rPr lang="en-IN" b="0" dirty="0"/>
              <a:t>Combines </a:t>
            </a:r>
            <a:r>
              <a:rPr lang="en-IN" b="0" dirty="0" err="1"/>
              <a:t>behavioral</a:t>
            </a:r>
            <a:r>
              <a:rPr lang="en-IN" b="0" dirty="0"/>
              <a:t> and LLM-derived features.</a:t>
            </a:r>
            <a:r>
              <a:rPr lang="en-IN" dirty="0"/>
              <a:t> </a:t>
            </a:r>
          </a:p>
          <a:p>
            <a:pPr lvl="0" indent="-144000">
              <a:lnSpc>
                <a:spcPct val="100000"/>
              </a:lnSpc>
              <a:spcBef>
                <a:spcPts val="200"/>
              </a:spcBef>
            </a:pPr>
            <a:r>
              <a:rPr lang="en-IN" dirty="0"/>
              <a:t>Dimensionality Reduction: </a:t>
            </a:r>
            <a:r>
              <a:rPr lang="en-IN" b="0" dirty="0"/>
              <a:t>Uses UMAP before clustering. </a:t>
            </a:r>
          </a:p>
          <a:p>
            <a:pPr lvl="0" indent="-144000">
              <a:lnSpc>
                <a:spcPct val="100000"/>
              </a:lnSpc>
              <a:spcBef>
                <a:spcPts val="200"/>
              </a:spcBef>
            </a:pPr>
            <a:r>
              <a:rPr lang="en-IN" dirty="0"/>
              <a:t>Clustering:</a:t>
            </a:r>
            <a:r>
              <a:rPr lang="en-IN" b="0" dirty="0"/>
              <a:t> Applies K-Means, GMM, Hierarchical or DBSCAN. </a:t>
            </a:r>
          </a:p>
          <a:p>
            <a:pPr lvl="0" indent="-144000">
              <a:lnSpc>
                <a:spcPct val="100000"/>
              </a:lnSpc>
              <a:spcBef>
                <a:spcPts val="200"/>
              </a:spcBef>
            </a:pPr>
            <a:r>
              <a:rPr lang="en-IN" dirty="0"/>
              <a:t>Evaluation &amp; Tracking: </a:t>
            </a:r>
            <a:r>
              <a:rPr lang="en-IN" b="0" dirty="0"/>
              <a:t>Uses Silhouette/DB scores and </a:t>
            </a:r>
            <a:r>
              <a:rPr lang="en-IN" b="0" dirty="0" err="1"/>
              <a:t>MLflow</a:t>
            </a:r>
            <a:r>
              <a:rPr lang="en-IN" b="0" dirty="0"/>
              <a:t>; assigns plain-language shopper signatures.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1E606C-F075-8220-6E9D-3AAED16AB670}"/>
              </a:ext>
            </a:extLst>
          </p:cNvPr>
          <p:cNvSpPr txBox="1"/>
          <p:nvPr/>
        </p:nvSpPr>
        <p:spPr>
          <a:xfrm>
            <a:off x="228974" y="373038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Pattern Discovery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74648D-3827-A18C-0CDB-790C9D286FA3}"/>
              </a:ext>
            </a:extLst>
          </p:cNvPr>
          <p:cNvCxnSpPr>
            <a:cxnSpLocks/>
          </p:cNvCxnSpPr>
          <p:nvPr/>
        </p:nvCxnSpPr>
        <p:spPr>
          <a:xfrm>
            <a:off x="228974" y="1019369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EE4BFC0-5B16-1E6C-A9F7-62630D358EEE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AAC37F04-E8EF-47D8-F31E-81650B24CCFE}"/>
              </a:ext>
            </a:extLst>
          </p:cNvPr>
          <p:cNvSpPr txBox="1">
            <a:spLocks/>
          </p:cNvSpPr>
          <p:nvPr/>
        </p:nvSpPr>
        <p:spPr>
          <a:xfrm>
            <a:off x="603727" y="4145535"/>
            <a:ext cx="11598264" cy="21240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Cluster Profiling: </a:t>
            </a:r>
            <a:r>
              <a:rPr lang="en-IN" b="0" dirty="0" err="1"/>
              <a:t>Analyzes</a:t>
            </a:r>
            <a:r>
              <a:rPr lang="en-IN" b="0" dirty="0"/>
              <a:t> category, brand, and pack-size preferences.</a:t>
            </a:r>
          </a:p>
          <a:p>
            <a:pPr lvl="0"/>
            <a:r>
              <a:rPr lang="en-IN" dirty="0"/>
              <a:t>Basket &amp; Reorder: </a:t>
            </a:r>
            <a:r>
              <a:rPr lang="en-IN" b="0" dirty="0"/>
              <a:t>Compares basket size, reorders, and timing patterns.</a:t>
            </a:r>
          </a:p>
          <a:p>
            <a:pPr lvl="0"/>
            <a:r>
              <a:rPr lang="en-IN" dirty="0"/>
              <a:t>Inventory Insights: </a:t>
            </a:r>
            <a:r>
              <a:rPr lang="en-IN" b="0" dirty="0"/>
              <a:t>Identifies bulk vs. convenience demand.</a:t>
            </a:r>
          </a:p>
          <a:p>
            <a:pPr lvl="0"/>
            <a:r>
              <a:rPr lang="en-IN" dirty="0"/>
              <a:t>Dashboard Output:</a:t>
            </a:r>
            <a:r>
              <a:rPr lang="en-IN" b="0" dirty="0"/>
              <a:t> Generates summary tables for Power BI.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5B7F0-A130-27EA-4758-413A26BC0CC0}"/>
              </a:ext>
            </a:extLst>
          </p:cNvPr>
          <p:cNvSpPr txBox="1"/>
          <p:nvPr/>
        </p:nvSpPr>
        <p:spPr>
          <a:xfrm>
            <a:off x="438838" y="3374777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</a:rPr>
              <a:t>Comparative Analysis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63BA8C-24A0-8B07-E2B7-786C09F472F0}"/>
              </a:ext>
            </a:extLst>
          </p:cNvPr>
          <p:cNvCxnSpPr>
            <a:cxnSpLocks/>
          </p:cNvCxnSpPr>
          <p:nvPr/>
        </p:nvCxnSpPr>
        <p:spPr>
          <a:xfrm>
            <a:off x="438838" y="4021108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565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DCFAF-7FB5-2DAD-B684-91616B782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D7CD2B71-6606-8BE8-CCB3-BDC7ECBE7968}"/>
              </a:ext>
            </a:extLst>
          </p:cNvPr>
          <p:cNvSpPr txBox="1">
            <a:spLocks/>
          </p:cNvSpPr>
          <p:nvPr/>
        </p:nvSpPr>
        <p:spPr>
          <a:xfrm>
            <a:off x="423672" y="1970146"/>
            <a:ext cx="11375172" cy="26917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Interactive Filters:</a:t>
            </a:r>
            <a:r>
              <a:rPr lang="en-IN" b="0" dirty="0"/>
              <a:t> Filter by household, mission, convenience, and </a:t>
            </a:r>
            <a:r>
              <a:rPr lang="en-IN" b="0" dirty="0" err="1"/>
              <a:t>behavior</a:t>
            </a:r>
            <a:r>
              <a:rPr lang="en-IN" b="0" dirty="0"/>
              <a:t>. </a:t>
            </a:r>
          </a:p>
          <a:p>
            <a:pPr lvl="0"/>
            <a:r>
              <a:rPr lang="en-IN" dirty="0"/>
              <a:t>Live Insights: </a:t>
            </a:r>
            <a:r>
              <a:rPr lang="en-IN" b="0" dirty="0"/>
              <a:t>View basket size, reorder rate, and category mix by signature. </a:t>
            </a:r>
          </a:p>
          <a:p>
            <a:pPr lvl="0"/>
            <a:r>
              <a:rPr lang="en-IN" dirty="0"/>
              <a:t>Visualization: </a:t>
            </a:r>
            <a:r>
              <a:rPr lang="en-IN" b="0" dirty="0"/>
              <a:t>Native </a:t>
            </a:r>
            <a:r>
              <a:rPr lang="en-IN" b="0" dirty="0" err="1"/>
              <a:t>Plotly</a:t>
            </a:r>
            <a:r>
              <a:rPr lang="en-IN" b="0" dirty="0"/>
              <a:t>/Recharts charts driven by clustering output. </a:t>
            </a:r>
          </a:p>
          <a:p>
            <a:pPr lvl="0"/>
            <a:r>
              <a:rPr lang="en-IN" dirty="0"/>
              <a:t>Power BI &amp; Design: </a:t>
            </a:r>
            <a:r>
              <a:rPr lang="en-IN" b="0" dirty="0"/>
              <a:t>Separate Power BI dashboard with consistent black-and-red theme.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15917B-46AF-A1DF-5412-65AF4E5D5C41}"/>
              </a:ext>
            </a:extLst>
          </p:cNvPr>
          <p:cNvSpPr txBox="1"/>
          <p:nvPr/>
        </p:nvSpPr>
        <p:spPr>
          <a:xfrm>
            <a:off x="388950" y="704713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Dashboard &amp; Insights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2AA3D2A-B335-8D65-0EA6-738D95740445}"/>
              </a:ext>
            </a:extLst>
          </p:cNvPr>
          <p:cNvCxnSpPr>
            <a:cxnSpLocks/>
          </p:cNvCxnSpPr>
          <p:nvPr/>
        </p:nvCxnSpPr>
        <p:spPr>
          <a:xfrm>
            <a:off x="388950" y="1351044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239DC4A-54C1-E87F-FF33-0F7EC402B1A1}"/>
              </a:ext>
            </a:extLst>
          </p:cNvPr>
          <p:cNvSpPr txBox="1"/>
          <p:nvPr/>
        </p:nvSpPr>
        <p:spPr>
          <a:xfrm>
            <a:off x="3182111" y="57036"/>
            <a:ext cx="900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lang="en-IN" b="1" dirty="0">
                <a:solidFill>
                  <a:schemeClr val="bg1"/>
                </a:solidFill>
              </a:rPr>
              <a:t>Signature-Driven Inventory: Profiling Shopper </a:t>
            </a:r>
            <a:r>
              <a:rPr lang="en-IN" b="1" dirty="0" err="1">
                <a:solidFill>
                  <a:schemeClr val="bg1"/>
                </a:solidFill>
              </a:rPr>
              <a:t>Behavior</a:t>
            </a:r>
            <a:r>
              <a:rPr lang="en-IN" b="1" dirty="0">
                <a:solidFill>
                  <a:schemeClr val="bg1"/>
                </a:solidFill>
              </a:rPr>
              <a:t> From Basket Data</a:t>
            </a:r>
            <a:endParaRPr lang="en-US" sz="3200" b="1" dirty="0">
              <a:solidFill>
                <a:schemeClr val="bg1"/>
              </a:solidFill>
              <a:latin typeface="Frutiger 45 bold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88727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986</TotalTime>
  <Words>1107</Words>
  <Application>Microsoft Office PowerPoint</Application>
  <PresentationFormat>Widescreen</PresentationFormat>
  <Paragraphs>131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(Body)</vt:lpstr>
      <vt:lpstr>Frutiger 45 bold</vt:lpstr>
      <vt:lpstr>Frutiger LT Pro 45 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Poojitha D</cp:lastModifiedBy>
  <cp:revision>21</cp:revision>
  <dcterms:created xsi:type="dcterms:W3CDTF">2024-05-13T10:33:11Z</dcterms:created>
  <dcterms:modified xsi:type="dcterms:W3CDTF">2026-09-10T16:59:16Z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