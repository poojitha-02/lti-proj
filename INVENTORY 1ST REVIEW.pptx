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  <p:sldId id="214747049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25B9ED"/>
    <a:srgbClr val="47BDAE"/>
    <a:srgbClr val="30BBDA"/>
    <a:srgbClr val="47BDAF"/>
    <a:srgbClr val="696969"/>
    <a:srgbClr val="1C4D98"/>
    <a:srgbClr val="8BC431"/>
    <a:srgbClr val="97B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87F8C-4A73-4C74-BD05-19E9C879B545}" v="277" dt="2026-09-06T16:54:51.2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22125" y="11449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sz="3600" b="1" dirty="0" err="1">
                <a:solidFill>
                  <a:schemeClr val="bg1"/>
                </a:solidFill>
              </a:rPr>
              <a:t>Behavior</a:t>
            </a:r>
            <a:r>
              <a:rPr lang="en-IN" sz="3600" b="1" dirty="0">
                <a:solidFill>
                  <a:schemeClr val="bg1"/>
                </a:solidFill>
              </a:rPr>
              <a:t> From Basket Data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POOJITHA 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24211" y="2267915"/>
            <a:ext cx="8339364" cy="2852721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Inventory decisions ignore true </a:t>
            </a:r>
            <a:r>
              <a:rPr lang="en-IN" dirty="0">
                <a:latin typeface="+mn-lt"/>
              </a:rPr>
              <a:t>shopping patterns</a:t>
            </a:r>
          </a:p>
          <a:p>
            <a:pPr lvl="0"/>
            <a:r>
              <a:rPr lang="en-IN" b="0" dirty="0">
                <a:latin typeface="+mn-lt"/>
              </a:rPr>
              <a:t>Rely on </a:t>
            </a:r>
            <a:r>
              <a:rPr lang="en-IN" dirty="0">
                <a:latin typeface="+mn-lt"/>
              </a:rPr>
              <a:t>aggregate demand</a:t>
            </a:r>
            <a:r>
              <a:rPr lang="en-IN" b="0" dirty="0">
                <a:latin typeface="+mn-lt"/>
              </a:rPr>
              <a:t>, not </a:t>
            </a:r>
            <a:r>
              <a:rPr lang="en-IN" b="0" dirty="0" err="1">
                <a:latin typeface="+mn-lt"/>
              </a:rPr>
              <a:t>behavior</a:t>
            </a:r>
            <a:endParaRPr lang="en-IN" b="0" dirty="0">
              <a:latin typeface="+mn-lt"/>
            </a:endParaRPr>
          </a:p>
          <a:p>
            <a:pPr lvl="0"/>
            <a:r>
              <a:rPr lang="en-IN" b="0" dirty="0">
                <a:latin typeface="+mn-lt"/>
              </a:rPr>
              <a:t>Causes </a:t>
            </a:r>
            <a:r>
              <a:rPr lang="en-IN" dirty="0">
                <a:latin typeface="+mn-lt"/>
              </a:rPr>
              <a:t>overstocking </a:t>
            </a:r>
            <a:r>
              <a:rPr lang="en-IN" b="0" dirty="0">
                <a:latin typeface="+mn-lt"/>
              </a:rPr>
              <a:t>some,</a:t>
            </a:r>
            <a:r>
              <a:rPr lang="en-IN" dirty="0">
                <a:latin typeface="+mn-lt"/>
              </a:rPr>
              <a:t> underserving </a:t>
            </a:r>
            <a:r>
              <a:rPr lang="en-IN" b="0" dirty="0">
                <a:latin typeface="+mn-lt"/>
              </a:rPr>
              <a:t>others</a:t>
            </a:r>
          </a:p>
          <a:p>
            <a:pPr lvl="0"/>
            <a:r>
              <a:rPr lang="en-IN" b="0" dirty="0">
                <a:latin typeface="+mn-lt"/>
              </a:rPr>
              <a:t>No </a:t>
            </a:r>
            <a:r>
              <a:rPr lang="en-IN" dirty="0">
                <a:latin typeface="+mn-lt"/>
              </a:rPr>
              <a:t>basket-level</a:t>
            </a:r>
            <a:r>
              <a:rPr lang="en-IN" b="0" dirty="0">
                <a:latin typeface="+mn-lt"/>
              </a:rPr>
              <a:t> </a:t>
            </a:r>
            <a:r>
              <a:rPr lang="en-IN" b="0" dirty="0" err="1">
                <a:latin typeface="+mn-lt"/>
              </a:rPr>
              <a:t>behavioral</a:t>
            </a:r>
            <a:r>
              <a:rPr lang="en-IN" b="0" dirty="0">
                <a:latin typeface="+mn-lt"/>
              </a:rPr>
              <a:t> insight exists</a:t>
            </a:r>
          </a:p>
          <a:p>
            <a:pPr lvl="0"/>
            <a:r>
              <a:rPr lang="en-IN" b="0" dirty="0">
                <a:latin typeface="+mn-lt"/>
              </a:rPr>
              <a:t>Build a system to profile </a:t>
            </a:r>
            <a:r>
              <a:rPr lang="en-IN" dirty="0">
                <a:latin typeface="+mn-lt"/>
              </a:rPr>
              <a:t>shopper </a:t>
            </a:r>
            <a:r>
              <a:rPr lang="en-IN" dirty="0" err="1">
                <a:latin typeface="+mn-lt"/>
              </a:rPr>
              <a:t>behavior</a:t>
            </a:r>
            <a:r>
              <a:rPr lang="en-IN" dirty="0">
                <a:latin typeface="+mn-lt"/>
              </a:rPr>
              <a:t> </a:t>
            </a:r>
            <a:r>
              <a:rPr lang="en-IN" b="0" dirty="0">
                <a:latin typeface="+mn-lt"/>
              </a:rPr>
              <a:t>for smarter inventory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319" y="2203908"/>
            <a:ext cx="11183148" cy="2989884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Develop a </a:t>
            </a:r>
            <a:r>
              <a:rPr lang="en-IN" dirty="0">
                <a:latin typeface="+mn-lt"/>
              </a:rPr>
              <a:t>retail consumption observation system </a:t>
            </a:r>
            <a:r>
              <a:rPr lang="en-IN" b="0" dirty="0">
                <a:latin typeface="+mn-lt"/>
              </a:rPr>
              <a:t>for shopper profiling</a:t>
            </a:r>
          </a:p>
          <a:p>
            <a:pPr lvl="0"/>
            <a:r>
              <a:rPr lang="en-IN" b="0" dirty="0">
                <a:latin typeface="+mn-lt"/>
              </a:rPr>
              <a:t>Engineer </a:t>
            </a:r>
            <a:r>
              <a:rPr lang="en-IN" dirty="0">
                <a:latin typeface="+mn-lt"/>
              </a:rPr>
              <a:t>LLM-based features: </a:t>
            </a:r>
            <a:r>
              <a:rPr lang="en-IN" b="0" dirty="0">
                <a:latin typeface="+mn-lt"/>
              </a:rPr>
              <a:t>orientation, mission, convenience, </a:t>
            </a:r>
            <a:r>
              <a:rPr lang="en-IN" b="0" dirty="0" err="1">
                <a:latin typeface="+mn-lt"/>
              </a:rPr>
              <a:t>behavior</a:t>
            </a:r>
            <a:endParaRPr lang="en-IN" b="0" dirty="0">
              <a:latin typeface="+mn-lt"/>
            </a:endParaRPr>
          </a:p>
          <a:p>
            <a:pPr lvl="0"/>
            <a:r>
              <a:rPr lang="en-IN" b="0" dirty="0">
                <a:latin typeface="+mn-lt"/>
              </a:rPr>
              <a:t>Discover distinct shopping patterns via </a:t>
            </a:r>
            <a:r>
              <a:rPr lang="en-IN" dirty="0">
                <a:latin typeface="+mn-lt"/>
              </a:rPr>
              <a:t>unsupervised clustering</a:t>
            </a:r>
          </a:p>
          <a:p>
            <a:pPr lvl="0"/>
            <a:r>
              <a:rPr lang="en-IN" b="0" dirty="0">
                <a:latin typeface="+mn-lt"/>
              </a:rPr>
              <a:t>Compare </a:t>
            </a:r>
            <a:r>
              <a:rPr lang="en-IN" dirty="0">
                <a:latin typeface="+mn-lt"/>
              </a:rPr>
              <a:t>category, brand, and pack-size </a:t>
            </a:r>
            <a:r>
              <a:rPr lang="en-IN" b="0" dirty="0">
                <a:latin typeface="+mn-lt"/>
              </a:rPr>
              <a:t>preferences across patterns</a:t>
            </a:r>
          </a:p>
          <a:p>
            <a:pPr lvl="0"/>
            <a:r>
              <a:rPr lang="en-IN" b="0" dirty="0">
                <a:latin typeface="+mn-lt"/>
              </a:rPr>
              <a:t>Translate discovered patterns into </a:t>
            </a:r>
            <a:r>
              <a:rPr lang="en-IN" dirty="0">
                <a:latin typeface="+mn-lt"/>
              </a:rPr>
              <a:t>inventory &amp; assortment insights</a:t>
            </a:r>
          </a:p>
          <a:p>
            <a:pPr lvl="0"/>
            <a:r>
              <a:rPr lang="en-IN" b="0" dirty="0">
                <a:latin typeface="+mn-lt"/>
              </a:rPr>
              <a:t>Deliver insights through a </a:t>
            </a:r>
            <a:r>
              <a:rPr lang="en-IN" dirty="0">
                <a:latin typeface="+mn-lt"/>
              </a:rPr>
              <a:t>live, filterable interactive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380A3B-A440-13C7-17C2-D930D6EB0055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6719" y="2304492"/>
            <a:ext cx="9354348" cy="2386380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Live data ingestion simulation and </a:t>
            </a:r>
            <a:r>
              <a:rPr lang="en-IN" b="0" dirty="0" err="1">
                <a:latin typeface="+mn-lt"/>
              </a:rPr>
              <a:t>FastAPI</a:t>
            </a:r>
            <a:r>
              <a:rPr lang="en-IN" b="0" dirty="0">
                <a:latin typeface="+mn-lt"/>
              </a:rPr>
              <a:t> web dashboard</a:t>
            </a:r>
          </a:p>
          <a:p>
            <a:pPr lvl="0"/>
            <a:r>
              <a:rPr lang="en-IN" b="0" dirty="0">
                <a:latin typeface="+mn-lt"/>
              </a:rPr>
              <a:t>Real-time production deployment at retailer scale</a:t>
            </a:r>
          </a:p>
          <a:p>
            <a:pPr lvl="0"/>
            <a:r>
              <a:rPr lang="en-IN" b="0" dirty="0">
                <a:latin typeface="+mn-lt"/>
              </a:rPr>
              <a:t>Personally identifiable customer data (dataset is anonymized)</a:t>
            </a:r>
          </a:p>
          <a:p>
            <a:pPr lvl="0"/>
            <a:r>
              <a:rPr lang="en-IN" b="0" dirty="0">
                <a:latin typeface="+mn-lt"/>
              </a:rPr>
              <a:t>Price or promotion optimization (inventory insight only)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9CF357-F270-4AD0-BED4-B78A44433D89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5DF61B-0875-B91D-B80F-8BA89D18D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382296"/>
              </p:ext>
            </p:extLst>
          </p:nvPr>
        </p:nvGraphicFramePr>
        <p:xfrm>
          <a:off x="146304" y="1253604"/>
          <a:ext cx="11859770" cy="5351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077">
                  <a:extLst>
                    <a:ext uri="{9D8B030D-6E8A-4147-A177-3AD203B41FA5}">
                      <a16:colId xmlns:a16="http://schemas.microsoft.com/office/drawing/2014/main" val="2728507133"/>
                    </a:ext>
                  </a:extLst>
                </a:gridCol>
                <a:gridCol w="5051992">
                  <a:extLst>
                    <a:ext uri="{9D8B030D-6E8A-4147-A177-3AD203B41FA5}">
                      <a16:colId xmlns:a16="http://schemas.microsoft.com/office/drawing/2014/main" val="471237689"/>
                    </a:ext>
                  </a:extLst>
                </a:gridCol>
                <a:gridCol w="2751449">
                  <a:extLst>
                    <a:ext uri="{9D8B030D-6E8A-4147-A177-3AD203B41FA5}">
                      <a16:colId xmlns:a16="http://schemas.microsoft.com/office/drawing/2014/main" val="96784165"/>
                    </a:ext>
                  </a:extLst>
                </a:gridCol>
                <a:gridCol w="3607252">
                  <a:extLst>
                    <a:ext uri="{9D8B030D-6E8A-4147-A177-3AD203B41FA5}">
                      <a16:colId xmlns:a16="http://schemas.microsoft.com/office/drawing/2014/main" val="3479704243"/>
                    </a:ext>
                  </a:extLst>
                </a:gridCol>
              </a:tblGrid>
              <a:tr h="5058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8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Paper Title 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/>
                        <a:t>Algorithms / Models Used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Research Gaps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198453493"/>
                  </a:ext>
                </a:extLst>
              </a:tr>
              <a:tr h="23249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800"/>
                        <a:t>1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800" b="0" dirty="0"/>
                        <a:t>An Exploration of Clustering Algorithms for Customer Segmentation in the UK Retail Market </a:t>
                      </a:r>
                      <a:r>
                        <a:rPr lang="en-IN" sz="2800" i="1" dirty="0"/>
                        <a:t>(MDPI, 2023) </a:t>
                      </a:r>
                      <a:endParaRPr lang="en-IN" sz="28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800" b="0" dirty="0"/>
                        <a:t>RFM features + K-Means, GMM, DBSCAN, Agglomerative, BIRCH</a:t>
                      </a: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2800" b="0" dirty="0"/>
                        <a:t>– RFM-only features; ignores basket composition</a:t>
                      </a:r>
                      <a:br>
                        <a:rPr lang="en-IN" sz="2800" b="0" dirty="0"/>
                      </a:br>
                      <a:r>
                        <a:rPr lang="en-IN" sz="2800" b="0" dirty="0"/>
                        <a:t>– Single non-grocery dataset; limited generalizability</a:t>
                      </a: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820599226"/>
                  </a:ext>
                </a:extLst>
              </a:tr>
              <a:tr h="1937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dirty="0"/>
                        <a:t>2</a:t>
                      </a:r>
                      <a:endParaRPr lang="en-IN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/>
                        <a:t>K-Means Clustering-Based Market Basket Analysis: U.K. Online E-Commerce Retailer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/>
                        <a:t>K-Means + Association Rule Mining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/>
                        <a:t>– Single algorithm; no benchmark comparison</a:t>
                      </a:r>
                      <a:br>
                        <a:rPr lang="en-IN" sz="2800" b="0" dirty="0"/>
                      </a:br>
                      <a:r>
                        <a:rPr lang="en-IN" sz="2800" b="0" dirty="0"/>
                        <a:t>– Bundling-focused, not shopper profiling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167975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A41DF4-21EC-3CE2-05C7-04190F17090C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7455" y="1527251"/>
            <a:ext cx="11292876" cy="4462068"/>
          </a:xfrm>
        </p:spPr>
        <p:txBody>
          <a:bodyPr/>
          <a:lstStyle/>
          <a:p>
            <a:pPr lvl="0"/>
            <a:r>
              <a:rPr lang="en-IN" b="0" dirty="0">
                <a:latin typeface="+mn-lt"/>
              </a:rPr>
              <a:t>Most studies rely on </a:t>
            </a:r>
            <a:r>
              <a:rPr lang="en-IN" dirty="0">
                <a:latin typeface="+mn-lt"/>
              </a:rPr>
              <a:t>RFM/transaction-value features</a:t>
            </a:r>
            <a:r>
              <a:rPr lang="en-IN" b="0" dirty="0">
                <a:latin typeface="+mn-lt"/>
              </a:rPr>
              <a:t>, ignoring </a:t>
            </a:r>
            <a:r>
              <a:rPr lang="en-IN" dirty="0">
                <a:latin typeface="+mn-lt"/>
              </a:rPr>
              <a:t>basket content</a:t>
            </a:r>
          </a:p>
          <a:p>
            <a:pPr lvl="0"/>
            <a:r>
              <a:rPr lang="en-IN" dirty="0">
                <a:latin typeface="+mn-lt"/>
              </a:rPr>
              <a:t>Clustering algorithms </a:t>
            </a:r>
            <a:r>
              <a:rPr lang="en-IN" b="0" dirty="0">
                <a:latin typeface="+mn-lt"/>
              </a:rPr>
              <a:t>are rarely </a:t>
            </a:r>
            <a:r>
              <a:rPr lang="en-IN" dirty="0">
                <a:latin typeface="+mn-lt"/>
              </a:rPr>
              <a:t>benchmarked against each other</a:t>
            </a:r>
            <a:r>
              <a:rPr lang="en-IN" b="0" dirty="0">
                <a:latin typeface="+mn-lt"/>
              </a:rPr>
              <a:t> in one study</a:t>
            </a:r>
          </a:p>
          <a:p>
            <a:pPr lvl="0"/>
            <a:r>
              <a:rPr lang="en-IN" dirty="0">
                <a:latin typeface="+mn-lt"/>
              </a:rPr>
              <a:t>LLM-based tagging </a:t>
            </a:r>
            <a:r>
              <a:rPr lang="en-IN" b="0" dirty="0">
                <a:latin typeface="+mn-lt"/>
              </a:rPr>
              <a:t>and </a:t>
            </a:r>
            <a:r>
              <a:rPr lang="en-IN" dirty="0">
                <a:latin typeface="+mn-lt"/>
              </a:rPr>
              <a:t>clustering</a:t>
            </a:r>
            <a:r>
              <a:rPr lang="en-IN" b="0" dirty="0">
                <a:latin typeface="+mn-lt"/>
              </a:rPr>
              <a:t> are treated as separate research strands</a:t>
            </a:r>
          </a:p>
          <a:p>
            <a:pPr lvl="0"/>
            <a:r>
              <a:rPr lang="en-IN" b="0" dirty="0">
                <a:latin typeface="+mn-lt"/>
              </a:rPr>
              <a:t>Segmentation is largely </a:t>
            </a:r>
            <a:r>
              <a:rPr lang="en-IN" dirty="0">
                <a:latin typeface="+mn-lt"/>
              </a:rPr>
              <a:t>static and one-time</a:t>
            </a:r>
            <a:r>
              <a:rPr lang="en-IN" b="0" dirty="0">
                <a:latin typeface="+mn-lt"/>
              </a:rPr>
              <a:t>, not continuously updating</a:t>
            </a:r>
          </a:p>
          <a:p>
            <a:pPr lvl="0"/>
            <a:r>
              <a:rPr lang="en-IN" b="0" dirty="0">
                <a:latin typeface="+mn-lt"/>
              </a:rPr>
              <a:t>Few studies connect segments to concrete </a:t>
            </a:r>
            <a:r>
              <a:rPr lang="en-IN" dirty="0">
                <a:latin typeface="+mn-lt"/>
              </a:rPr>
              <a:t>inventory or assortment actions</a:t>
            </a:r>
          </a:p>
          <a:p>
            <a:pPr lvl="0"/>
            <a:r>
              <a:rPr lang="en-IN" dirty="0">
                <a:latin typeface="+mn-lt"/>
              </a:rPr>
              <a:t>Grocery-scale, basket-level datasets </a:t>
            </a:r>
            <a:r>
              <a:rPr lang="en-IN" b="0" dirty="0">
                <a:latin typeface="+mn-lt"/>
              </a:rPr>
              <a:t>(like Instacart) remain underused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26B0822-82B6-38CC-3AF2-B5EC5EE29899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272199"/>
          </a:xfrm>
        </p:spPr>
        <p:txBody>
          <a:bodyPr/>
          <a:lstStyle/>
          <a:p>
            <a:pPr marL="342900" lvl="0" indent="-342900"/>
            <a:r>
              <a:rPr lang="en-IN" dirty="0">
                <a:latin typeface="+mn-lt"/>
              </a:rPr>
              <a:t>Dataset: </a:t>
            </a:r>
            <a:r>
              <a:rPr lang="en-IN" b="0" dirty="0">
                <a:latin typeface="+mn-lt"/>
              </a:rPr>
              <a:t>Instacart Market Basket Analysis — 3M+ orders, 200K+ users (Kaggle)</a:t>
            </a:r>
          </a:p>
          <a:p>
            <a:pPr marL="342900" lvl="0" indent="-342900"/>
            <a:r>
              <a:rPr lang="en-IN" dirty="0">
                <a:latin typeface="+mn-lt"/>
              </a:rPr>
              <a:t>Live pipeline: </a:t>
            </a:r>
            <a:r>
              <a:rPr lang="en-IN" b="0" dirty="0">
                <a:latin typeface="+mn-lt"/>
              </a:rPr>
              <a:t>SQLite-based ingestion simulation with resumable cursor</a:t>
            </a:r>
          </a:p>
          <a:p>
            <a:pPr marL="342900" lvl="0" indent="-342900"/>
            <a:r>
              <a:rPr lang="en-IN" dirty="0">
                <a:latin typeface="+mn-lt"/>
              </a:rPr>
              <a:t>Tech stack: </a:t>
            </a:r>
            <a:r>
              <a:rPr lang="en-IN" b="0" dirty="0">
                <a:latin typeface="+mn-lt"/>
              </a:rPr>
              <a:t>Python, Pandas, Scikit-learn, UMAP, </a:t>
            </a:r>
            <a:r>
              <a:rPr lang="en-IN" b="0" dirty="0" err="1">
                <a:latin typeface="+mn-lt"/>
              </a:rPr>
              <a:t>MLflow</a:t>
            </a:r>
            <a:r>
              <a:rPr lang="en-IN" b="0" dirty="0">
                <a:latin typeface="+mn-lt"/>
              </a:rPr>
              <a:t>, Power BI</a:t>
            </a:r>
          </a:p>
          <a:p>
            <a:pPr marL="342900" lvl="0" indent="-342900"/>
            <a:r>
              <a:rPr lang="en-IN" dirty="0">
                <a:latin typeface="+mn-lt"/>
              </a:rPr>
              <a:t>Web application: </a:t>
            </a:r>
            <a:r>
              <a:rPr lang="en-IN" b="0" dirty="0" err="1">
                <a:latin typeface="+mn-lt"/>
              </a:rPr>
              <a:t>FastAPI</a:t>
            </a:r>
            <a:r>
              <a:rPr lang="en-IN" b="0" dirty="0">
                <a:latin typeface="+mn-lt"/>
              </a:rPr>
              <a:t> backend with secure login, signup, OTP verification</a:t>
            </a:r>
          </a:p>
          <a:p>
            <a:pPr marL="342900" lvl="0" indent="-342900"/>
            <a:r>
              <a:rPr lang="en-IN" dirty="0">
                <a:latin typeface="+mn-lt"/>
              </a:rPr>
              <a:t>Assumption: </a:t>
            </a:r>
            <a:r>
              <a:rPr lang="en-IN" b="0" dirty="0">
                <a:latin typeface="+mn-lt"/>
              </a:rPr>
              <a:t>Dataset </a:t>
            </a:r>
            <a:r>
              <a:rPr lang="en-IN" b="0" dirty="0" err="1">
                <a:latin typeface="+mn-lt"/>
              </a:rPr>
              <a:t>behavior</a:t>
            </a:r>
            <a:r>
              <a:rPr lang="en-IN" b="0" dirty="0">
                <a:latin typeface="+mn-lt"/>
              </a:rPr>
              <a:t> generalizes to real grocery shopping patterns</a:t>
            </a:r>
            <a:endParaRPr lang="en-US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5880C73-8B16-0A6C-D11E-216DFBEBDF6E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814" y="1545534"/>
            <a:ext cx="11832372" cy="4312734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ts val="500"/>
              </a:spcBef>
            </a:pPr>
            <a:r>
              <a:rPr lang="en-IN" dirty="0"/>
              <a:t>Data Engineering - </a:t>
            </a:r>
            <a:r>
              <a:rPr lang="en-IN" b="0" dirty="0"/>
              <a:t>Clean, join, and transform 6 raw CSVs into a basket-level dataset, and build a live SQLite ingestion pipeline</a:t>
            </a:r>
          </a:p>
          <a:p>
            <a:pPr lvl="0">
              <a:lnSpc>
                <a:spcPct val="100000"/>
              </a:lnSpc>
              <a:spcBef>
                <a:spcPts val="500"/>
              </a:spcBef>
            </a:pPr>
            <a:r>
              <a:rPr lang="en-IN" dirty="0"/>
              <a:t>LLM Feature Engineering - </a:t>
            </a:r>
            <a:r>
              <a:rPr lang="en-IN" b="0" dirty="0"/>
              <a:t>Tag products on orientation, mission, and convenience; aggregate into </a:t>
            </a:r>
            <a:r>
              <a:rPr lang="en-IN" b="0" dirty="0" err="1"/>
              <a:t>behavioral</a:t>
            </a:r>
            <a:r>
              <a:rPr lang="en-IN" b="0" dirty="0"/>
              <a:t> features</a:t>
            </a:r>
          </a:p>
          <a:p>
            <a:pPr lvl="0">
              <a:lnSpc>
                <a:spcPct val="100000"/>
              </a:lnSpc>
              <a:spcBef>
                <a:spcPts val="500"/>
              </a:spcBef>
            </a:pPr>
            <a:r>
              <a:rPr lang="en-IN" dirty="0"/>
              <a:t>Pattern Discovery - </a:t>
            </a:r>
            <a:r>
              <a:rPr lang="en-IN" b="0" dirty="0"/>
              <a:t>Apply a clustering algorithm and track via </a:t>
            </a:r>
            <a:r>
              <a:rPr lang="en-IN" b="0" dirty="0" err="1"/>
              <a:t>MLflow</a:t>
            </a:r>
            <a:endParaRPr lang="en-IN" b="0" dirty="0"/>
          </a:p>
          <a:p>
            <a:pPr lvl="0">
              <a:lnSpc>
                <a:spcPct val="100000"/>
              </a:lnSpc>
              <a:spcBef>
                <a:spcPts val="500"/>
              </a:spcBef>
            </a:pPr>
            <a:r>
              <a:rPr lang="en-IN" dirty="0"/>
              <a:t>Comparative Analysis - </a:t>
            </a:r>
            <a:r>
              <a:rPr lang="en-IN" b="0" dirty="0"/>
              <a:t>Profile clusters by category, brand, pack-size, and compare basket size and reorder </a:t>
            </a:r>
            <a:r>
              <a:rPr lang="en-IN" b="0" dirty="0" err="1"/>
              <a:t>behavior</a:t>
            </a:r>
            <a:endParaRPr lang="en-IN" b="0" dirty="0"/>
          </a:p>
          <a:p>
            <a:pPr lvl="0">
              <a:lnSpc>
                <a:spcPct val="100000"/>
              </a:lnSpc>
              <a:spcBef>
                <a:spcPts val="500"/>
              </a:spcBef>
            </a:pPr>
            <a:r>
              <a:rPr lang="en-IN" dirty="0"/>
              <a:t>Dashboard &amp; Insights - </a:t>
            </a:r>
            <a:r>
              <a:rPr lang="en-IN" b="0" dirty="0"/>
              <a:t>Power BI/native charts translating clusters into inventory 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18157FF-4F56-E3CE-00C1-5965ECE4A750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097483"/>
            <a:ext cx="10624338" cy="1243382"/>
          </a:xfrm>
        </p:spPr>
        <p:txBody>
          <a:bodyPr/>
          <a:lstStyle/>
          <a:p>
            <a:pPr>
              <a:spcAft>
                <a:spcPts val="300"/>
              </a:spcAft>
              <a:buSzPct val="100000"/>
            </a:pPr>
            <a:r>
              <a:rPr lang="en-US" b="0" dirty="0">
                <a:latin typeface="+mn-lt"/>
                <a:ea typeface="Calibri" pitchFamily="34" charset="-122"/>
                <a:cs typeface="Calibri" pitchFamily="34" charset="-120"/>
              </a:rPr>
              <a:t>Clean, join, and transform the 6 raw CSVs into a basket-level dataset</a:t>
            </a:r>
            <a:endParaRPr lang="en-US" b="0" dirty="0">
              <a:latin typeface="+mn-lt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b="0" dirty="0">
                <a:latin typeface="+mn-lt"/>
                <a:ea typeface="Calibri" pitchFamily="34" charset="-122"/>
                <a:cs typeface="Calibri" pitchFamily="34" charset="-120"/>
              </a:rPr>
              <a:t>Build a live SQLite ingestion pipeline simulating continuous order flow</a:t>
            </a:r>
            <a:endParaRPr lang="en-US" b="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21274" y="37168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Data Engineering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018020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D79D7F2-2DB7-CE3F-F551-C12AF98C3FD6}"/>
              </a:ext>
            </a:extLst>
          </p:cNvPr>
          <p:cNvSpPr txBox="1">
            <a:spLocks/>
          </p:cNvSpPr>
          <p:nvPr/>
        </p:nvSpPr>
        <p:spPr>
          <a:xfrm>
            <a:off x="255996" y="2792339"/>
            <a:ext cx="11375172" cy="12433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latin typeface="+mn-lt"/>
              </a:rPr>
              <a:t>Tag products on household orientation, shopping mission, and convenience</a:t>
            </a:r>
            <a:endParaRPr lang="en-IN" b="0" dirty="0">
              <a:latin typeface="+mn-lt"/>
            </a:endParaRPr>
          </a:p>
          <a:p>
            <a:r>
              <a:rPr lang="en-US" b="0" dirty="0">
                <a:latin typeface="+mn-lt"/>
              </a:rPr>
              <a:t>Aggregate tags into basket-level and user-level behavioral features</a:t>
            </a:r>
            <a:endParaRPr lang="en-IN" b="0" dirty="0"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6F218-2C3B-1CD2-8830-66BB3E10FDEF}"/>
              </a:ext>
            </a:extLst>
          </p:cNvPr>
          <p:cNvSpPr txBox="1"/>
          <p:nvPr/>
        </p:nvSpPr>
        <p:spPr>
          <a:xfrm>
            <a:off x="221274" y="2066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LLM Feature Engineering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14CB8D-F0E9-180F-2F06-8C155447FE2F}"/>
              </a:ext>
            </a:extLst>
          </p:cNvPr>
          <p:cNvCxnSpPr>
            <a:cxnSpLocks/>
          </p:cNvCxnSpPr>
          <p:nvPr/>
        </p:nvCxnSpPr>
        <p:spPr>
          <a:xfrm>
            <a:off x="221274" y="271287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E041066-3914-6823-5180-98089105EAF7}"/>
              </a:ext>
            </a:extLst>
          </p:cNvPr>
          <p:cNvSpPr txBox="1">
            <a:spLocks/>
          </p:cNvSpPr>
          <p:nvPr/>
        </p:nvSpPr>
        <p:spPr>
          <a:xfrm>
            <a:off x="248706" y="4471618"/>
            <a:ext cx="10624338" cy="12433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  <a:buSzPct val="100000"/>
            </a:pPr>
            <a:r>
              <a:rPr lang="en-IN" b="0" dirty="0">
                <a:latin typeface="+mn-lt"/>
                <a:ea typeface="Calibri" pitchFamily="34" charset="-122"/>
                <a:cs typeface="Calibri" pitchFamily="34" charset="-120"/>
              </a:rPr>
              <a:t>Apply clustering algorithm-  K-Means, GMM, Hierarchical, and DBSCAN with UMAP reduction</a:t>
            </a:r>
            <a:endParaRPr lang="en-IN" b="0" dirty="0">
              <a:latin typeface="+mn-lt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IN" b="0" dirty="0">
                <a:latin typeface="+mn-lt"/>
                <a:ea typeface="Calibri" pitchFamily="34" charset="-122"/>
                <a:cs typeface="Calibri" pitchFamily="34" charset="-120"/>
              </a:rPr>
              <a:t>Track experiments and metrics in </a:t>
            </a:r>
            <a:r>
              <a:rPr lang="en-IN" b="0" dirty="0" err="1">
                <a:latin typeface="+mn-lt"/>
                <a:ea typeface="Calibri" pitchFamily="34" charset="-122"/>
                <a:cs typeface="Calibri" pitchFamily="34" charset="-120"/>
              </a:rPr>
              <a:t>MLflow</a:t>
            </a:r>
            <a:endParaRPr lang="en-IN" b="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FF0F1-08C0-CFDF-55AA-B317B9FDDE9B}"/>
              </a:ext>
            </a:extLst>
          </p:cNvPr>
          <p:cNvSpPr txBox="1"/>
          <p:nvPr/>
        </p:nvSpPr>
        <p:spPr>
          <a:xfrm>
            <a:off x="213984" y="3745824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Pattern Discovery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656C72-1EC3-AA1D-CF36-95ABE59F21C8}"/>
              </a:ext>
            </a:extLst>
          </p:cNvPr>
          <p:cNvCxnSpPr>
            <a:cxnSpLocks/>
          </p:cNvCxnSpPr>
          <p:nvPr/>
        </p:nvCxnSpPr>
        <p:spPr>
          <a:xfrm>
            <a:off x="213984" y="4392155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04F23B1-BE9A-2F74-5C6D-2EAB3C8A2036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uiExpand="1" build="p"/>
      <p:bldP spid="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CFAF-7FB5-2DAD-B684-91616B78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B29F3DD-471E-12F1-C051-4FF0DA0865DD}"/>
              </a:ext>
            </a:extLst>
          </p:cNvPr>
          <p:cNvSpPr txBox="1">
            <a:spLocks/>
          </p:cNvSpPr>
          <p:nvPr/>
        </p:nvSpPr>
        <p:spPr>
          <a:xfrm>
            <a:off x="423672" y="1660371"/>
            <a:ext cx="11375172" cy="12433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  <a:buSzPct val="100000"/>
            </a:pPr>
            <a:r>
              <a:rPr lang="en-US" b="0" dirty="0">
                <a:latin typeface="+mn-lt"/>
                <a:ea typeface="Calibri" pitchFamily="34" charset="-122"/>
                <a:cs typeface="Calibri" pitchFamily="34" charset="-120"/>
              </a:rPr>
              <a:t>Profile clusters by category, brand, product, and pack-size mix</a:t>
            </a:r>
            <a:endParaRPr lang="en-US" b="0" dirty="0">
              <a:latin typeface="+mn-lt"/>
            </a:endParaRPr>
          </a:p>
          <a:p>
            <a:pPr>
              <a:spcAft>
                <a:spcPts val="300"/>
              </a:spcAft>
              <a:buSzPct val="100000"/>
            </a:pPr>
            <a:r>
              <a:rPr lang="en-US" b="0" dirty="0">
                <a:latin typeface="+mn-lt"/>
                <a:ea typeface="Calibri" pitchFamily="34" charset="-122"/>
                <a:cs typeface="Calibri" pitchFamily="34" charset="-120"/>
              </a:rPr>
              <a:t>Compare basket size, order timing, and reorder behavior per cluster</a:t>
            </a:r>
            <a:endParaRPr lang="en-US" b="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6D12B-6731-C6D7-6FDE-7D170413D9C1}"/>
              </a:ext>
            </a:extLst>
          </p:cNvPr>
          <p:cNvSpPr txBox="1"/>
          <p:nvPr/>
        </p:nvSpPr>
        <p:spPr>
          <a:xfrm>
            <a:off x="388950" y="93457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Comparative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CB10F8-F3D2-308E-0E1D-E874532BBADB}"/>
              </a:ext>
            </a:extLst>
          </p:cNvPr>
          <p:cNvCxnSpPr>
            <a:cxnSpLocks/>
          </p:cNvCxnSpPr>
          <p:nvPr/>
        </p:nvCxnSpPr>
        <p:spPr>
          <a:xfrm>
            <a:off x="388950" y="158090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7CD2B71-6606-8BE8-CCB3-BDC7ECBE7968}"/>
              </a:ext>
            </a:extLst>
          </p:cNvPr>
          <p:cNvSpPr txBox="1">
            <a:spLocks/>
          </p:cNvSpPr>
          <p:nvPr/>
        </p:nvSpPr>
        <p:spPr>
          <a:xfrm>
            <a:off x="423672" y="3709008"/>
            <a:ext cx="11375172" cy="19018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  <a:buSzPct val="100000"/>
            </a:pPr>
            <a:r>
              <a:rPr lang="en-US" b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native charts translating clusters into inventory action</a:t>
            </a:r>
            <a:endParaRPr lang="en-US" b="0" dirty="0"/>
          </a:p>
          <a:p>
            <a:pPr>
              <a:spcAft>
                <a:spcPts val="300"/>
              </a:spcAft>
              <a:buSzPct val="100000"/>
            </a:pPr>
            <a:r>
              <a:rPr lang="en-US" b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Surface assortment and stocking recommendations per shopper signature</a:t>
            </a:r>
          </a:p>
          <a:p>
            <a:pPr>
              <a:spcAft>
                <a:spcPts val="300"/>
              </a:spcAft>
              <a:buSzPct val="100000"/>
            </a:pPr>
            <a:r>
              <a:rPr lang="en-US" b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page with filterable shopper-signature visuals</a:t>
            </a:r>
            <a:endParaRPr lang="en-US"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15917B-46AF-A1DF-5412-65AF4E5D5C41}"/>
              </a:ext>
            </a:extLst>
          </p:cNvPr>
          <p:cNvSpPr txBox="1"/>
          <p:nvPr/>
        </p:nvSpPr>
        <p:spPr>
          <a:xfrm>
            <a:off x="388950" y="298321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Dashboard &amp; Insights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AA3D2A-B335-8D65-0EA6-738D95740445}"/>
              </a:ext>
            </a:extLst>
          </p:cNvPr>
          <p:cNvCxnSpPr>
            <a:cxnSpLocks/>
          </p:cNvCxnSpPr>
          <p:nvPr/>
        </p:nvCxnSpPr>
        <p:spPr>
          <a:xfrm>
            <a:off x="388950" y="362954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39DC4A-54C1-E87F-FF33-0F7EC402B1A1}"/>
              </a:ext>
            </a:extLst>
          </p:cNvPr>
          <p:cNvSpPr txBox="1"/>
          <p:nvPr/>
        </p:nvSpPr>
        <p:spPr>
          <a:xfrm>
            <a:off x="3182111" y="57036"/>
            <a:ext cx="9009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IN" b="1" dirty="0">
                <a:solidFill>
                  <a:schemeClr val="bg1"/>
                </a:solidFill>
              </a:rPr>
              <a:t>Signature-Driven Inventory: Profiling Shopper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From Basket Data</a:t>
            </a:r>
            <a:endParaRPr lang="en-US" sz="32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872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1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668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POOJITHA D</cp:lastModifiedBy>
  <cp:revision>11</cp:revision>
  <dcterms:created xsi:type="dcterms:W3CDTF">2024-05-13T10:33:11Z</dcterms:created>
  <dcterms:modified xsi:type="dcterms:W3CDTF">2026-09-06T16:56:52Z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