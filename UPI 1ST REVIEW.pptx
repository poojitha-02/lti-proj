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5" r:id="rId6"/>
    <p:sldId id="2147470503" r:id="rId7"/>
    <p:sldId id="2147470504" r:id="rId8"/>
    <p:sldId id="2147470505" r:id="rId9"/>
    <p:sldId id="2147470506" r:id="rId10"/>
    <p:sldId id="2147470496" r:id="rId11"/>
    <p:sldId id="2147470497" r:id="rId12"/>
    <p:sldId id="2147470491" r:id="rId13"/>
    <p:sldId id="2147470487" r:id="rId14"/>
    <p:sldId id="2147470498" r:id="rId15"/>
    <p:sldId id="2147470499" r:id="rId16"/>
    <p:sldId id="2147470500" r:id="rId17"/>
    <p:sldId id="2147470501" r:id="rId18"/>
    <p:sldId id="214747050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25B9ED"/>
    <a:srgbClr val="47BDAE"/>
    <a:srgbClr val="30BBDA"/>
    <a:srgbClr val="47BDAF"/>
    <a:srgbClr val="696969"/>
    <a:srgbClr val="1C4D98"/>
    <a:srgbClr val="8BC431"/>
    <a:srgbClr val="97B6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OJITHA D" userId="07aaa1c9fac6b292" providerId="LiveId" clId="{7D8BBD79-C254-4BB5-9385-D768F232E73F}"/>
    <pc:docChg chg="modSld">
      <pc:chgData name="POOJITHA D" userId="07aaa1c9fac6b292" providerId="LiveId" clId="{7D8BBD79-C254-4BB5-9385-D768F232E73F}" dt="2026-09-06T15:38:30.498" v="9" actId="20577"/>
      <pc:docMkLst>
        <pc:docMk/>
      </pc:docMkLst>
      <pc:sldChg chg="modSp mod">
        <pc:chgData name="POOJITHA D" userId="07aaa1c9fac6b292" providerId="LiveId" clId="{7D8BBD79-C254-4BB5-9385-D768F232E73F}" dt="2026-09-06T15:38:30.498" v="9" actId="20577"/>
        <pc:sldMkLst>
          <pc:docMk/>
          <pc:sldMk cId="3449507583" sldId="2147470489"/>
        </pc:sldMkLst>
        <pc:spChg chg="mod">
          <ac:chgData name="POOJITHA D" userId="07aaa1c9fac6b292" providerId="LiveId" clId="{7D8BBD79-C254-4BB5-9385-D768F232E73F}" dt="2026-09-06T15:38:30.498" v="9" actId="20577"/>
          <ac:spMkLst>
            <pc:docMk/>
            <pc:sldMk cId="3449507583" sldId="2147470489"/>
            <ac:spMk id="4" creationId="{598A8852-79FE-2D69-0530-D7712358063B}"/>
          </ac:spMkLst>
        </pc:spChg>
      </pc:sldChg>
      <pc:sldChg chg="modSp mod">
        <pc:chgData name="POOJITHA D" userId="07aaa1c9fac6b292" providerId="LiveId" clId="{7D8BBD79-C254-4BB5-9385-D768F232E73F}" dt="2026-09-06T15:36:14.672" v="1" actId="20577"/>
        <pc:sldMkLst>
          <pc:docMk/>
          <pc:sldMk cId="860765087" sldId="2147470495"/>
        </pc:sldMkLst>
        <pc:graphicFrameChg chg="modGraphic">
          <ac:chgData name="POOJITHA D" userId="07aaa1c9fac6b292" providerId="LiveId" clId="{7D8BBD79-C254-4BB5-9385-D768F232E73F}" dt="2026-09-06T15:36:14.672" v="1" actId="20577"/>
          <ac:graphicFrameMkLst>
            <pc:docMk/>
            <pc:sldMk cId="860765087" sldId="2147470495"/>
            <ac:graphicFrameMk id="8" creationId="{0183DD0B-9B79-52F7-3FB5-09E52DEECAD1}"/>
          </ac:graphicFrameMkLst>
        </pc:graphicFrameChg>
      </pc:sldChg>
      <pc:sldChg chg="modSp mod">
        <pc:chgData name="POOJITHA D" userId="07aaa1c9fac6b292" providerId="LiveId" clId="{7D8BBD79-C254-4BB5-9385-D768F232E73F}" dt="2026-09-06T15:36:18.317" v="2" actId="20577"/>
        <pc:sldMkLst>
          <pc:docMk/>
          <pc:sldMk cId="829115572" sldId="2147470503"/>
        </pc:sldMkLst>
        <pc:graphicFrameChg chg="modGraphic">
          <ac:chgData name="POOJITHA D" userId="07aaa1c9fac6b292" providerId="LiveId" clId="{7D8BBD79-C254-4BB5-9385-D768F232E73F}" dt="2026-09-06T15:36:18.317" v="2" actId="20577"/>
          <ac:graphicFrameMkLst>
            <pc:docMk/>
            <pc:sldMk cId="829115572" sldId="2147470503"/>
            <ac:graphicFrameMk id="8" creationId="{DA51D03F-2118-9841-FDEF-CC3EA78E01EE}"/>
          </ac:graphicFrameMkLst>
        </pc:graphicFrameChg>
      </pc:sldChg>
      <pc:sldChg chg="modSp mod">
        <pc:chgData name="POOJITHA D" userId="07aaa1c9fac6b292" providerId="LiveId" clId="{7D8BBD79-C254-4BB5-9385-D768F232E73F}" dt="2026-09-06T15:36:23.276" v="4" actId="20577"/>
        <pc:sldMkLst>
          <pc:docMk/>
          <pc:sldMk cId="3960073591" sldId="2147470504"/>
        </pc:sldMkLst>
        <pc:graphicFrameChg chg="modGraphic">
          <ac:chgData name="POOJITHA D" userId="07aaa1c9fac6b292" providerId="LiveId" clId="{7D8BBD79-C254-4BB5-9385-D768F232E73F}" dt="2026-09-06T15:36:23.276" v="4" actId="20577"/>
          <ac:graphicFrameMkLst>
            <pc:docMk/>
            <pc:sldMk cId="3960073591" sldId="2147470504"/>
            <ac:graphicFrameMk id="8" creationId="{E8E6F880-3028-EC67-249E-F8B747B6FAD5}"/>
          </ac:graphicFrameMkLst>
        </pc:graphicFrameChg>
      </pc:sldChg>
      <pc:sldChg chg="modSp mod">
        <pc:chgData name="POOJITHA D" userId="07aaa1c9fac6b292" providerId="LiveId" clId="{7D8BBD79-C254-4BB5-9385-D768F232E73F}" dt="2026-09-06T15:36:26.925" v="6" actId="20577"/>
        <pc:sldMkLst>
          <pc:docMk/>
          <pc:sldMk cId="3749038947" sldId="2147470505"/>
        </pc:sldMkLst>
        <pc:graphicFrameChg chg="modGraphic">
          <ac:chgData name="POOJITHA D" userId="07aaa1c9fac6b292" providerId="LiveId" clId="{7D8BBD79-C254-4BB5-9385-D768F232E73F}" dt="2026-09-06T15:36:26.925" v="6" actId="20577"/>
          <ac:graphicFrameMkLst>
            <pc:docMk/>
            <pc:sldMk cId="3749038947" sldId="2147470505"/>
            <ac:graphicFrameMk id="8" creationId="{68150D3D-1575-F413-4A80-698BC6AE99C5}"/>
          </ac:graphicFrameMkLst>
        </pc:graphicFrameChg>
      </pc:sldChg>
      <pc:sldChg chg="modSp mod">
        <pc:chgData name="POOJITHA D" userId="07aaa1c9fac6b292" providerId="LiveId" clId="{7D8BBD79-C254-4BB5-9385-D768F232E73F}" dt="2026-09-06T15:36:32.868" v="7" actId="20577"/>
        <pc:sldMkLst>
          <pc:docMk/>
          <pc:sldMk cId="3411009393" sldId="2147470506"/>
        </pc:sldMkLst>
        <pc:graphicFrameChg chg="modGraphic">
          <ac:chgData name="POOJITHA D" userId="07aaa1c9fac6b292" providerId="LiveId" clId="{7D8BBD79-C254-4BB5-9385-D768F232E73F}" dt="2026-09-06T15:36:32.868" v="7" actId="20577"/>
          <ac:graphicFrameMkLst>
            <pc:docMk/>
            <pc:sldMk cId="3411009393" sldId="2147470506"/>
            <ac:graphicFrameMk id="8" creationId="{A1E9A02F-AB77-0360-5BDC-C8DA51E8265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0"/>
            <a:ext cx="12254538" cy="6898126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455403" y="31091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393897" y="1201242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603504" y="1668462"/>
            <a:ext cx="1102105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600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POOJITHA D</a:t>
            </a: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67968" y="1862545"/>
            <a:ext cx="9656064" cy="386770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UPI processes billions of transactions </a:t>
            </a:r>
            <a:r>
              <a:rPr lang="en-US" dirty="0">
                <a:latin typeface="+mn-lt"/>
              </a:rPr>
              <a:t>every month </a:t>
            </a:r>
            <a:r>
              <a:rPr lang="en-US" b="0" dirty="0">
                <a:latin typeface="+mn-lt"/>
              </a:rPr>
              <a:t>in India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NPCI publishes bank-wise failure rates </a:t>
            </a:r>
            <a:r>
              <a:rPr lang="en-US" dirty="0">
                <a:latin typeface="+mn-lt"/>
              </a:rPr>
              <a:t>publicly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The reports do not include any </a:t>
            </a:r>
            <a:r>
              <a:rPr lang="en-US" dirty="0">
                <a:latin typeface="+mn-lt"/>
              </a:rPr>
              <a:t>trend analysis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Most monitoring tools are for </a:t>
            </a:r>
            <a:r>
              <a:rPr lang="en-US" dirty="0">
                <a:latin typeface="+mn-lt"/>
              </a:rPr>
              <a:t>fraud detection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To address </a:t>
            </a:r>
            <a:r>
              <a:rPr lang="en-US" dirty="0">
                <a:latin typeface="+mn-lt"/>
              </a:rPr>
              <a:t>technical reliability</a:t>
            </a:r>
            <a:r>
              <a:rPr lang="en-US" b="0" dirty="0">
                <a:latin typeface="+mn-lt"/>
              </a:rPr>
              <a:t>, not fraud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Failures can be </a:t>
            </a:r>
            <a:r>
              <a:rPr lang="en-US" dirty="0">
                <a:latin typeface="+mn-lt"/>
              </a:rPr>
              <a:t>timeouts</a:t>
            </a:r>
            <a:r>
              <a:rPr lang="en-US" b="0" dirty="0">
                <a:latin typeface="+mn-lt"/>
              </a:rPr>
              <a:t>, </a:t>
            </a:r>
            <a:r>
              <a:rPr lang="en-US" dirty="0">
                <a:latin typeface="+mn-lt"/>
              </a:rPr>
              <a:t>reversals</a:t>
            </a:r>
            <a:r>
              <a:rPr lang="en-US" b="0" dirty="0">
                <a:latin typeface="+mn-lt"/>
              </a:rPr>
              <a:t>, or </a:t>
            </a:r>
            <a:r>
              <a:rPr lang="en-US" dirty="0">
                <a:latin typeface="+mn-lt"/>
              </a:rPr>
              <a:t>other processing failures</a:t>
            </a:r>
          </a:p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These erode </a:t>
            </a:r>
            <a:r>
              <a:rPr lang="en-US" dirty="0">
                <a:latin typeface="+mn-lt"/>
              </a:rPr>
              <a:t>customer trust </a:t>
            </a:r>
            <a:r>
              <a:rPr lang="en-US" b="0" dirty="0">
                <a:latin typeface="+mn-lt"/>
              </a:rPr>
              <a:t>and cause </a:t>
            </a:r>
            <a:r>
              <a:rPr lang="en-US" dirty="0">
                <a:latin typeface="+mn-lt"/>
              </a:rPr>
              <a:t>business decline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1576757" y="57036"/>
            <a:ext cx="10767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5181" y="1924913"/>
            <a:ext cx="9181638" cy="350662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0" dirty="0">
                <a:latin typeface="+mn-lt"/>
              </a:rPr>
              <a:t>Build a </a:t>
            </a:r>
            <a:r>
              <a:rPr lang="en-US" dirty="0">
                <a:latin typeface="+mn-lt"/>
              </a:rPr>
              <a:t>bank-wise reliability monitoring </a:t>
            </a:r>
            <a:r>
              <a:rPr lang="en-US" b="0" dirty="0">
                <a:latin typeface="+mn-lt"/>
              </a:rPr>
              <a:t>system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Forecast</a:t>
            </a:r>
            <a:r>
              <a:rPr lang="en-US" b="0" dirty="0">
                <a:latin typeface="+mn-lt"/>
              </a:rPr>
              <a:t> expected payment reliability each month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Identify</a:t>
            </a:r>
            <a:r>
              <a:rPr lang="en-US" b="0" dirty="0">
                <a:latin typeface="+mn-lt"/>
              </a:rPr>
              <a:t> when exactly payment reliability starts deteriorating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Justify anomalies </a:t>
            </a:r>
            <a:r>
              <a:rPr lang="en-US" b="0" dirty="0">
                <a:latin typeface="+mn-lt"/>
              </a:rPr>
              <a:t>through grounded RAG retrieval</a:t>
            </a:r>
          </a:p>
          <a:p>
            <a:pPr>
              <a:lnSpc>
                <a:spcPct val="100000"/>
              </a:lnSpc>
            </a:pPr>
            <a:r>
              <a:rPr lang="en-US" dirty="0">
                <a:latin typeface="+mn-lt"/>
              </a:rPr>
              <a:t>Prioritize risks </a:t>
            </a:r>
            <a:r>
              <a:rPr lang="en-US" b="0" dirty="0">
                <a:latin typeface="+mn-lt"/>
              </a:rPr>
              <a:t>according to actual transaction volumes</a:t>
            </a:r>
          </a:p>
          <a:p>
            <a:pPr>
              <a:lnSpc>
                <a:spcPct val="100000"/>
              </a:lnSpc>
            </a:pPr>
            <a:r>
              <a:rPr lang="en-US" b="0" dirty="0"/>
              <a:t>Enable </a:t>
            </a:r>
            <a:r>
              <a:rPr lang="en-US" dirty="0"/>
              <a:t>early intervention </a:t>
            </a:r>
            <a:r>
              <a:rPr lang="en-US" b="0" dirty="0"/>
              <a:t>before customer 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1640815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86639" y="2208377"/>
            <a:ext cx="7818721" cy="2441245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Remitter bank-wise </a:t>
            </a:r>
            <a:r>
              <a:rPr lang="en-IN" dirty="0">
                <a:latin typeface="+mn-lt"/>
              </a:rPr>
              <a:t>TD/BD </a:t>
            </a:r>
            <a:r>
              <a:rPr lang="en-IN" b="0" dirty="0">
                <a:latin typeface="+mn-lt"/>
              </a:rPr>
              <a:t>reliability analysis</a:t>
            </a:r>
          </a:p>
          <a:p>
            <a:pPr lvl="0"/>
            <a:r>
              <a:rPr lang="en-IN" b="0" dirty="0">
                <a:latin typeface="+mn-lt"/>
              </a:rPr>
              <a:t>Monthly forecasting and </a:t>
            </a:r>
            <a:r>
              <a:rPr lang="en-IN" dirty="0">
                <a:latin typeface="+mn-lt"/>
              </a:rPr>
              <a:t>change-point detection</a:t>
            </a:r>
          </a:p>
          <a:p>
            <a:pPr lvl="0"/>
            <a:r>
              <a:rPr lang="en-IN" dirty="0">
                <a:latin typeface="+mn-lt"/>
              </a:rPr>
              <a:t>RAG-based explanation </a:t>
            </a:r>
            <a:r>
              <a:rPr lang="en-IN" b="0" dirty="0">
                <a:latin typeface="+mn-lt"/>
              </a:rPr>
              <a:t>for flagged anomalies</a:t>
            </a:r>
          </a:p>
          <a:p>
            <a:pPr lvl="0"/>
            <a:r>
              <a:rPr lang="en-IN" b="0" dirty="0">
                <a:latin typeface="+mn-lt"/>
              </a:rPr>
              <a:t>Cloud-hosted, </a:t>
            </a:r>
            <a:r>
              <a:rPr lang="en-IN" dirty="0">
                <a:latin typeface="+mn-lt"/>
              </a:rPr>
              <a:t>live-connected </a:t>
            </a:r>
            <a:r>
              <a:rPr lang="en-IN" b="0" dirty="0">
                <a:latin typeface="+mn-lt"/>
              </a:rPr>
              <a:t>Power BI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4A07349-67A4-0698-F235-F3FF6CC9B6D7}"/>
              </a:ext>
            </a:extLst>
          </p:cNvPr>
          <p:cNvSpPr txBox="1"/>
          <p:nvPr/>
        </p:nvSpPr>
        <p:spPr>
          <a:xfrm>
            <a:off x="1631671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E4B4E06-F06A-FBA4-7230-219FCB9711CB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83DD0B-9B79-52F7-3FB5-09E52DEEC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1431875"/>
              </p:ext>
            </p:extLst>
          </p:nvPr>
        </p:nvGraphicFramePr>
        <p:xfrm>
          <a:off x="221274" y="1252486"/>
          <a:ext cx="11716726" cy="474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030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3821143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3072853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806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Paper Title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Algorithm/</a:t>
                      </a:r>
                    </a:p>
                    <a:p>
                      <a:pPr algn="ctr">
                        <a:buNone/>
                      </a:pPr>
                      <a:r>
                        <a:rPr lang="en-IN" sz="28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18980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1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Secure UPI: Machine Learning-Driven Fraud Detection System for UPI Transactions (IEEE, 2024)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XGBoost, SMOTE, PCA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Fraud-only focus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reliability trend tracking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explanation layer for flags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18980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2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UPI Fraud Detection Using Machine Learning (ResearchGate, 2024)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Decision Tree, Random Forest, Logistic Regression, Neural Network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Transaction classification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forecasting component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bank-wise aggregation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263EC-A23B-D9A2-D0BB-26FE3C8D8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70E0C8-84D6-4B21-FF95-FA621F303A2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269828-53F7-8916-E0EB-E1BE002835E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19D21AA-FEF5-2177-0CF0-2E64A88B32D0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51D03F-2118-9841-FDEF-CC3EA78E01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811451"/>
              </p:ext>
            </p:extLst>
          </p:nvPr>
        </p:nvGraphicFramePr>
        <p:xfrm>
          <a:off x="145074" y="1315986"/>
          <a:ext cx="11856426" cy="474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382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3866703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2311741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53086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806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Paper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Algorithm/</a:t>
                      </a:r>
                    </a:p>
                    <a:p>
                      <a:pPr algn="ctr">
                        <a:buNone/>
                      </a:pPr>
                      <a:r>
                        <a:rPr lang="en-IN" sz="28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18980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3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UPI Fraud Detection Using Convolutional Neural Networks — CNN (ResearchGate, 2024)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CNN, Decision Tree, Naive Bayes, Logistic Regression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Imbalanced-fraud focus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technical-failure distinction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volume-based prioritization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18980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4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Machine Learning-Driven Detection of UPI Fraudulent Activities (IEEE, 2025)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Random Forest, XGBoost, LSTM, CNN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Multimodal (QR/voice) fraud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Not applicable to reliability decline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RAG/explanation component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115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1263-1F22-F9DE-0BD0-B72220894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B3C2B6-6CF9-A4C4-C3CB-AB93E6BB397A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131A26-74E4-F47F-0388-870378A675A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3930E42-5B4C-B6DC-B01A-5269A7E41590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8E6F880-3028-EC67-249E-F8B747B6F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215529"/>
              </p:ext>
            </p:extLst>
          </p:nvPr>
        </p:nvGraphicFramePr>
        <p:xfrm>
          <a:off x="145074" y="1227086"/>
          <a:ext cx="11856426" cy="4976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382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4121044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806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Paper Title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Algorithm/</a:t>
                      </a:r>
                    </a:p>
                    <a:p>
                      <a:pPr algn="ctr">
                        <a:buNone/>
                      </a:pPr>
                      <a:r>
                        <a:rPr lang="en-IN" sz="28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18980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5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UPI Based Financial Fraud Detection Using Deep Learning Approach (ResearchGate, 2024)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CNN, LSTM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Transaction-level fraud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bank-level trend analysis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early-warning mechanism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18980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6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Enhanced UPI Fraud Detection Using CNN: A Comparative Analysis with ML Models (ResearchGate, 2025)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CNN vs. traditional ML (comparative)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Fraud pattern detection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forecasting/change-point method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cross-bank risk ranking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0073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FF3F1-2217-7606-B822-734B612C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13EE13-8222-B012-673B-67BAB3FE8763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8ED15E-8319-7DD9-2A7B-1E153FCCB69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357F605-253F-7419-E4A1-2BD98C56CDD2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8150D3D-1575-F413-4A80-698BC6AE9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032921"/>
              </p:ext>
            </p:extLst>
          </p:nvPr>
        </p:nvGraphicFramePr>
        <p:xfrm>
          <a:off x="145074" y="1227086"/>
          <a:ext cx="11856426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382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5022744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2578100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7971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Paper Title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Algorithm/</a:t>
                      </a:r>
                    </a:p>
                    <a:p>
                      <a:pPr algn="ctr">
                        <a:buNone/>
                      </a:pPr>
                      <a:r>
                        <a:rPr lang="en-IN" sz="28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223713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7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Deep Learning-Based Real-Time Fraud Detection Framework for UPI Transactions Using Hybrid CNN-</a:t>
                      </a:r>
                      <a:r>
                        <a:rPr lang="en-IN" sz="2800" dirty="0" err="1"/>
                        <a:t>BiLSTM</a:t>
                      </a:r>
                      <a:r>
                        <a:rPr lang="en-IN" sz="2800" dirty="0"/>
                        <a:t> Model (ResearchGate, 2026)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CNN-BiLSTM, Random Forest, Isolation Forest, LSTM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Real-time fraud streaming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Not technical-reliability focused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regulatory reporting angle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151713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8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Real-Time UPI Fraud Detection Using GNNs (ResearchGate, 2025)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Graph Neural Networks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Network-fraud relationships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Not applicable to bank-wise decline monitoring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038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41DA-3CB2-AB48-B368-085197FEF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303C0D-380A-37DB-323E-7161AFD6D509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821DEB9-80D1-CBC4-6429-F3AD5A0A6D81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2534F1-FA5B-1E7B-3675-6E4A9C7A5151}"/>
              </a:ext>
            </a:extLst>
          </p:cNvPr>
          <p:cNvSpPr txBox="1"/>
          <p:nvPr/>
        </p:nvSpPr>
        <p:spPr>
          <a:xfrm>
            <a:off x="1622527" y="29604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1E9A02F-AB77-0360-5BDC-C8DA51E82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751542"/>
              </p:ext>
            </p:extLst>
          </p:nvPr>
        </p:nvGraphicFramePr>
        <p:xfrm>
          <a:off x="145074" y="1315987"/>
          <a:ext cx="11856426" cy="48932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426">
                  <a:extLst>
                    <a:ext uri="{9D8B030D-6E8A-4147-A177-3AD203B41FA5}">
                      <a16:colId xmlns:a16="http://schemas.microsoft.com/office/drawing/2014/main" val="3328399186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3945244883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1071515190"/>
                    </a:ext>
                  </a:extLst>
                </a:gridCol>
                <a:gridCol w="5359400">
                  <a:extLst>
                    <a:ext uri="{9D8B030D-6E8A-4147-A177-3AD203B41FA5}">
                      <a16:colId xmlns:a16="http://schemas.microsoft.com/office/drawing/2014/main" val="295561133"/>
                    </a:ext>
                  </a:extLst>
                </a:gridCol>
              </a:tblGrid>
              <a:tr h="6697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/>
                        <a:t>Paper Title</a:t>
                      </a:r>
                      <a:endParaRPr lang="en-IN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Algorithm/</a:t>
                      </a:r>
                    </a:p>
                    <a:p>
                      <a:pPr algn="ctr">
                        <a:buNone/>
                      </a:pPr>
                      <a:r>
                        <a:rPr lang="en-IN" sz="2800" dirty="0"/>
                        <a:t>Model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dirty="0"/>
                        <a:t>Research Gap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1265223"/>
                  </a:ext>
                </a:extLst>
              </a:tr>
              <a:tr h="158568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9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 err="1"/>
                        <a:t>FakePay</a:t>
                      </a:r>
                      <a:r>
                        <a:rPr lang="en-IN" sz="2800" dirty="0"/>
                        <a:t>: A Real-Time UPI Fraud Detection System Using OCR, CNN, and Ensemble ML (</a:t>
                      </a:r>
                      <a:r>
                        <a:rPr lang="en-IN" sz="2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ResearchGate</a:t>
                      </a:r>
                      <a:r>
                        <a:rPr lang="en-I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IN" sz="2800" dirty="0"/>
                        <a:t>2026) 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OCR, CNN, Ensemble ML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Fake-QR/screenshot fraud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Unrelated to systemic reliability failures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205406285"/>
                  </a:ext>
                </a:extLst>
              </a:tr>
              <a:tr h="181476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10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Fraud Fighters — How AI and ML are Revolutionizing UPI Security (2024) — IEEE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/>
                        <a:t>Survey of multiple AI/ML models</a:t>
                      </a: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2800" dirty="0"/>
                        <a:t>• Survey-level, security lens only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reliability-index concept discussed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No forecasting/RAG methodology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2519140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100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98489" y="1893102"/>
            <a:ext cx="8795022" cy="3773142"/>
          </a:xfrm>
        </p:spPr>
        <p:txBody>
          <a:bodyPr/>
          <a:lstStyle/>
          <a:p>
            <a:pPr lvl="0"/>
            <a:r>
              <a:rPr lang="en-IN" b="0" dirty="0">
                <a:latin typeface="Calibri (Body)"/>
              </a:rPr>
              <a:t>Existing UPI research is entirely </a:t>
            </a:r>
            <a:r>
              <a:rPr lang="en-IN" dirty="0">
                <a:latin typeface="Calibri (Body)"/>
              </a:rPr>
              <a:t>fraud-focused</a:t>
            </a:r>
          </a:p>
          <a:p>
            <a:pPr lvl="0"/>
            <a:r>
              <a:rPr lang="en-IN" b="0" dirty="0">
                <a:latin typeface="Calibri (Body)"/>
              </a:rPr>
              <a:t>No study builds a </a:t>
            </a:r>
            <a:r>
              <a:rPr lang="en-IN" dirty="0">
                <a:latin typeface="Calibri (Body)"/>
              </a:rPr>
              <a:t>bank-wise reliability index</a:t>
            </a:r>
          </a:p>
          <a:p>
            <a:pPr lvl="0"/>
            <a:r>
              <a:rPr lang="en-IN" b="0" dirty="0">
                <a:latin typeface="Calibri (Body)"/>
              </a:rPr>
              <a:t>Reliability trend </a:t>
            </a:r>
            <a:r>
              <a:rPr lang="en-IN" dirty="0">
                <a:latin typeface="Calibri (Body)"/>
              </a:rPr>
              <a:t>trajectory</a:t>
            </a:r>
            <a:r>
              <a:rPr lang="en-IN" b="0" dirty="0">
                <a:latin typeface="Calibri (Body)"/>
              </a:rPr>
              <a:t> is never distinguished</a:t>
            </a:r>
          </a:p>
          <a:p>
            <a:pPr lvl="0"/>
            <a:r>
              <a:rPr lang="en-IN" b="0" dirty="0">
                <a:latin typeface="Calibri (Body)"/>
              </a:rPr>
              <a:t>No system flags when </a:t>
            </a:r>
            <a:r>
              <a:rPr lang="en-IN" dirty="0">
                <a:latin typeface="Calibri (Body)"/>
              </a:rPr>
              <a:t>decline</a:t>
            </a:r>
            <a:r>
              <a:rPr lang="en-IN" b="0" dirty="0">
                <a:latin typeface="Calibri (Body)"/>
              </a:rPr>
              <a:t> becomes significant</a:t>
            </a:r>
          </a:p>
          <a:p>
            <a:pPr lvl="0"/>
            <a:r>
              <a:rPr lang="en-IN" b="0" dirty="0">
                <a:latin typeface="Calibri (Body)"/>
              </a:rPr>
              <a:t>No work applies </a:t>
            </a:r>
            <a:r>
              <a:rPr lang="en-IN" dirty="0">
                <a:latin typeface="Calibri (Body)"/>
              </a:rPr>
              <a:t>transaction-volume</a:t>
            </a:r>
            <a:r>
              <a:rPr lang="en-IN" b="0" dirty="0">
                <a:latin typeface="Calibri (Body)"/>
              </a:rPr>
              <a:t> weighting to risk</a:t>
            </a:r>
          </a:p>
          <a:p>
            <a:pPr lvl="0"/>
            <a:r>
              <a:rPr lang="en-IN" b="0" dirty="0">
                <a:latin typeface="Calibri (Body)"/>
              </a:rPr>
              <a:t>Change-point detection is </a:t>
            </a:r>
            <a:r>
              <a:rPr lang="en-IN" dirty="0">
                <a:latin typeface="Calibri (Body)"/>
              </a:rPr>
              <a:t>proven, but unapplied</a:t>
            </a:r>
            <a:r>
              <a:rPr lang="en-IN" b="0" dirty="0">
                <a:latin typeface="Calibri (Body)"/>
              </a:rPr>
              <a:t> here</a:t>
            </a:r>
          </a:p>
          <a:p>
            <a:pPr lvl="0"/>
            <a:r>
              <a:rPr lang="en-IN" b="0" dirty="0">
                <a:latin typeface="Calibri (Body)"/>
              </a:rPr>
              <a:t>RAG </a:t>
            </a:r>
            <a:r>
              <a:rPr lang="en-IN" dirty="0">
                <a:latin typeface="Calibri (Body)"/>
              </a:rPr>
              <a:t>is established in finance</a:t>
            </a:r>
            <a:r>
              <a:rPr lang="en-IN" b="0" dirty="0">
                <a:latin typeface="Calibri (Body)"/>
              </a:rPr>
              <a:t>, not for payment anomalies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2F13E56-7ADB-20BF-C9A8-460017B9C483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1675" y="2158188"/>
            <a:ext cx="9528649" cy="2706420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Data sourced directly from </a:t>
            </a:r>
            <a:r>
              <a:rPr lang="en-IN" dirty="0">
                <a:latin typeface="+mn-lt"/>
              </a:rPr>
              <a:t>NPCI</a:t>
            </a:r>
            <a:r>
              <a:rPr lang="en-IN" b="0" dirty="0">
                <a:latin typeface="+mn-lt"/>
              </a:rPr>
              <a:t>, real and free</a:t>
            </a:r>
          </a:p>
          <a:p>
            <a:pPr lvl="0"/>
            <a:r>
              <a:rPr lang="en-IN" b="0" dirty="0">
                <a:latin typeface="+mn-lt"/>
              </a:rPr>
              <a:t>Remitter-bank data only, </a:t>
            </a:r>
            <a:r>
              <a:rPr lang="en-IN" dirty="0">
                <a:latin typeface="+mn-lt"/>
              </a:rPr>
              <a:t>customer-facing</a:t>
            </a:r>
            <a:r>
              <a:rPr lang="en-IN" b="0" dirty="0">
                <a:latin typeface="+mn-lt"/>
              </a:rPr>
              <a:t> reliability</a:t>
            </a:r>
          </a:p>
          <a:p>
            <a:pPr lvl="0"/>
            <a:r>
              <a:rPr lang="en-IN" b="0" dirty="0">
                <a:latin typeface="+mn-lt"/>
              </a:rPr>
              <a:t>Filename vs. actual month </a:t>
            </a:r>
            <a:r>
              <a:rPr lang="en-IN" dirty="0">
                <a:latin typeface="+mn-lt"/>
              </a:rPr>
              <a:t>mismatches</a:t>
            </a:r>
            <a:r>
              <a:rPr lang="en-IN" b="0" dirty="0">
                <a:latin typeface="+mn-lt"/>
              </a:rPr>
              <a:t> identified and handled</a:t>
            </a:r>
          </a:p>
          <a:p>
            <a:pPr lvl="0"/>
            <a:r>
              <a:rPr lang="en-IN" b="0" dirty="0">
                <a:latin typeface="+mn-lt"/>
              </a:rPr>
              <a:t>Duplicate/unpublished-month data </a:t>
            </a:r>
            <a:r>
              <a:rPr lang="en-IN" dirty="0">
                <a:latin typeface="+mn-lt"/>
              </a:rPr>
              <a:t>auto-detected </a:t>
            </a:r>
            <a:r>
              <a:rPr lang="en-IN" b="0" dirty="0">
                <a:latin typeface="+mn-lt"/>
              </a:rPr>
              <a:t>and skipped</a:t>
            </a:r>
          </a:p>
          <a:p>
            <a:pPr lvl="0"/>
            <a:r>
              <a:rPr lang="en-IN" b="0" dirty="0">
                <a:latin typeface="+mn-lt"/>
              </a:rPr>
              <a:t>Pipeline built in </a:t>
            </a:r>
            <a:r>
              <a:rPr lang="en-IN" dirty="0">
                <a:latin typeface="+mn-lt"/>
              </a:rPr>
              <a:t>Python</a:t>
            </a:r>
            <a:r>
              <a:rPr lang="en-IN" b="0" dirty="0">
                <a:latin typeface="+mn-lt"/>
              </a:rPr>
              <a:t>, stored in </a:t>
            </a:r>
            <a:r>
              <a:rPr lang="en-IN" dirty="0">
                <a:latin typeface="+mn-lt"/>
              </a:rPr>
              <a:t>SQLite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0DFDA5E-B17B-26E2-9AB5-D86FF86A8436}"/>
              </a:ext>
            </a:extLst>
          </p:cNvPr>
          <p:cNvSpPr txBox="1"/>
          <p:nvPr/>
        </p:nvSpPr>
        <p:spPr>
          <a:xfrm>
            <a:off x="1659103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94443" y="1792427"/>
            <a:ext cx="9198900" cy="3968291"/>
          </a:xfrm>
        </p:spPr>
        <p:txBody>
          <a:bodyPr/>
          <a:lstStyle/>
          <a:p>
            <a:pPr lvl="0">
              <a:lnSpc>
                <a:spcPct val="100000"/>
              </a:lnSpc>
            </a:pPr>
            <a:r>
              <a:rPr lang="en-IN" dirty="0">
                <a:latin typeface="+mn-lt"/>
              </a:rPr>
              <a:t>Data Engineering </a:t>
            </a:r>
            <a:r>
              <a:rPr lang="en-IN" b="0" dirty="0">
                <a:latin typeface="+mn-lt"/>
              </a:rPr>
              <a:t>- Ingestion, cleaning, deduplication</a:t>
            </a:r>
          </a:p>
          <a:p>
            <a:pPr lvl="0">
              <a:lnSpc>
                <a:spcPct val="100000"/>
              </a:lnSpc>
            </a:pPr>
            <a:r>
              <a:rPr lang="en-IN" dirty="0">
                <a:latin typeface="+mn-lt"/>
              </a:rPr>
              <a:t>Analytics</a:t>
            </a:r>
            <a:r>
              <a:rPr lang="en-IN" b="0" dirty="0">
                <a:latin typeface="+mn-lt"/>
              </a:rPr>
              <a:t> - Forecasting and change-point detection</a:t>
            </a:r>
          </a:p>
          <a:p>
            <a:pPr lvl="0">
              <a:lnSpc>
                <a:spcPct val="100000"/>
              </a:lnSpc>
            </a:pPr>
            <a:r>
              <a:rPr lang="en-IN" dirty="0">
                <a:latin typeface="+mn-lt"/>
              </a:rPr>
              <a:t>Risk Scoring</a:t>
            </a:r>
            <a:r>
              <a:rPr lang="en-IN" b="0" dirty="0">
                <a:latin typeface="+mn-lt"/>
              </a:rPr>
              <a:t> - Transaction-volume-weighted prioritization</a:t>
            </a:r>
          </a:p>
          <a:p>
            <a:pPr lvl="0">
              <a:lnSpc>
                <a:spcPct val="100000"/>
              </a:lnSpc>
            </a:pPr>
            <a:r>
              <a:rPr lang="en-IN" dirty="0">
                <a:latin typeface="+mn-lt"/>
              </a:rPr>
              <a:t>GenAI/RAG </a:t>
            </a:r>
            <a:r>
              <a:rPr lang="en-IN" b="0" dirty="0">
                <a:latin typeface="+mn-lt"/>
              </a:rPr>
              <a:t>- Grounded anomaly explanation generation</a:t>
            </a:r>
          </a:p>
          <a:p>
            <a:pPr lvl="0">
              <a:lnSpc>
                <a:spcPct val="100000"/>
              </a:lnSpc>
            </a:pPr>
            <a:r>
              <a:rPr lang="en-IN" dirty="0" err="1">
                <a:latin typeface="+mn-lt"/>
              </a:rPr>
              <a:t>MLOps</a:t>
            </a:r>
            <a:r>
              <a:rPr lang="en-IN" b="0" dirty="0">
                <a:latin typeface="+mn-lt"/>
              </a:rPr>
              <a:t> - Experiment tracking across monthly retraining</a:t>
            </a:r>
          </a:p>
          <a:p>
            <a:pPr lvl="0">
              <a:lnSpc>
                <a:spcPct val="100000"/>
              </a:lnSpc>
            </a:pPr>
            <a:r>
              <a:rPr lang="en-IN" dirty="0">
                <a:latin typeface="+mn-lt"/>
              </a:rPr>
              <a:t>Cloud &amp; Version Control </a:t>
            </a:r>
            <a:r>
              <a:rPr lang="en-IN" b="0" dirty="0">
                <a:latin typeface="+mn-lt"/>
              </a:rPr>
              <a:t>- Hosting, Git-based reproducibility</a:t>
            </a:r>
          </a:p>
          <a:p>
            <a:pPr lvl="0">
              <a:lnSpc>
                <a:spcPct val="100000"/>
              </a:lnSpc>
            </a:pPr>
            <a:r>
              <a:rPr lang="en-IN" dirty="0">
                <a:latin typeface="+mn-lt"/>
              </a:rPr>
              <a:t>Dashboard</a:t>
            </a:r>
            <a:r>
              <a:rPr lang="en-IN" b="0" dirty="0">
                <a:latin typeface="+mn-lt"/>
              </a:rPr>
              <a:t> - Live Power BI visualization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23531E4-4164-C519-7FEA-076B990D5B1A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1311" y="2017992"/>
            <a:ext cx="9149378" cy="3258094"/>
          </a:xfrm>
        </p:spPr>
        <p:txBody>
          <a:bodyPr/>
          <a:lstStyle/>
          <a:p>
            <a:pPr lvl="0"/>
            <a:r>
              <a:rPr lang="en-IN" dirty="0">
                <a:latin typeface="+mn-lt"/>
              </a:rPr>
              <a:t>Source: </a:t>
            </a:r>
            <a:r>
              <a:rPr lang="en-IN" b="0" dirty="0">
                <a:latin typeface="+mn-lt"/>
              </a:rPr>
              <a:t>real NPCI bank-wise monthly files</a:t>
            </a:r>
          </a:p>
          <a:p>
            <a:pPr lvl="0"/>
            <a:r>
              <a:rPr lang="en-IN" dirty="0">
                <a:latin typeface="+mn-lt"/>
              </a:rPr>
              <a:t>Cleans </a:t>
            </a:r>
            <a:r>
              <a:rPr lang="en-IN" b="0" dirty="0">
                <a:latin typeface="+mn-lt"/>
              </a:rPr>
              <a:t>inconsistent column names across years</a:t>
            </a:r>
          </a:p>
          <a:p>
            <a:pPr lvl="0"/>
            <a:r>
              <a:rPr lang="en-IN" dirty="0">
                <a:latin typeface="+mn-lt"/>
              </a:rPr>
              <a:t>Normalizes</a:t>
            </a:r>
            <a:r>
              <a:rPr lang="en-IN" b="0" dirty="0">
                <a:latin typeface="+mn-lt"/>
              </a:rPr>
              <a:t> mixed percentage formats (text vs. decimal)</a:t>
            </a:r>
          </a:p>
          <a:p>
            <a:pPr lvl="0"/>
            <a:r>
              <a:rPr lang="en-IN" dirty="0">
                <a:latin typeface="+mn-lt"/>
              </a:rPr>
              <a:t> Extracts the </a:t>
            </a:r>
            <a:r>
              <a:rPr lang="en-IN" b="0" dirty="0">
                <a:latin typeface="+mn-lt"/>
              </a:rPr>
              <a:t>true month from the file title, not the filename</a:t>
            </a:r>
          </a:p>
          <a:p>
            <a:pPr lvl="0"/>
            <a:r>
              <a:rPr lang="en-IN" dirty="0">
                <a:latin typeface="+mn-lt"/>
              </a:rPr>
              <a:t>Detects </a:t>
            </a:r>
            <a:r>
              <a:rPr lang="en-IN" b="0" dirty="0">
                <a:latin typeface="+mn-lt"/>
              </a:rPr>
              <a:t>duplicate month data automatically</a:t>
            </a:r>
          </a:p>
          <a:p>
            <a:pPr lvl="0"/>
            <a:r>
              <a:rPr lang="en-IN" dirty="0">
                <a:latin typeface="+mn-lt"/>
              </a:rPr>
              <a:t>Stores</a:t>
            </a:r>
            <a:r>
              <a:rPr lang="en-IN" b="0" dirty="0">
                <a:latin typeface="+mn-lt"/>
              </a:rPr>
              <a:t> clean data in a structured </a:t>
            </a:r>
            <a:r>
              <a:rPr lang="en-IN" dirty="0">
                <a:latin typeface="+mn-lt"/>
              </a:rPr>
              <a:t>SQLite </a:t>
            </a:r>
            <a:r>
              <a:rPr lang="en-IN" b="0" dirty="0">
                <a:latin typeface="+mn-lt"/>
              </a:rPr>
              <a:t>database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Data Engineering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2728E4F-5031-B082-7316-B45F8501F45D}"/>
              </a:ext>
            </a:extLst>
          </p:cNvPr>
          <p:cNvSpPr txBox="1"/>
          <p:nvPr/>
        </p:nvSpPr>
        <p:spPr>
          <a:xfrm>
            <a:off x="1659103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7763E-EB39-A509-4762-ACFDC5E94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C6C07B2-87C9-D57B-84E4-DD7159E9EA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99978" y="2054568"/>
            <a:ext cx="8792044" cy="3258094"/>
          </a:xfrm>
        </p:spPr>
        <p:txBody>
          <a:bodyPr/>
          <a:lstStyle/>
          <a:p>
            <a:pPr marL="342900" lvl="0" indent="-342900"/>
            <a:r>
              <a:rPr lang="en-IN" b="0" dirty="0">
                <a:latin typeface="+mn-lt"/>
              </a:rPr>
              <a:t>Forecasts next-month decline rate using </a:t>
            </a:r>
            <a:r>
              <a:rPr lang="en-IN" dirty="0">
                <a:latin typeface="+mn-lt"/>
              </a:rPr>
              <a:t>Prophet</a:t>
            </a:r>
          </a:p>
          <a:p>
            <a:pPr marL="342900" lvl="0" indent="-342900"/>
            <a:r>
              <a:rPr lang="en-IN" dirty="0">
                <a:latin typeface="+mn-lt"/>
              </a:rPr>
              <a:t>Captures</a:t>
            </a:r>
            <a:r>
              <a:rPr lang="en-IN" b="0" dirty="0">
                <a:latin typeface="+mn-lt"/>
              </a:rPr>
              <a:t> seasonality — festival and salary-cycle effects</a:t>
            </a:r>
          </a:p>
          <a:p>
            <a:pPr marL="342900" lvl="0" indent="-342900"/>
            <a:r>
              <a:rPr lang="en-IN" dirty="0">
                <a:latin typeface="+mn-lt"/>
              </a:rPr>
              <a:t>Benchmarks</a:t>
            </a:r>
            <a:r>
              <a:rPr lang="en-IN" b="0" dirty="0">
                <a:latin typeface="+mn-lt"/>
              </a:rPr>
              <a:t> against </a:t>
            </a:r>
            <a:r>
              <a:rPr lang="en-IN" dirty="0">
                <a:latin typeface="+mn-lt"/>
              </a:rPr>
              <a:t>SARIMA</a:t>
            </a:r>
            <a:r>
              <a:rPr lang="en-IN" b="0" dirty="0">
                <a:latin typeface="+mn-lt"/>
              </a:rPr>
              <a:t> as a comparison baseline</a:t>
            </a:r>
          </a:p>
          <a:p>
            <a:pPr marL="342900" lvl="0" indent="-342900"/>
            <a:r>
              <a:rPr lang="en-IN" dirty="0">
                <a:latin typeface="+mn-lt"/>
              </a:rPr>
              <a:t>Detects</a:t>
            </a:r>
            <a:r>
              <a:rPr lang="en-IN" b="0" dirty="0">
                <a:latin typeface="+mn-lt"/>
              </a:rPr>
              <a:t> exact month reliability trend shifts</a:t>
            </a:r>
          </a:p>
          <a:p>
            <a:pPr marL="342900" lvl="0" indent="-342900"/>
            <a:r>
              <a:rPr lang="en-IN" b="0" dirty="0">
                <a:latin typeface="+mn-lt"/>
              </a:rPr>
              <a:t>Uses </a:t>
            </a:r>
            <a:r>
              <a:rPr lang="en-IN" dirty="0">
                <a:latin typeface="+mn-lt"/>
              </a:rPr>
              <a:t>PELT algorithm </a:t>
            </a:r>
            <a:r>
              <a:rPr lang="en-IN" b="0" dirty="0">
                <a:latin typeface="+mn-lt"/>
              </a:rPr>
              <a:t>via the ruptures library</a:t>
            </a:r>
          </a:p>
          <a:p>
            <a:pPr marL="342900" lvl="0" indent="-342900"/>
            <a:r>
              <a:rPr lang="en-IN" dirty="0">
                <a:latin typeface="+mn-lt"/>
              </a:rPr>
              <a:t>Separates </a:t>
            </a:r>
            <a:r>
              <a:rPr lang="en-IN" b="0" dirty="0">
                <a:latin typeface="+mn-lt"/>
              </a:rPr>
              <a:t>genuine decline from stable, flat performance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CA71C-DEFD-A560-0D84-EBE03F16B046}"/>
              </a:ext>
            </a:extLst>
          </p:cNvPr>
          <p:cNvSpPr txBox="1"/>
          <p:nvPr/>
        </p:nvSpPr>
        <p:spPr>
          <a:xfrm>
            <a:off x="255996" y="502545"/>
            <a:ext cx="112471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Analytics (FORECASTING &amp; CHANGE-POINT DETECTION)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8EB7FC-CBE8-826A-80C4-1049E0F297C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AC92C42-DD2A-EE13-E7D3-47E9BE838473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307821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4FD8-888B-E1F7-D226-EB8338E8C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DC8A74-AFFA-D1EE-A86A-1DA4745871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62818" y="2402040"/>
            <a:ext cx="9066364" cy="2499139"/>
          </a:xfrm>
        </p:spPr>
        <p:txBody>
          <a:bodyPr/>
          <a:lstStyle/>
          <a:p>
            <a:pPr lvl="0"/>
            <a:r>
              <a:rPr lang="en-IN" dirty="0">
                <a:latin typeface="+mn-lt"/>
              </a:rPr>
              <a:t>Combines</a:t>
            </a:r>
            <a:r>
              <a:rPr lang="en-IN" b="0" dirty="0">
                <a:latin typeface="+mn-lt"/>
              </a:rPr>
              <a:t> decline rate with real transaction volume</a:t>
            </a:r>
          </a:p>
          <a:p>
            <a:pPr lvl="0"/>
            <a:r>
              <a:rPr lang="en-IN" dirty="0">
                <a:latin typeface="+mn-lt"/>
              </a:rPr>
              <a:t>Formula-based</a:t>
            </a:r>
            <a:r>
              <a:rPr lang="en-IN" b="0" dirty="0">
                <a:latin typeface="+mn-lt"/>
              </a:rPr>
              <a:t>, transparent — not a black-box model</a:t>
            </a:r>
          </a:p>
          <a:p>
            <a:pPr lvl="0"/>
            <a:r>
              <a:rPr lang="en-IN" dirty="0">
                <a:latin typeface="+mn-lt"/>
              </a:rPr>
              <a:t>Prioritizes</a:t>
            </a:r>
            <a:r>
              <a:rPr lang="en-IN" b="0" dirty="0">
                <a:latin typeface="+mn-lt"/>
              </a:rPr>
              <a:t> large banks' small dips over small banks' big ones</a:t>
            </a:r>
          </a:p>
          <a:p>
            <a:pPr lvl="0"/>
            <a:r>
              <a:rPr lang="en-IN" dirty="0">
                <a:latin typeface="+mn-lt"/>
              </a:rPr>
              <a:t>Ranks</a:t>
            </a:r>
            <a:r>
              <a:rPr lang="en-IN" b="0" dirty="0">
                <a:latin typeface="+mn-lt"/>
              </a:rPr>
              <a:t> all flagged anomalies by real business impact</a:t>
            </a:r>
          </a:p>
          <a:p>
            <a:pPr lvl="0"/>
            <a:r>
              <a:rPr lang="en-IN" b="0" dirty="0">
                <a:latin typeface="+mn-lt"/>
              </a:rPr>
              <a:t>Designed for </a:t>
            </a:r>
            <a:r>
              <a:rPr lang="en-IN" dirty="0">
                <a:latin typeface="+mn-lt"/>
              </a:rPr>
              <a:t>auditability</a:t>
            </a:r>
            <a:r>
              <a:rPr lang="en-IN" b="0" dirty="0">
                <a:latin typeface="+mn-lt"/>
              </a:rPr>
              <a:t> in a compliance context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1D033F-0612-32E5-095A-C69A9DE6C307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Risk Scoring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3D650FB-0315-4478-F2DF-8949E1042BC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213A82F-537A-D487-EA6A-696BF3B08385}"/>
              </a:ext>
            </a:extLst>
          </p:cNvPr>
          <p:cNvSpPr txBox="1"/>
          <p:nvPr/>
        </p:nvSpPr>
        <p:spPr>
          <a:xfrm>
            <a:off x="1659103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693194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7BAD3-7592-FFDD-934D-586730E2A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3DDAFE1-8E90-AACC-A274-2B4286C7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633" y="2054568"/>
            <a:ext cx="8568734" cy="3120934"/>
          </a:xfrm>
        </p:spPr>
        <p:txBody>
          <a:bodyPr/>
          <a:lstStyle/>
          <a:p>
            <a:pPr lvl="0"/>
            <a:r>
              <a:rPr lang="en-IN" dirty="0">
                <a:latin typeface="+mn-lt"/>
              </a:rPr>
              <a:t>Retrieves</a:t>
            </a:r>
            <a:r>
              <a:rPr lang="en-IN" b="0" dirty="0">
                <a:latin typeface="+mn-lt"/>
              </a:rPr>
              <a:t> real documents — RBI circulars, news, notices</a:t>
            </a:r>
          </a:p>
          <a:p>
            <a:pPr lvl="0"/>
            <a:r>
              <a:rPr lang="en-IN" dirty="0">
                <a:latin typeface="+mn-lt"/>
              </a:rPr>
              <a:t>Grounds</a:t>
            </a:r>
            <a:r>
              <a:rPr lang="en-IN" b="0" dirty="0">
                <a:latin typeface="+mn-lt"/>
              </a:rPr>
              <a:t> explanations only in retrieved real text</a:t>
            </a:r>
          </a:p>
          <a:p>
            <a:pPr lvl="0"/>
            <a:r>
              <a:rPr lang="en-IN" dirty="0">
                <a:latin typeface="+mn-lt"/>
              </a:rPr>
              <a:t>Never</a:t>
            </a:r>
            <a:r>
              <a:rPr lang="en-IN" b="0" dirty="0">
                <a:latin typeface="+mn-lt"/>
              </a:rPr>
              <a:t> freely generates or guesses a cause</a:t>
            </a:r>
          </a:p>
          <a:p>
            <a:pPr lvl="0"/>
            <a:r>
              <a:rPr lang="en-IN" b="0" dirty="0">
                <a:latin typeface="+mn-lt"/>
              </a:rPr>
              <a:t>Uses </a:t>
            </a:r>
            <a:r>
              <a:rPr lang="en-IN" dirty="0">
                <a:latin typeface="+mn-lt"/>
              </a:rPr>
              <a:t>Sentence-Transformer embeddings </a:t>
            </a:r>
            <a:r>
              <a:rPr lang="en-IN" b="0" dirty="0">
                <a:latin typeface="+mn-lt"/>
              </a:rPr>
              <a:t>for retrieval</a:t>
            </a:r>
          </a:p>
          <a:p>
            <a:pPr lvl="0"/>
            <a:r>
              <a:rPr lang="en-IN" dirty="0">
                <a:latin typeface="+mn-lt"/>
              </a:rPr>
              <a:t>Summarizes</a:t>
            </a:r>
            <a:r>
              <a:rPr lang="en-IN" b="0" dirty="0">
                <a:latin typeface="+mn-lt"/>
              </a:rPr>
              <a:t> the most relevant match in plain English</a:t>
            </a:r>
          </a:p>
          <a:p>
            <a:pPr lvl="0"/>
            <a:r>
              <a:rPr lang="en-IN" b="0" dirty="0">
                <a:latin typeface="+mn-lt"/>
              </a:rPr>
              <a:t>Directly answers </a:t>
            </a:r>
            <a:r>
              <a:rPr lang="en-IN" dirty="0">
                <a:latin typeface="+mn-lt"/>
              </a:rPr>
              <a:t>"why was this bank flagged?"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E678A-ECB5-2072-BD58-69DE5689F7C9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GenAI / RAG Explanation Layer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A1B5DF-F14B-FD8A-D1FA-08BBC7F9D80B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4FC48-712E-2C05-C574-B58BD4A2B980}"/>
              </a:ext>
            </a:extLst>
          </p:cNvPr>
          <p:cNvSpPr txBox="1"/>
          <p:nvPr/>
        </p:nvSpPr>
        <p:spPr>
          <a:xfrm>
            <a:off x="1631671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317183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4A798-3C31-80C7-B1E2-749586D54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A33C96E-C337-8515-BB4D-487916F87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06957" y="2138280"/>
            <a:ext cx="7778086" cy="2581440"/>
          </a:xfrm>
        </p:spPr>
        <p:txBody>
          <a:bodyPr/>
          <a:lstStyle/>
          <a:p>
            <a:pPr lvl="0"/>
            <a:r>
              <a:rPr lang="en-IN" dirty="0">
                <a:latin typeface="+mn-lt"/>
              </a:rPr>
              <a:t>Tracks</a:t>
            </a:r>
            <a:r>
              <a:rPr lang="en-IN" b="0" dirty="0">
                <a:latin typeface="+mn-lt"/>
              </a:rPr>
              <a:t> every monthly model retraining run</a:t>
            </a:r>
          </a:p>
          <a:p>
            <a:pPr lvl="0"/>
            <a:r>
              <a:rPr lang="en-IN" b="0" dirty="0">
                <a:latin typeface="+mn-lt"/>
              </a:rPr>
              <a:t>Logs </a:t>
            </a:r>
            <a:r>
              <a:rPr lang="en-IN" dirty="0">
                <a:latin typeface="+mn-lt"/>
              </a:rPr>
              <a:t>parameters and MAPE </a:t>
            </a:r>
            <a:r>
              <a:rPr lang="en-IN" b="0" dirty="0">
                <a:latin typeface="+mn-lt"/>
              </a:rPr>
              <a:t>for each forecast cycle</a:t>
            </a:r>
          </a:p>
          <a:p>
            <a:pPr lvl="0"/>
            <a:r>
              <a:rPr lang="en-IN" b="0" dirty="0">
                <a:latin typeface="+mn-lt"/>
              </a:rPr>
              <a:t>Uses </a:t>
            </a:r>
            <a:r>
              <a:rPr lang="en-IN" dirty="0" err="1">
                <a:latin typeface="+mn-lt"/>
              </a:rPr>
              <a:t>MLflow</a:t>
            </a:r>
            <a:r>
              <a:rPr lang="en-IN" b="0" dirty="0">
                <a:latin typeface="+mn-lt"/>
              </a:rPr>
              <a:t>, run locally — zero cost</a:t>
            </a:r>
          </a:p>
          <a:p>
            <a:pPr lvl="0"/>
            <a:r>
              <a:rPr lang="en-IN" dirty="0">
                <a:latin typeface="+mn-lt"/>
              </a:rPr>
              <a:t>Compares</a:t>
            </a:r>
            <a:r>
              <a:rPr lang="en-IN" b="0" dirty="0">
                <a:latin typeface="+mn-lt"/>
              </a:rPr>
              <a:t> performance across months over time</a:t>
            </a:r>
          </a:p>
          <a:p>
            <a:pPr lvl="0"/>
            <a:r>
              <a:rPr lang="en-IN" b="0" dirty="0">
                <a:latin typeface="+mn-lt"/>
              </a:rPr>
              <a:t>Ensures </a:t>
            </a:r>
            <a:r>
              <a:rPr lang="en-IN" dirty="0">
                <a:latin typeface="+mn-lt"/>
              </a:rPr>
              <a:t>reproducibility</a:t>
            </a:r>
            <a:r>
              <a:rPr lang="en-IN" b="0" dirty="0">
                <a:latin typeface="+mn-lt"/>
              </a:rPr>
              <a:t> of every model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7B1E00-0B0A-E4DB-A06E-4244145F58EA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 err="1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MLOps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A50AB0C-9A38-C4DC-8A7B-C32C07D81D2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FA82992-D233-0564-5A43-8C4D603D34E1}"/>
              </a:ext>
            </a:extLst>
          </p:cNvPr>
          <p:cNvSpPr txBox="1"/>
          <p:nvPr/>
        </p:nvSpPr>
        <p:spPr>
          <a:xfrm>
            <a:off x="1649959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</p:spTree>
    <p:extLst>
      <p:ext uri="{BB962C8B-B14F-4D97-AF65-F5344CB8AC3E}">
        <p14:creationId xmlns:p14="http://schemas.microsoft.com/office/powerpoint/2010/main" val="3063199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093A-7026-C022-FDDD-E9DA18D9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3508FF-60B7-4BC3-B818-7579132CC2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34983" y="1170629"/>
            <a:ext cx="9066364" cy="2142527"/>
          </a:xfrm>
        </p:spPr>
        <p:txBody>
          <a:bodyPr/>
          <a:lstStyle/>
          <a:p>
            <a:pPr lvl="0"/>
            <a:r>
              <a:rPr lang="en-IN" dirty="0">
                <a:latin typeface="+mn-lt"/>
              </a:rPr>
              <a:t>Automates </a:t>
            </a:r>
            <a:r>
              <a:rPr lang="en-IN" b="0" dirty="0">
                <a:latin typeface="+mn-lt"/>
              </a:rPr>
              <a:t>monthly refresh via </a:t>
            </a:r>
            <a:r>
              <a:rPr lang="en-IN" dirty="0">
                <a:latin typeface="+mn-lt"/>
              </a:rPr>
              <a:t>GitHub Actions</a:t>
            </a:r>
          </a:p>
          <a:p>
            <a:pPr lvl="0"/>
            <a:r>
              <a:rPr lang="en-IN" dirty="0">
                <a:latin typeface="+mn-lt"/>
              </a:rPr>
              <a:t>Connects</a:t>
            </a:r>
            <a:r>
              <a:rPr lang="en-IN" b="0" dirty="0">
                <a:latin typeface="+mn-lt"/>
              </a:rPr>
              <a:t> live to Power BI; no manual file updates</a:t>
            </a:r>
          </a:p>
          <a:p>
            <a:pPr lvl="0"/>
            <a:r>
              <a:rPr lang="en-IN" dirty="0">
                <a:latin typeface="+mn-lt"/>
              </a:rPr>
              <a:t>Git/GitHub </a:t>
            </a:r>
            <a:r>
              <a:rPr lang="en-IN" b="0" dirty="0">
                <a:latin typeface="+mn-lt"/>
              </a:rPr>
              <a:t>version-controls all scripts and configs</a:t>
            </a:r>
          </a:p>
          <a:p>
            <a:pPr lvl="0"/>
            <a:r>
              <a:rPr lang="en-IN" b="0" dirty="0">
                <a:latin typeface="+mn-lt"/>
              </a:rPr>
              <a:t>Enables </a:t>
            </a:r>
            <a:r>
              <a:rPr lang="en-IN" dirty="0">
                <a:latin typeface="+mn-lt"/>
              </a:rPr>
              <a:t>full pipeline reproducibility </a:t>
            </a:r>
            <a:r>
              <a:rPr lang="en-IN" b="0" dirty="0">
                <a:latin typeface="+mn-lt"/>
              </a:rPr>
              <a:t>across milestones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F6D82-B1F4-1010-78EB-2196DDA9520E}"/>
              </a:ext>
            </a:extLst>
          </p:cNvPr>
          <p:cNvSpPr txBox="1"/>
          <p:nvPr/>
        </p:nvSpPr>
        <p:spPr>
          <a:xfrm>
            <a:off x="255996" y="438537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Cloud &amp; Version Control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C4F8B47-7681-AB6A-F8F4-6EBD262D502C}"/>
              </a:ext>
            </a:extLst>
          </p:cNvPr>
          <p:cNvCxnSpPr>
            <a:cxnSpLocks/>
          </p:cNvCxnSpPr>
          <p:nvPr/>
        </p:nvCxnSpPr>
        <p:spPr>
          <a:xfrm>
            <a:off x="221274" y="1127748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F1F9F8E-B464-7627-F9BB-16239C43C3C1}"/>
              </a:ext>
            </a:extLst>
          </p:cNvPr>
          <p:cNvSpPr txBox="1"/>
          <p:nvPr/>
        </p:nvSpPr>
        <p:spPr>
          <a:xfrm>
            <a:off x="1631671" y="57036"/>
            <a:ext cx="1062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IN" b="1" dirty="0">
                <a:solidFill>
                  <a:schemeClr val="bg1"/>
                </a:solidFill>
              </a:rPr>
              <a:t>UPI Digital Payment Reliability Index: Forecasting, Change-Point Detection &amp; RAG-Based Anomaly Explanation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8E83CA85-4AB4-88A4-F875-7D475FF7C903}"/>
              </a:ext>
            </a:extLst>
          </p:cNvPr>
          <p:cNvSpPr txBox="1">
            <a:spLocks/>
          </p:cNvSpPr>
          <p:nvPr/>
        </p:nvSpPr>
        <p:spPr>
          <a:xfrm>
            <a:off x="1034983" y="3874602"/>
            <a:ext cx="9066364" cy="25448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Displays</a:t>
            </a:r>
            <a:r>
              <a:rPr lang="en-IN" b="0" dirty="0"/>
              <a:t> bank-wise reliability trend over time</a:t>
            </a:r>
          </a:p>
          <a:p>
            <a:pPr lvl="0"/>
            <a:r>
              <a:rPr lang="en-IN" dirty="0"/>
              <a:t>Highlights</a:t>
            </a:r>
            <a:r>
              <a:rPr lang="en-IN" b="0" dirty="0"/>
              <a:t> flagged anomalies with risk ranking</a:t>
            </a:r>
          </a:p>
          <a:p>
            <a:pPr lvl="0"/>
            <a:r>
              <a:rPr lang="en-IN" dirty="0"/>
              <a:t>Shows </a:t>
            </a:r>
            <a:r>
              <a:rPr lang="en-IN" b="0" dirty="0"/>
              <a:t>RAG-generated explanation per flagged bank</a:t>
            </a:r>
          </a:p>
          <a:p>
            <a:pPr lvl="0"/>
            <a:r>
              <a:rPr lang="en-IN" dirty="0"/>
              <a:t>Filters </a:t>
            </a:r>
            <a:r>
              <a:rPr lang="en-IN" b="0" dirty="0"/>
              <a:t>by bank, region, and time period</a:t>
            </a:r>
          </a:p>
          <a:p>
            <a:pPr lvl="0"/>
            <a:r>
              <a:rPr lang="en-IN" b="0" dirty="0"/>
              <a:t>Built for </a:t>
            </a:r>
            <a:r>
              <a:rPr lang="en-IN" dirty="0"/>
              <a:t>decision-makers</a:t>
            </a:r>
            <a:r>
              <a:rPr lang="en-IN" b="0" dirty="0"/>
              <a:t>, not just data teams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2FDAAB-59F4-4B9E-1C07-8A41AE200844}"/>
              </a:ext>
            </a:extLst>
          </p:cNvPr>
          <p:cNvSpPr txBox="1"/>
          <p:nvPr/>
        </p:nvSpPr>
        <p:spPr>
          <a:xfrm>
            <a:off x="255996" y="316382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Dashboard (Power BI)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7BD1-0012-57B0-158E-201C632654BC}"/>
              </a:ext>
            </a:extLst>
          </p:cNvPr>
          <p:cNvCxnSpPr>
            <a:cxnSpLocks/>
          </p:cNvCxnSpPr>
          <p:nvPr/>
        </p:nvCxnSpPr>
        <p:spPr>
          <a:xfrm>
            <a:off x="221274" y="385303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7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</TotalTime>
  <Words>1285</Words>
  <Application>Microsoft Office PowerPoint</Application>
  <PresentationFormat>Widescreen</PresentationFormat>
  <Paragraphs>181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POOJITHA D</cp:lastModifiedBy>
  <cp:revision>11</cp:revision>
  <dcterms:created xsi:type="dcterms:W3CDTF">2024-05-13T10:33:11Z</dcterms:created>
  <dcterms:modified xsi:type="dcterms:W3CDTF">2026-09-06T15:38:37Z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