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5" r:id="rId6"/>
    <p:sldId id="2147470506" r:id="rId7"/>
    <p:sldId id="2147470494" r:id="rId8"/>
    <p:sldId id="2147470501" r:id="rId9"/>
    <p:sldId id="2147470507" r:id="rId10"/>
    <p:sldId id="2147470498" r:id="rId11"/>
    <p:sldId id="2147470508" r:id="rId12"/>
    <p:sldId id="2147470509" r:id="rId13"/>
    <p:sldId id="2147470497" r:id="rId14"/>
    <p:sldId id="2147470510" r:id="rId15"/>
    <p:sldId id="2147470511" r:id="rId16"/>
    <p:sldId id="2147470512" r:id="rId17"/>
    <p:sldId id="2147470499" r:id="rId18"/>
    <p:sldId id="2147470502" r:id="rId19"/>
    <p:sldId id="2147470503" r:id="rId20"/>
    <p:sldId id="214747051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upi-reliability-index.netlify.app/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1. UPI Digital Payment Reliability Index: Forecasting, Change-Point Detection &amp; RAG-Based Anomaly Explanation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POOJITHA D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2800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7320" y="1271219"/>
            <a:ext cx="9463014" cy="4544364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b="0" dirty="0">
                <a:latin typeface="+mn-lt"/>
              </a:rPr>
              <a:t>UPI is India's main way to pay: 83% of digital payment volume in 2024, up from 34% in 2019 (RBI).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b="0" dirty="0">
                <a:latin typeface="+mn-lt"/>
              </a:rPr>
              <a:t>NPCI's top-50 remitter banks alone handled 26,746 million UPI payments in Aug 2026.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b="0" dirty="0">
                <a:latin typeface="+mn-lt"/>
              </a:rPr>
              <a:t>Payments still fail in one of two ways: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rgbClr val="0070C0"/>
                </a:solidFill>
              </a:rPr>
              <a:t>Business Decline: low balance, wrong PIN, or a limit;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rgbClr val="0070C0"/>
                </a:solidFill>
              </a:rPr>
              <a:t>Technical Decline: a system failure, sometimes after the money is debited.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b="0" dirty="0">
                <a:latin typeface="+mn-lt"/>
              </a:rPr>
              <a:t>A failure can start at the customer, the bank, or the UPI app. After a nationwide disruption in April 2025, NPCI tightened its UPI API rules.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b="0" dirty="0">
                <a:latin typeface="+mn-lt"/>
              </a:rPr>
              <a:t>This project detects, explains, and recovers failed payments, and warns banks and UPI apps early.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b="0" dirty="0">
                <a:latin typeface="+mn-lt"/>
              </a:rPr>
              <a:t>Delivered as a live website deployed on the cloud.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C4FB44-A603-F9DA-947C-7C4AEC244C2D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2768" y="1594385"/>
            <a:ext cx="9307566" cy="4385791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Detect failed payments that took money and open a refund request automatically within the RBI deadline.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Explain every failure in plain language, including whose side it was on, grounded in RBI/NPCI documents.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Find when each bank's reliability changed, rank banks by customers affected, and forecast what comes next.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Check whether a bank's fix worked, and catch problems that come back.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Give customers, UPI providers, and bankers each their own history and live monitoring on a secure public website.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A4A7E5-264F-E108-81AB-F39041E68BD8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0976" y="960316"/>
            <a:ext cx="10351008" cy="5578017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+mn-lt"/>
              </a:rPr>
              <a:t>Module 1: Data Engineering – NPCI Ingestion &amp; UPI-App Enrichment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NPCI Top-50 remitter data: 80 months (Jan 2020 – Aug 2026), giving 3,478 bank-month rows across 158 banks.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Every row checked: Approved + BD + TD = 100 ± 0.01. Fixed scaling errors, pasted-in rows, and bank-name variants.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Kaggle UPI Transactions 2024 (250,000 synthetic payments): each payment gets a UPI app and the failure's side, type, code, and reason.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25 failure types: 13 UPI app, 8 bank, 4 customer.</a:t>
            </a:r>
          </a:p>
          <a:p>
            <a:pPr marL="0" indent="0" algn="just">
              <a:lnSpc>
                <a:spcPct val="80000"/>
              </a:lnSpc>
              <a:spcBef>
                <a:spcPts val="500"/>
              </a:spcBef>
              <a:buNone/>
            </a:pPr>
            <a:endParaRPr lang="en-US" sz="2400" b="0" dirty="0">
              <a:latin typeface="+mn-lt"/>
            </a:endParaRPr>
          </a:p>
          <a:p>
            <a:pPr marL="0" indent="0" algn="just">
              <a:lnSpc>
                <a:spcPct val="85000"/>
              </a:lnSpc>
              <a:spcBef>
                <a:spcPts val="500"/>
              </a:spcBef>
              <a:buNone/>
            </a:pPr>
            <a:r>
              <a:rPr lang="en-US" dirty="0">
                <a:latin typeface="+mn-lt"/>
              </a:rPr>
              <a:t>Module 2: Reliability Analytics</a:t>
            </a:r>
            <a:endParaRPr lang="en-US" b="0" u="sng" dirty="0">
              <a:latin typeface="+mn-lt"/>
            </a:endParaRP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8 metrics per bank: 4 real, plus 4 synthetic side splits (labelled).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Change points found with PELT and cross-checked by Binary Segmentation; emerging shifts come from the forecasts.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Prophet forecasts with intervals, compared with a naive baseline.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Impact score = decline rate × volume share.</a:t>
            </a:r>
          </a:p>
          <a:p>
            <a:pPr marL="0" indent="0" algn="just">
              <a:lnSpc>
                <a:spcPct val="80000"/>
              </a:lnSpc>
              <a:spcBef>
                <a:spcPts val="500"/>
              </a:spcBef>
              <a:buNone/>
            </a:pPr>
            <a:endParaRPr lang="en-US" sz="24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2739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9631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CE6107-2366-16E2-846C-08D80DA69C4F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64AD-857B-040C-B5B9-A05CBEDB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E208DA-0532-3636-A47C-6C8FC8D93D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0976" y="1051756"/>
            <a:ext cx="10351008" cy="5578017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+mn-lt"/>
              </a:rPr>
              <a:t>Module 3: RAG Explanation Engine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65 documents: 32 RBI press releases, 20 RBI notifications, and 13 guidance notes.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TF-IDF retrieval (top 3, relevance ≥ 0.30), with Google News as a fallback.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An optional Gemini rewrite that may not add new numbers, with an extractive fallback.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1,588 of 1,596 change points explained. 11 customer questions are answered as known / possible/unknown.</a:t>
            </a:r>
          </a:p>
          <a:p>
            <a:pPr marL="0" indent="0" algn="just">
              <a:lnSpc>
                <a:spcPct val="80000"/>
              </a:lnSpc>
              <a:spcBef>
                <a:spcPts val="500"/>
              </a:spcBef>
              <a:buNone/>
            </a:pPr>
            <a:endParaRPr lang="en-US" sz="2400" b="0" dirty="0">
              <a:latin typeface="+mn-lt"/>
            </a:endParaRPr>
          </a:p>
          <a:p>
            <a:pPr marL="0" indent="0" algn="just">
              <a:lnSpc>
                <a:spcPct val="85000"/>
              </a:lnSpc>
              <a:spcBef>
                <a:spcPts val="500"/>
              </a:spcBef>
              <a:buNone/>
            </a:pPr>
            <a:r>
              <a:rPr lang="en-US" dirty="0">
                <a:latin typeface="+mn-lt"/>
              </a:rPr>
              <a:t>Module 4: Customer – Automated Recovery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Failed + debited + no reversal after a grace window → a refund request opens by itself.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RBI deadline: T+1 for transfers, T+5 for merchant payments, then ₹100 a day.</a:t>
            </a:r>
          </a:p>
          <a:p>
            <a:pPr algn="just">
              <a:lnSpc>
                <a:spcPct val="85000"/>
              </a:lnSpc>
              <a:spcBef>
                <a:spcPts val="500"/>
              </a:spcBef>
            </a:pPr>
            <a:r>
              <a:rPr lang="en-US" sz="2400" b="0" dirty="0">
                <a:latin typeface="+mn-lt"/>
              </a:rPr>
              <a:t>The customer sees every step, and whose side each failure was 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A28B2-0B20-3584-F728-C07641CF573C}"/>
              </a:ext>
            </a:extLst>
          </p:cNvPr>
          <p:cNvSpPr txBox="1"/>
          <p:nvPr/>
        </p:nvSpPr>
        <p:spPr>
          <a:xfrm>
            <a:off x="255996" y="2739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C6929C-6511-24B3-F3DD-9EC4A36BA7DF}"/>
              </a:ext>
            </a:extLst>
          </p:cNvPr>
          <p:cNvCxnSpPr>
            <a:cxnSpLocks/>
          </p:cNvCxnSpPr>
          <p:nvPr/>
        </p:nvCxnSpPr>
        <p:spPr>
          <a:xfrm>
            <a:off x="221274" y="9631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E6D3E4-FA4E-3206-6DFA-A804C4D48196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488959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BA984-4367-2F07-5045-B1980697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455304-6936-4503-AFC8-A9C9C16C5B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0976" y="1051756"/>
            <a:ext cx="10351008" cy="5578017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+mn-lt"/>
              </a:rPr>
              <a:t>Module 5: Banker – Refund Desk &amp; Reliability Intelligence</a:t>
            </a:r>
          </a:p>
          <a:p>
            <a:pPr algn="just"/>
            <a:r>
              <a:rPr lang="en-US" sz="2400" b="0" dirty="0">
                <a:latin typeface="+mn-lt"/>
              </a:rPr>
              <a:t>A refund desk with the most urgent first, and every customer's full history.</a:t>
            </a:r>
          </a:p>
          <a:p>
            <a:pPr algn="just"/>
            <a:r>
              <a:rPr lang="en-US" sz="2400" b="0" dirty="0">
                <a:latin typeface="+mn-lt"/>
              </a:rPr>
              <a:t>Each change point is turned into customers affected. Fixes are checked before vs. after and against a counterfactual forecast.</a:t>
            </a:r>
          </a:p>
          <a:p>
            <a:pPr algn="just"/>
            <a:r>
              <a:rPr lang="en-US" sz="2400" b="0" dirty="0">
                <a:latin typeface="+mn-lt"/>
              </a:rPr>
              <a:t>A live incident monitor names the root cause from the NPCI codes that surged.</a:t>
            </a:r>
          </a:p>
          <a:p>
            <a:pPr marL="0" indent="0" algn="just">
              <a:buNone/>
            </a:pPr>
            <a:endParaRPr lang="en-US" dirty="0">
              <a:latin typeface="+mn-lt"/>
            </a:endParaRPr>
          </a:p>
          <a:p>
            <a:pPr marL="0" indent="0" algn="just">
              <a:buNone/>
            </a:pPr>
            <a:r>
              <a:rPr lang="en-US" dirty="0">
                <a:latin typeface="+mn-lt"/>
              </a:rPr>
              <a:t>Module 6: UPI Provider – Live App Desk</a:t>
            </a:r>
          </a:p>
          <a:p>
            <a:pPr algn="just"/>
            <a:r>
              <a:rPr lang="en-US" sz="2400" b="0" dirty="0">
                <a:latin typeface="+mn-lt"/>
              </a:rPr>
              <a:t>A live dashboard refreshed every 15 s: status banner, the last 15 minutes vs normal, a 60-minute chart, and live failed payments.</a:t>
            </a:r>
          </a:p>
          <a:p>
            <a:pPr algn="just"/>
            <a:r>
              <a:rPr lang="en-US" sz="2400" b="0" dirty="0">
                <a:latin typeface="+mn-lt"/>
              </a:rPr>
              <a:t>Each problem comes with the fix and what to tell customers. Every customer's history with the app is shown, with emails masked.</a:t>
            </a:r>
          </a:p>
          <a:p>
            <a:pPr algn="just"/>
            <a:r>
              <a:rPr lang="en-US" sz="2400" b="0" dirty="0">
                <a:latin typeface="+mn-lt"/>
              </a:rPr>
              <a:t>A provider only ever sees its own app.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46A8C-3ED9-0942-3BF9-EA464A2E603F}"/>
              </a:ext>
            </a:extLst>
          </p:cNvPr>
          <p:cNvSpPr txBox="1"/>
          <p:nvPr/>
        </p:nvSpPr>
        <p:spPr>
          <a:xfrm>
            <a:off x="255996" y="2739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07A213-F08A-FE8B-D717-7E3114EB0470}"/>
              </a:ext>
            </a:extLst>
          </p:cNvPr>
          <p:cNvCxnSpPr>
            <a:cxnSpLocks/>
          </p:cNvCxnSpPr>
          <p:nvPr/>
        </p:nvCxnSpPr>
        <p:spPr>
          <a:xfrm>
            <a:off x="221274" y="9631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F836E4-24F2-A5E4-DC20-2F1B5CA854C3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940573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756" y="1758977"/>
            <a:ext cx="10624338" cy="3581119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When a failed payment takes money, the customer has to notice it, decode the error, and complain.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Customers can’t tell whether the fault was theirs, their bank’s, or the UPI app's.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Banks see only monthly totals: no link to the customers affected, and no proof that a fix worked.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latin typeface="+mn-lt"/>
              </a:rPr>
              <a:t>UPI apps can't separate their own failures from bank failures in real time.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Needed:</a:t>
            </a:r>
            <a:r>
              <a:rPr lang="en-US" sz="2400" b="0" dirty="0">
                <a:latin typeface="+mn-lt"/>
              </a:rPr>
              <a:t> a closed loop that detects, explains, and recovers failed payments and warns banks and apps early, simple enough for anyone to use.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E7D29B9-5F80-FB2D-B8EE-6CCD09352CB6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7498" y="1530084"/>
            <a:ext cx="10372790" cy="447448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+mn-lt"/>
              </a:rPr>
              <a:t>Pipeline, Data Preparation &amp; Fair Evaluation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latin typeface="+mn-lt"/>
              </a:rPr>
              <a:t>NPCI files → validated database → bank-month dataset → change points + forecasts + risk → RAG explanations → refund engine → three role views → cloud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Data: </a:t>
            </a:r>
            <a:r>
              <a:rPr lang="en-US" sz="2400" b="0" dirty="0">
                <a:latin typeface="+mn-lt"/>
              </a:rPr>
              <a:t>percentage scaling fixed, pasted-in rows dropped, bank names merged, and every correction logged.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Sample customers: </a:t>
            </a:r>
            <a:r>
              <a:rPr lang="en-US" sz="2400" b="0" dirty="0">
                <a:latin typeface="+mn-lt"/>
              </a:rPr>
              <a:t>their payments are simulated from each bank's real NPCI mix, and labelled as such.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Forecasts: </a:t>
            </a:r>
            <a:r>
              <a:rPr lang="en-US" sz="2400" b="0" dirty="0">
                <a:latin typeface="+mn-lt"/>
              </a:rPr>
              <a:t>the last 3 months held out; Prophet compared with naive by MAPE.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Detectors:</a:t>
            </a:r>
            <a:r>
              <a:rPr lang="en-US" sz="2400" b="0" dirty="0">
                <a:latin typeface="+mn-lt"/>
              </a:rPr>
              <a:t> tested on injected problems with an answer key the detector never sees.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E052DE-6659-95BC-A7A5-D72221E594D6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37E4-B601-95EE-B580-D629A147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729087-2E46-ED58-328F-DAEF649509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7498" y="1345786"/>
            <a:ext cx="10372790" cy="4890422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 b="0" dirty="0"/>
              <a:t>108 automated end-to-end tests. Each batch stage saves its results, and the website only reads them.</a:t>
            </a:r>
            <a:endParaRPr lang="en-US" sz="2400" dirty="0">
              <a:latin typeface="+mn-lt"/>
            </a:endParaRP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GitHub and GitHub Actions: </a:t>
            </a:r>
            <a:r>
              <a:rPr lang="en-US" sz="2400" b="0" dirty="0">
                <a:latin typeface="+mn-lt"/>
              </a:rPr>
              <a:t>every push builds the Docker image, smoke-tests it, scans it for secrets, and publishes it.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Render: </a:t>
            </a:r>
            <a:r>
              <a:rPr lang="en-US" sz="2400" b="0" dirty="0">
                <a:latin typeface="+mn-lt"/>
              </a:rPr>
              <a:t>runs the Docker container from `</a:t>
            </a:r>
            <a:r>
              <a:rPr lang="en-US" sz="2400" b="0" dirty="0" err="1">
                <a:latin typeface="+mn-lt"/>
              </a:rPr>
              <a:t>render.yaml</a:t>
            </a:r>
            <a:r>
              <a:rPr lang="en-US" sz="2400" b="0" dirty="0">
                <a:latin typeface="+mn-lt"/>
              </a:rPr>
              <a:t>`, redeploys automatically, health check at `/</a:t>
            </a:r>
            <a:r>
              <a:rPr lang="en-US" sz="2400" b="0" dirty="0" err="1">
                <a:latin typeface="+mn-lt"/>
              </a:rPr>
              <a:t>healthz</a:t>
            </a:r>
            <a:r>
              <a:rPr lang="en-US" sz="2400" b="0" dirty="0">
                <a:latin typeface="+mn-lt"/>
              </a:rPr>
              <a:t>`.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Netlify front door: </a:t>
            </a:r>
            <a:r>
              <a:rPr lang="en-US" sz="2400" b="0" dirty="0">
                <a:latin typeface="+mn-lt"/>
              </a:rPr>
              <a:t>the public HTTPS address, which forwards every request to Render.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Access: </a:t>
            </a:r>
            <a:r>
              <a:rPr lang="en-US" sz="2400" b="0" dirty="0">
                <a:latin typeface="+mn-lt"/>
              </a:rPr>
              <a:t>three roles, email OTP, hashed passwords, signed session cookies, and a guest login.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Live: </a:t>
            </a:r>
            <a:r>
              <a:rPr lang="en-US" sz="24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https://upi-reliability-index.netlify.app/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07B88-5AF2-28BC-390A-A35790292C3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0789B6-08ED-F763-3E3B-9853B1D48FC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ED40769-B331-128E-E2DB-139D9EFF992D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409951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362659"/>
            <a:ext cx="10624338" cy="473638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Customer first: </a:t>
            </a:r>
            <a:r>
              <a:rPr lang="en-US" sz="2400" b="0" dirty="0">
                <a:latin typeface="+mn-lt"/>
              </a:rPr>
              <a:t>recovery starts automatically, not on complaint.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Evidence over assumption: </a:t>
            </a:r>
            <a:r>
              <a:rPr lang="en-US" sz="2400" b="0" dirty="0">
                <a:latin typeface="+mn-lt"/>
              </a:rPr>
              <a:t>forecasts are always compared with a naive baseline, and detectors are tested against a known answer key.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Explainable: </a:t>
            </a:r>
            <a:r>
              <a:rPr lang="en-US" sz="2400" b="0" dirty="0">
                <a:latin typeface="+mn-lt"/>
              </a:rPr>
              <a:t>a transparent impact formula, and explanations split into known / possible/unknown.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Honest data: </a:t>
            </a:r>
            <a:r>
              <a:rPr lang="en-US" sz="2400" b="0" dirty="0">
                <a:latin typeface="+mn-lt"/>
              </a:rPr>
              <a:t>NPCI figures and RBI rules are real; simulated and assumed parts are labelled.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One source of truth: </a:t>
            </a:r>
            <a:r>
              <a:rPr lang="en-US" sz="2400" b="0" dirty="0">
                <a:latin typeface="+mn-lt"/>
              </a:rPr>
              <a:t>customer, UPI provider, and banker see the same records, limited by role on the server.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+mn-lt"/>
              </a:rPr>
              <a:t>Cloud-ready: </a:t>
            </a:r>
            <a:r>
              <a:rPr lang="en-US" sz="2400" b="0" dirty="0">
                <a:latin typeface="+mn-lt"/>
              </a:rPr>
              <a:t>containerized, tested on every push, and secrets kept out of the code.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72F089-D7FF-BE1E-3333-B44C337E839A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D533-EBF1-4E05-03BB-D79C7774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76B144-E507-9F1F-1D43-424D9F7F4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289507"/>
            <a:ext cx="10624338" cy="4736388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PELT </a:t>
            </a:r>
            <a:r>
              <a:rPr lang="en-US" sz="2400" b="0" dirty="0">
                <a:latin typeface="+mn-lt"/>
              </a:rPr>
              <a:t>(RBF cost, minimum segment 3 months, penalty 1.0) </a:t>
            </a:r>
            <a:r>
              <a:rPr lang="en-US" sz="2400" dirty="0">
                <a:latin typeface="+mn-lt"/>
              </a:rPr>
              <a:t>+ Binary Segmentation:</a:t>
            </a:r>
            <a:r>
              <a:rPr lang="en-US" sz="2400" b="0" dirty="0">
                <a:latin typeface="+mn-lt"/>
              </a:rPr>
              <a:t> change points.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z-score on forecasts</a:t>
            </a:r>
            <a:r>
              <a:rPr lang="en-US" sz="2400" b="0" dirty="0">
                <a:latin typeface="+mn-lt"/>
              </a:rPr>
              <a:t> (1.5 standard deviations or more from the 6-month average): emerging shifts.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Prophet </a:t>
            </a:r>
            <a:r>
              <a:rPr lang="en-US" sz="2400" b="0" dirty="0">
                <a:latin typeface="+mn-lt"/>
              </a:rPr>
              <a:t>(log space, changepoint prior 0.1) with a naive fallback: forecasts and counterfactuals.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Bayesian-style scoring: </a:t>
            </a:r>
            <a:r>
              <a:rPr lang="en-US" sz="2400" b="0" dirty="0">
                <a:latin typeface="+mn-lt"/>
              </a:rPr>
              <a:t>payment diagnosis. The bank's cause mix is the starting point; the error code, app message, and debit status are the evidence.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Poisson tail test</a:t>
            </a:r>
            <a:r>
              <a:rPr lang="en-US" sz="2400" b="0" dirty="0">
                <a:latin typeface="+mn-lt"/>
              </a:rPr>
              <a:t>(below 1 in 10,000): the bank incident monitor.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Rate threshold </a:t>
            </a:r>
            <a:r>
              <a:rPr lang="en-US" sz="2400" b="0" dirty="0">
                <a:latin typeface="+mn-lt"/>
              </a:rPr>
              <a:t>(at least 2× expected + 3, z ≥ 3.5, for 2 or more minutes): the UPI-app detector.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TF-IDF + cosine similarity:</a:t>
            </a:r>
            <a:r>
              <a:rPr lang="en-US" sz="2400" b="0" dirty="0">
                <a:latin typeface="+mn-lt"/>
              </a:rPr>
              <a:t> document retrieval</a:t>
            </a:r>
            <a:r>
              <a:rPr lang="en-US" sz="2400" dirty="0">
                <a:latin typeface="+mn-lt"/>
              </a:rPr>
              <a:t>. Monte-Carlo simulation: </a:t>
            </a:r>
            <a:r>
              <a:rPr lang="en-US" sz="2400" b="0" dirty="0">
                <a:latin typeface="+mn-lt"/>
              </a:rPr>
              <a:t>sample payments.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1CA9F-9A5E-ED50-C455-45B2F3A18DF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Algorithms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E1B16A-5A5C-A878-9493-E688F09A344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9271FB-7906-0C94-1034-35BC79A4F187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549613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1B31-DC26-4AD8-C507-6760DFA5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525196-B27C-D9B2-40F8-447B8BD25D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3379" y="1911299"/>
            <a:ext cx="7521028" cy="3754945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Language and data: </a:t>
            </a:r>
            <a:r>
              <a:rPr lang="en-US" sz="2400" b="0" dirty="0">
                <a:latin typeface="+mn-lt"/>
              </a:rPr>
              <a:t>Python 3.12, SQLite, pandas, NumPy, SciPy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Analytics and ML: </a:t>
            </a:r>
            <a:r>
              <a:rPr lang="en-US" sz="2400" b="0" dirty="0">
                <a:latin typeface="+mn-lt"/>
              </a:rPr>
              <a:t>ruptures, Prophet 1.4, scikit-learn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LLM APIs: </a:t>
            </a:r>
            <a:r>
              <a:rPr lang="en-US" sz="2400" b="0" dirty="0">
                <a:latin typeface="+mn-lt"/>
              </a:rPr>
              <a:t>Gemini (</a:t>
            </a:r>
            <a:r>
              <a:rPr lang="en-US" sz="2400" b="0" dirty="0" err="1">
                <a:latin typeface="+mn-lt"/>
              </a:rPr>
              <a:t>OpenRouter</a:t>
            </a:r>
            <a:r>
              <a:rPr lang="en-US" sz="2400" b="0" dirty="0">
                <a:latin typeface="+mn-lt"/>
              </a:rPr>
              <a:t> as alternative), Google News RSS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Web: </a:t>
            </a:r>
            <a:r>
              <a:rPr lang="en-US" sz="2400" b="0" dirty="0" err="1">
                <a:latin typeface="+mn-lt"/>
              </a:rPr>
              <a:t>FastAPI</a:t>
            </a:r>
            <a:r>
              <a:rPr lang="en-US" sz="2400" b="0" dirty="0">
                <a:latin typeface="+mn-lt"/>
              </a:rPr>
              <a:t>, Jinja2, Chart.js, Three.js, </a:t>
            </a:r>
            <a:r>
              <a:rPr lang="en-US" sz="2400" b="0" dirty="0" err="1">
                <a:latin typeface="+mn-lt"/>
              </a:rPr>
              <a:t>passlib</a:t>
            </a:r>
            <a:r>
              <a:rPr lang="en-US" sz="2400" b="0" dirty="0">
                <a:latin typeface="+mn-lt"/>
              </a:rPr>
              <a:t> (PBKDF2), python-</a:t>
            </a:r>
            <a:r>
              <a:rPr lang="en-US" sz="2400" b="0" dirty="0" err="1">
                <a:latin typeface="+mn-lt"/>
              </a:rPr>
              <a:t>jose</a:t>
            </a:r>
            <a:r>
              <a:rPr lang="en-US" sz="2400" b="0" dirty="0">
                <a:latin typeface="+mn-lt"/>
              </a:rPr>
              <a:t> (JWT)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Testing and CI/CD: </a:t>
            </a:r>
            <a:r>
              <a:rPr lang="en-US" sz="2400" b="0" dirty="0" err="1">
                <a:latin typeface="+mn-lt"/>
              </a:rPr>
              <a:t>pytest</a:t>
            </a:r>
            <a:r>
              <a:rPr lang="en-US" sz="2400" b="0" dirty="0">
                <a:latin typeface="+mn-lt"/>
              </a:rPr>
              <a:t> (108 tests), Git, GitHub Actions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>
                <a:latin typeface="+mn-lt"/>
              </a:rPr>
              <a:t>Cloud: </a:t>
            </a:r>
            <a:r>
              <a:rPr lang="en-US" sz="2400" b="0" dirty="0">
                <a:latin typeface="+mn-lt"/>
              </a:rPr>
              <a:t>Docker, GitHub Container Registry, Render, Netlify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86E90-EAA7-8998-94F7-4B1C3DFA06B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5079B8-8D1E-2DE0-FC62-28EA2A3ED21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992E56-6ADB-45E4-DF70-1213E07ADA4C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6279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34709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0363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4872EC-AC04-603D-35DD-0C9D1E6D0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30673"/>
              </p:ext>
            </p:extLst>
          </p:nvPr>
        </p:nvGraphicFramePr>
        <p:xfrm>
          <a:off x="1019576" y="1091465"/>
          <a:ext cx="10130345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4068">
                  <a:extLst>
                    <a:ext uri="{9D8B030D-6E8A-4147-A177-3AD203B41FA5}">
                      <a16:colId xmlns:a16="http://schemas.microsoft.com/office/drawing/2014/main" val="2663040899"/>
                    </a:ext>
                  </a:extLst>
                </a:gridCol>
                <a:gridCol w="2501475">
                  <a:extLst>
                    <a:ext uri="{9D8B030D-6E8A-4147-A177-3AD203B41FA5}">
                      <a16:colId xmlns:a16="http://schemas.microsoft.com/office/drawing/2014/main" val="1697909099"/>
                    </a:ext>
                  </a:extLst>
                </a:gridCol>
                <a:gridCol w="3274802">
                  <a:extLst>
                    <a:ext uri="{9D8B030D-6E8A-4147-A177-3AD203B41FA5}">
                      <a16:colId xmlns:a16="http://schemas.microsoft.com/office/drawing/2014/main" val="3199219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Measure (volume-weighted)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Jan 2020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Aug 2026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971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Technical declines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0.93%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0.21%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317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Business declines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6.81%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10.70%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36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Payments per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1,132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26,746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93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Banks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191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D7D3BE-BA96-046B-8EAB-97B483B30FB0}"/>
              </a:ext>
            </a:extLst>
          </p:cNvPr>
          <p:cNvSpPr txBox="1"/>
          <p:nvPr/>
        </p:nvSpPr>
        <p:spPr>
          <a:xfrm>
            <a:off x="790976" y="3419856"/>
            <a:ext cx="104088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SBI handles about 25.6% of the volume. 6 of 50 banks are still above 1% TD; the worst are Baroda U.P. Bank (2.44%) and Central Bank of India (2.34%).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1,596 change points across 8 metrics. For TD alone: 170 in 57 banks, of which 142 improved, 28 worsened, and 8 are emerging.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2024 failures by side: customer 65.8%, bank 19.1%, UPI app 15.1% (app share assumed).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Business declines are rising, and they come from the customer or a rule (balance, PIN, limits), so plain-language guidance matters.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560CA-25E1-AEBC-F152-F4FAED44C783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02FE-FE68-60AD-2A63-E149D410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A7BFDC-E789-C36E-4E04-19A888091E96}"/>
              </a:ext>
            </a:extLst>
          </p:cNvPr>
          <p:cNvSpPr txBox="1"/>
          <p:nvPr/>
        </p:nvSpPr>
        <p:spPr>
          <a:xfrm>
            <a:off x="255996" y="34709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69853-EB14-661B-7B87-A36587C23FD9}"/>
              </a:ext>
            </a:extLst>
          </p:cNvPr>
          <p:cNvCxnSpPr>
            <a:cxnSpLocks/>
          </p:cNvCxnSpPr>
          <p:nvPr/>
        </p:nvCxnSpPr>
        <p:spPr>
          <a:xfrm>
            <a:off x="221274" y="10363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58B719-85F1-53FC-ECA3-19E8D021DE5A}"/>
              </a:ext>
            </a:extLst>
          </p:cNvPr>
          <p:cNvGraphicFramePr>
            <a:graphicFrameLocks noGrp="1"/>
          </p:cNvGraphicFramePr>
          <p:nvPr/>
        </p:nvGraphicFramePr>
        <p:xfrm>
          <a:off x="1019576" y="1091465"/>
          <a:ext cx="10130345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4068">
                  <a:extLst>
                    <a:ext uri="{9D8B030D-6E8A-4147-A177-3AD203B41FA5}">
                      <a16:colId xmlns:a16="http://schemas.microsoft.com/office/drawing/2014/main" val="2663040899"/>
                    </a:ext>
                  </a:extLst>
                </a:gridCol>
                <a:gridCol w="2501475">
                  <a:extLst>
                    <a:ext uri="{9D8B030D-6E8A-4147-A177-3AD203B41FA5}">
                      <a16:colId xmlns:a16="http://schemas.microsoft.com/office/drawing/2014/main" val="1697909099"/>
                    </a:ext>
                  </a:extLst>
                </a:gridCol>
                <a:gridCol w="3274802">
                  <a:extLst>
                    <a:ext uri="{9D8B030D-6E8A-4147-A177-3AD203B41FA5}">
                      <a16:colId xmlns:a16="http://schemas.microsoft.com/office/drawing/2014/main" val="3199219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Measure (volume-weighted)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Jan 2020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Aug 2026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971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Technical declines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0.93%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0.21%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317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Business declines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6.81%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10.70%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36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Payments per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1,132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26,746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93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Banks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191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500C2AB-7A42-AD30-3E14-73720610DA75}"/>
              </a:ext>
            </a:extLst>
          </p:cNvPr>
          <p:cNvSpPr txBox="1"/>
          <p:nvPr/>
        </p:nvSpPr>
        <p:spPr>
          <a:xfrm>
            <a:off x="790976" y="3419856"/>
            <a:ext cx="104088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SBI handles about 25.6% of the volume. 6 of 50 banks are still above 1% TD; the worst are Baroda U.P. Bank (2.44%) and Central Bank of India (2.34%).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1,596 change points across 8 metrics. For TD alone: 170 in 57 banks, of which 142 improved, 28 worsened, and 8 are emerging.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2024 failures by side: customer 65.8%, bank 19.1%, UPI app 15.1% (app share assumed).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Business declines are rising, and they come from the customer or a rule (balance, PIN, limits), so plain-language guidance matters.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2CBF8-08AF-2215-6EBC-D0443CDC9615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74632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47E42-026C-8CA8-00D4-C9995337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B79DFD-D10B-B4A2-C294-FD566FB3F036}"/>
              </a:ext>
            </a:extLst>
          </p:cNvPr>
          <p:cNvSpPr txBox="1"/>
          <p:nvPr/>
        </p:nvSpPr>
        <p:spPr>
          <a:xfrm>
            <a:off x="255996" y="34709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31DC65-15B6-0F45-0A7C-DF320FBBDF49}"/>
              </a:ext>
            </a:extLst>
          </p:cNvPr>
          <p:cNvCxnSpPr>
            <a:cxnSpLocks/>
          </p:cNvCxnSpPr>
          <p:nvPr/>
        </p:nvCxnSpPr>
        <p:spPr>
          <a:xfrm>
            <a:off x="221274" y="10363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50359D-5BE1-BB86-5150-EAD2FAB93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48625"/>
              </p:ext>
            </p:extLst>
          </p:nvPr>
        </p:nvGraphicFramePr>
        <p:xfrm>
          <a:off x="458805" y="1143000"/>
          <a:ext cx="11270176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1715">
                  <a:extLst>
                    <a:ext uri="{9D8B030D-6E8A-4147-A177-3AD203B41FA5}">
                      <a16:colId xmlns:a16="http://schemas.microsoft.com/office/drawing/2014/main" val="2663040899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1697909099"/>
                    </a:ext>
                  </a:extLst>
                </a:gridCol>
                <a:gridCol w="4258333">
                  <a:extLst>
                    <a:ext uri="{9D8B030D-6E8A-4147-A177-3AD203B41FA5}">
                      <a16:colId xmlns:a16="http://schemas.microsoft.com/office/drawing/2014/main" val="3199219759"/>
                    </a:ext>
                  </a:extLst>
                </a:gridCol>
              </a:tblGrid>
              <a:tr h="2645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How it was tested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971412"/>
                  </a:ext>
                </a:extLst>
              </a:tr>
              <a:tr h="47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Forecasts (Prophet vs naive)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Last 3 months held out, 60 banks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Prophet better for 48% of banks (TD), 25% (BD)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317147"/>
                  </a:ext>
                </a:extLst>
              </a:tr>
              <a:tr h="47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Simulated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Against each bank's NPCI TD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Rank correlation 0.9999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365460"/>
                  </a:ext>
                </a:extLst>
              </a:tr>
              <a:tr h="47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Bank incident 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 banks × 9 incident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Right cause 54/54; 0 false alarms on quiet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93766"/>
                  </a:ext>
                </a:extLst>
              </a:tr>
              <a:tr h="687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UPI-app live detector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 days × 9 apps, 707 injected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684 found (96.7%); right cause every time; 0 false alarms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191312"/>
                  </a:ext>
                </a:extLst>
              </a:tr>
              <a:tr h="687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RAG explanations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All change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1,588 of 1,596 explained (TD: 139 AI-rewritten, 23 extractive)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2027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7E86D4-0F87-9CC3-FD8A-579D114D061E}"/>
              </a:ext>
            </a:extLst>
          </p:cNvPr>
          <p:cNvSpPr txBox="1"/>
          <p:nvPr/>
        </p:nvSpPr>
        <p:spPr>
          <a:xfrm>
            <a:off x="1371601" y="5692968"/>
            <a:ext cx="10357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rgbClr val="0070C0"/>
                </a:solidFill>
              </a:rPr>
              <a:t>The naive forecast is a strong baseline for short monthly data, so forecasts are used as early warnings with intervals, not as exact predictions.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955F18-90A1-B9DA-B440-A2E5F2AC42F6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333467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8C368-2F3D-C793-DBF0-5A7E3B7C7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254A6-638A-D337-67C3-5083994AD404}"/>
              </a:ext>
            </a:extLst>
          </p:cNvPr>
          <p:cNvSpPr txBox="1"/>
          <p:nvPr/>
        </p:nvSpPr>
        <p:spPr>
          <a:xfrm>
            <a:off x="255996" y="34709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659CED-8B0D-0767-4BC1-4B068F7B826D}"/>
              </a:ext>
            </a:extLst>
          </p:cNvPr>
          <p:cNvCxnSpPr>
            <a:cxnSpLocks/>
          </p:cNvCxnSpPr>
          <p:nvPr/>
        </p:nvCxnSpPr>
        <p:spPr>
          <a:xfrm>
            <a:off x="221274" y="10363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CE2F01B-0618-DD29-D5D8-E1F581F72127}"/>
              </a:ext>
            </a:extLst>
          </p:cNvPr>
          <p:cNvSpPr txBox="1"/>
          <p:nvPr/>
        </p:nvSpPr>
        <p:spPr>
          <a:xfrm>
            <a:off x="915203" y="1152341"/>
            <a:ext cx="103573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Live: </a:t>
            </a:r>
            <a:r>
              <a:rPr lang="en-US" sz="2400" dirty="0">
                <a:solidFill>
                  <a:srgbClr val="0070C0"/>
                </a:solidFill>
              </a:rPr>
              <a:t>Netlify → Render works. Customers, UPI providers, and bankers each have their own view, plus a guest login.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End-to-end loop: </a:t>
            </a:r>
            <a:r>
              <a:rPr lang="en-US" sz="2400" dirty="0">
                <a:solidFill>
                  <a:srgbClr val="0070C0"/>
                </a:solidFill>
              </a:rPr>
              <a:t>failed payment → automatic refund request → bank actions → the customer sees each step.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Tests:</a:t>
            </a:r>
            <a:r>
              <a:rPr lang="en-US" sz="2400" dirty="0">
                <a:solidFill>
                  <a:srgbClr val="0070C0"/>
                </a:solidFill>
              </a:rPr>
              <a:t> 105 of 108 pass. 3 bank-side live-check tests are still being tuned: an extra alert in one scenario, one incident end time, and how strongly live signals shift a diagnosis.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Free tier: </a:t>
            </a:r>
            <a:r>
              <a:rPr lang="en-US" sz="2400" dirty="0">
                <a:solidFill>
                  <a:srgbClr val="0070C0"/>
                </a:solidFill>
              </a:rPr>
              <a:t>about 1 minute to wake after 15 idle minutes. Data resets on restart, and the demo accounts are re-created.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Limits: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NPCI publishes monthly bank totals only, with no per-payment data.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Customer payments and live feeds are simulated; the cause split and the 15% app share are assumptions.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 Prophet beats naive for under half the banks.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70915-5A40-BE64-E1BB-A6A3206E74DD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701541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060907"/>
            <a:ext cx="11494044" cy="276128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0" dirty="0"/>
              <a:t>A working closed loop, live in the cloud: detect → explain → recover → analyze → predict → verify.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0" dirty="0"/>
              <a:t>Customers get their money back and plain reasons without having to complain.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0" dirty="0"/>
              <a:t>Banks get explained, impact-ranked shifts and checks on their fixes. UPI providers see live whose fault each failure is.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0" dirty="0"/>
              <a:t>Tested and honest: every model is compared with a baseline, and simulated parts are labelled.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29223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98144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B405128-38E4-5E21-2401-E2AA7F533A9E}"/>
              </a:ext>
            </a:extLst>
          </p:cNvPr>
          <p:cNvSpPr txBox="1">
            <a:spLocks/>
          </p:cNvSpPr>
          <p:nvPr/>
        </p:nvSpPr>
        <p:spPr>
          <a:xfrm>
            <a:off x="1014383" y="4590866"/>
            <a:ext cx="9865951" cy="19749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latin typeface="+mn-lt"/>
              </a:rPr>
              <a:t>Connect real bank and switch feeds instead of simulated payments.</a:t>
            </a:r>
            <a:endParaRPr lang="en-IN" sz="2400" dirty="0">
              <a:latin typeface="+mn-lt"/>
            </a:endParaRPr>
          </a:p>
          <a:p>
            <a:r>
              <a:rPr lang="en-US" sz="2400" b="0" dirty="0">
                <a:latin typeface="+mn-lt"/>
              </a:rPr>
              <a:t>Add a SARIMA or ensemble forecasting benchmark.</a:t>
            </a:r>
            <a:endParaRPr lang="en-IN" sz="2400" dirty="0">
              <a:latin typeface="+mn-lt"/>
            </a:endParaRPr>
          </a:p>
          <a:p>
            <a:r>
              <a:rPr lang="en-US" sz="2400" b="0" dirty="0">
                <a:latin typeface="+mn-lt"/>
              </a:rPr>
              <a:t>Use a permanent database and an always-on server, and link to NPCI's dispute-resolution flow.</a:t>
            </a:r>
            <a:endParaRPr lang="en-IN" sz="2400" dirty="0">
              <a:effectLst/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A0D6F-2069-9FDA-7003-7102EE844F0B}"/>
              </a:ext>
            </a:extLst>
          </p:cNvPr>
          <p:cNvSpPr txBox="1"/>
          <p:nvPr/>
        </p:nvSpPr>
        <p:spPr>
          <a:xfrm>
            <a:off x="346871" y="3736484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Future Scope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1A9E51-C0C0-1E10-0C69-FDEF485E53D4}"/>
              </a:ext>
            </a:extLst>
          </p:cNvPr>
          <p:cNvCxnSpPr>
            <a:cxnSpLocks/>
          </p:cNvCxnSpPr>
          <p:nvPr/>
        </p:nvCxnSpPr>
        <p:spPr>
          <a:xfrm>
            <a:off x="312149" y="4425695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060DF87-CCCD-A5C3-D375-E99B56A947A9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A21B20-6ACD-F74A-45EA-A121C73BC2CA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1457468" cy="4754676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b="0" dirty="0">
                <a:latin typeface="+mn-lt"/>
              </a:rPr>
              <a:t>NPCI, "UPI Product Statistics – Top-50 Member Performance (Remitter)," monthly, Jan. 2020 – Aug. 2026. [Online]. Available: npci.org.in (accessed Oct. 2026).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b="0" dirty="0">
                <a:latin typeface="+mn-lt"/>
              </a:rPr>
              <a:t>NPCI, "Reduction in UPI API Response Time," Circular NPCI/UPI/OC/214/2025-26, 26 Apr. 2025.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b="0" dirty="0">
                <a:latin typeface="+mn-lt"/>
              </a:rPr>
              <a:t>NPCI, "Initial Streamlining of the Check Transaction usage in UPI and overuse/misuse of all UPI APIs," Circular NPCI/UPI/OC/215/2025-26, 26 Apr. 2025.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b="0" dirty="0">
                <a:latin typeface="+mn-lt"/>
              </a:rPr>
              <a:t>NPCI, "Guidelines on usage of UPI API," Circular NPCI/UPI/OC/215A/2025-26, 21 May 2025.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b="0" dirty="0">
                <a:latin typeface="+mn-lt"/>
              </a:rPr>
              <a:t>Reserve Bank of India, "Payment System Report – December 2024," 27 Jan. 2025.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b="0" dirty="0">
                <a:latin typeface="+mn-lt"/>
              </a:rPr>
              <a:t>skullagos5246, "UPI Transactions 2024 Dataset" (synthetic), Kaggle. [Online]. Available: kaggle.com/datasets/skullagos5246/upi-transactions-2024-dataset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D21AEF-D973-923D-ADA7-3DFD9A46D2D8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F3D0-19F0-3552-8B9B-F9E3F84C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706A35-D736-575C-59FD-3A00B9EDE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159" y="1271218"/>
            <a:ext cx="11457468" cy="5529744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 startAt="7"/>
            </a:pPr>
            <a:r>
              <a:rPr lang="en-US" sz="2400" b="0" dirty="0"/>
              <a:t>W. Fan, Y. Ding, L. Ning, S. Wang, H. Li, D. Yin, T.-S. Chua, Q. Li, "A Survey on RAG Meeting LLMs: Towards Retrieval-Augmented Large Language Models," </a:t>
            </a:r>
            <a:r>
              <a:rPr lang="en-US" sz="2400" dirty="0"/>
              <a:t>Proc. KDD '24</a:t>
            </a:r>
            <a:r>
              <a:rPr lang="en-US" sz="2400" b="0" dirty="0"/>
              <a:t>, pp. 6491–6501, 2024. doi:10.1145/3637528.3671470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 startAt="7"/>
            </a:pPr>
            <a:r>
              <a:rPr lang="en-US" sz="2400" b="0" dirty="0"/>
              <a:t>M. Gupta, R. </a:t>
            </a:r>
            <a:r>
              <a:rPr lang="en-US" sz="2400" b="0" dirty="0" err="1"/>
              <a:t>Wadhvani</a:t>
            </a:r>
            <a:r>
              <a:rPr lang="en-US" sz="2400" b="0" dirty="0"/>
              <a:t>, A. Rasool, "Comprehensive analysis of change-point dynamics detection in time series data: A review," </a:t>
            </a:r>
            <a:r>
              <a:rPr lang="en-US" sz="2400" dirty="0"/>
              <a:t>Expert Systems with Applications</a:t>
            </a:r>
            <a:r>
              <a:rPr lang="en-US" sz="2400" b="0" dirty="0"/>
              <a:t>, 248, Art. 123342, 2024. doi:10.1016/j.eswa.2024.123342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 startAt="7"/>
            </a:pPr>
            <a:r>
              <a:rPr lang="en-US" sz="2400" b="0" dirty="0"/>
              <a:t>M. C. Arthi, K. Shanmugam, "Unified Payment Interface—Taking India to the next generation in payments," </a:t>
            </a:r>
            <a:r>
              <a:rPr lang="en-US" sz="2400" dirty="0"/>
              <a:t>Journal of Information Technology Teaching Cases</a:t>
            </a:r>
            <a:r>
              <a:rPr lang="en-US" sz="2400" b="0" dirty="0"/>
              <a:t>, 14(2), pp. 241–246, 2024. doi:10.1177/20438869231178843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 startAt="7"/>
            </a:pPr>
            <a:r>
              <a:rPr lang="en-US" sz="2400" b="0" dirty="0"/>
              <a:t>M. Dinesh Kumar, "An Analysis of Unified Payments Interface (UPI): Payer and Payee PSP Performance, UPI Apps, and P2P and P2M Transaction Trends in India," </a:t>
            </a:r>
            <a:r>
              <a:rPr lang="en-US" sz="2400" dirty="0"/>
              <a:t>ICTACT Journal on Management Studies</a:t>
            </a:r>
            <a:r>
              <a:rPr lang="en-US" sz="2400" b="0" dirty="0"/>
              <a:t>, 11(1), pp. 2054–2061, 2025. doi:10.21917/ijms.2025.0318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3FC09-1426-E3E0-D273-1109DAD8435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3F7EC1-DFF8-AAD0-8A41-11C9421721F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3E5F90-ED90-1D5E-1728-616F9F3DC2A4}"/>
              </a:ext>
            </a:extLst>
          </p:cNvPr>
          <p:cNvSpPr txBox="1"/>
          <p:nvPr/>
        </p:nvSpPr>
        <p:spPr>
          <a:xfrm>
            <a:off x="1466051" y="57036"/>
            <a:ext cx="1072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80120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2701</Words>
  <Application>Microsoft Office PowerPoint</Application>
  <PresentationFormat>Widescreen</PresentationFormat>
  <Paragraphs>215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POOJITHA D</cp:lastModifiedBy>
  <cp:revision>17</cp:revision>
  <dcterms:created xsi:type="dcterms:W3CDTF">2024-05-13T10:33:11Z</dcterms:created>
  <dcterms:modified xsi:type="dcterms:W3CDTF">2026-10-07T17:52:20Z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