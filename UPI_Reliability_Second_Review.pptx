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731520" y="1051560"/>
            <a:ext cx="457200" cy="548640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1051560" y="1051560"/>
            <a:ext cx="457200" cy="548640"/>
          </a:xfrm>
          <a:prstGeom prst="chevr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egoe UI"/>
              </a:rPr>
              <a:t>UPI Reliability, Automated Recovery &amp;
Predictive Early-Warning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7899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C98F"/>
                </a:solidFill>
                <a:latin typeface="Segoe UI"/>
              </a:rPr>
              <a:t>Detect → Explain → Recover → Resolve → Analyze → Predict → Prevent →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Second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C9D6F2"/>
                </a:solidFill>
                <a:latin typeface="Segoe UI"/>
              </a:rPr>
              <a:t>Presented by: Poojitha D      Reg. No.: ____________
Guide: ____________________      Department: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UPI is India's main way to pay: </a:t>
            </a:r>
            <a:r>
              <a:rPr sz="1800">
                <a:solidFill>
                  <a:srgbClr val="0B1F4D"/>
                </a:solidFill>
                <a:latin typeface="Segoe UI"/>
              </a:rPr>
              <a:t>26,746 million payments in Aug 2026 from the top-50 remitter banks alone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Every failed payment is one of two kinds</a:t>
            </a:r>
            <a:r>
              <a:rPr sz="1800">
                <a:solidFill>
                  <a:srgbClr val="0B1F4D"/>
                </a:solidFill>
                <a:latin typeface="Segoe UI"/>
              </a:rPr>
              <a:t> (NPCI classification)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F73"/>
                </a:solidFill>
                <a:latin typeface="Segoe UI"/>
              </a:rPr>
              <a:t>      –  </a:t>
            </a:r>
            <a:r>
              <a:rPr b="1" sz="1600">
                <a:solidFill>
                  <a:srgbClr val="0B1F4D"/>
                </a:solidFill>
                <a:latin typeface="Segoe UI"/>
              </a:rPr>
              <a:t>Business decline (BD)</a:t>
            </a:r>
            <a:r>
              <a:rPr sz="1600">
                <a:solidFill>
                  <a:srgbClr val="555F73"/>
                </a:solidFill>
                <a:latin typeface="Segoe UI"/>
              </a:rPr>
              <a:t> – refused for the payment/account: low balance, wrong PIN, limit, invalid UPI ID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55F73"/>
                </a:solidFill>
                <a:latin typeface="Segoe UI"/>
              </a:rPr>
              <a:t>      –  </a:t>
            </a:r>
            <a:r>
              <a:rPr b="1" sz="1600">
                <a:solidFill>
                  <a:srgbClr val="0B1F4D"/>
                </a:solidFill>
                <a:latin typeface="Segoe UI"/>
              </a:rPr>
              <a:t>Technical decline (TD)</a:t>
            </a:r>
            <a:r>
              <a:rPr sz="1600">
                <a:solidFill>
                  <a:srgbClr val="555F73"/>
                </a:solidFill>
                <a:latin typeface="Segoe UI"/>
              </a:rPr>
              <a:t> – a system could not finish it; can happen **after** money is debited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NPCI targets: </a:t>
            </a:r>
            <a:r>
              <a:rPr sz="1800">
                <a:solidFill>
                  <a:srgbClr val="0B1F4D"/>
                </a:solidFill>
                <a:latin typeface="Segoe UI"/>
              </a:rPr>
              <a:t>TD below 1%, BD below 5% (Circular OC-149)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RBI rule (TAT circular, 2019): </a:t>
            </a:r>
            <a:r>
              <a:rPr sz="1800">
                <a:solidFill>
                  <a:srgbClr val="0B1F4D"/>
                </a:solidFill>
                <a:latin typeface="Segoe UI"/>
              </a:rPr>
              <a:t>a failed payment that took money must be reversed by T+1 (transfers) / T+5 (merchants) – else ₹100 per day of delay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NPCI publishes monthly, bank-wise TD/BD data</a:t>
            </a:r>
            <a:r>
              <a:rPr sz="1800">
                <a:solidFill>
                  <a:srgbClr val="0B1F4D"/>
                </a:solidFill>
                <a:latin typeface="Segoe UI"/>
              </a:rPr>
              <a:t> – the base of this project (Jan 2020 – Aug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Introduction –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Customers carry the burden: </a:t>
            </a:r>
            <a:r>
              <a:rPr sz="1800">
                <a:solidFill>
                  <a:srgbClr val="0B1F4D"/>
                </a:solidFill>
                <a:latin typeface="Segoe UI"/>
              </a:rPr>
              <a:t>when a failed payment debits money, the customer must notice it, find the reason and raise a complaint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Explanations are missing or technical: </a:t>
            </a:r>
            <a:r>
              <a:rPr sz="1800">
                <a:solidFill>
                  <a:srgbClr val="0B1F4D"/>
                </a:solidFill>
                <a:latin typeface="Segoe UI"/>
              </a:rPr>
              <a:t>error codes and TD/BD terms mean nothing to most users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Banks see only monthly aggregates: </a:t>
            </a:r>
            <a:r>
              <a:rPr sz="1800">
                <a:solidFill>
                  <a:srgbClr val="0B1F4D"/>
                </a:solidFill>
                <a:latin typeface="Segoe UI"/>
              </a:rPr>
              <a:t>no link between a rise in failures and the customers it actually hit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Dashboards stop at “analyze → forecast”: </a:t>
            </a:r>
            <a:r>
              <a:rPr sz="1800">
                <a:solidFill>
                  <a:srgbClr val="0B1F4D"/>
                </a:solidFill>
                <a:latin typeface="Segoe UI"/>
              </a:rPr>
              <a:t>they don't trigger recovery or check whether a fix worked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Problems recur unnoticed: </a:t>
            </a:r>
            <a:r>
              <a:rPr sz="1800">
                <a:solidFill>
                  <a:srgbClr val="0B1F4D"/>
                </a:solidFill>
                <a:latin typeface="Segoe UI"/>
              </a:rPr>
              <a:t>an improvement can quietly reverse months later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800">
                <a:solidFill>
                  <a:srgbClr val="0B1F4D"/>
                </a:solidFill>
                <a:latin typeface="Segoe UI"/>
              </a:rPr>
              <a:t>Gap addressed: </a:t>
            </a:r>
            <a:r>
              <a:rPr sz="1800">
                <a:solidFill>
                  <a:srgbClr val="0B1F4D"/>
                </a:solidFill>
                <a:latin typeface="Segoe UI"/>
              </a:rPr>
              <a:t>a closed loop connecting customer-level recovery with bank-level reliability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Detect</a:t>
            </a:r>
            <a:r>
              <a:rPr sz="1700">
                <a:solidFill>
                  <a:srgbClr val="0B1F4D"/>
                </a:solidFill>
                <a:latin typeface="Segoe UI"/>
              </a:rPr>
              <a:t> failed UPI payments that took the customer's money – automatically, from transaction state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Recover</a:t>
            </a:r>
            <a:r>
              <a:rPr sz="1700">
                <a:solidFill>
                  <a:srgbClr val="0B1F4D"/>
                </a:solidFill>
                <a:latin typeface="Segoe UI"/>
              </a:rPr>
              <a:t> without a complaint: auto-create a refund request with the RBI deadline; bank resolves it; customer sees every step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Explain</a:t>
            </a:r>
            <a:r>
              <a:rPr sz="1700">
                <a:solidFill>
                  <a:srgbClr val="0B1F4D"/>
                </a:solidFill>
                <a:latin typeface="Segoe UI"/>
              </a:rPr>
              <a:t> each failure in plain language using RAG over RBI/NPCI guidance – never inventing a cause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Analyze</a:t>
            </a:r>
            <a:r>
              <a:rPr sz="1700">
                <a:solidFill>
                  <a:srgbClr val="0B1F4D"/>
                </a:solidFill>
                <a:latin typeface="Segoe UI"/>
              </a:rPr>
              <a:t> 80 months of NPCI bank data: when reliability changed (change-points) and which banks matter most (volume-weighted risk)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Predict</a:t>
            </a:r>
            <a:r>
              <a:rPr sz="1700">
                <a:solidFill>
                  <a:srgbClr val="0B1F4D"/>
                </a:solidFill>
                <a:latin typeface="Segoe UI"/>
              </a:rPr>
              <a:t> next months' TD/BD per bank and raise early warnings before problems reach customers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Verify</a:t>
            </a:r>
            <a:r>
              <a:rPr sz="1700">
                <a:solidFill>
                  <a:srgbClr val="0B1F4D"/>
                </a:solidFill>
                <a:latin typeface="Segoe UI"/>
              </a:rPr>
              <a:t> fixes: record bank interventions, compare against a counterfactual forecast, and flag recurrence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Keep simulated data honest: </a:t>
            </a:r>
            <a:r>
              <a:rPr sz="1700">
                <a:solidFill>
                  <a:srgbClr val="0B1F4D"/>
                </a:solidFill>
                <a:latin typeface="Segoe UI"/>
              </a:rPr>
              <a:t>demo transactions follow each bank's real NPCI failure mix and are clearly labelled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Module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91840"/>
                <a:gridCol w="731520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Data Ingestion &amp; Preprocessing Pipeline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Reads NPCI Excel files, cleans, normalises bank names, detects duplicate/unpublished months, stores in SQLite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Reliability Analytics Engine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Forecasting (Prophet), change-point detection (PELT), volume-weighted risk scoring, cause breakdown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RAG Explanation Engine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Retrieves RBI/NPCI notices &amp; domain knowledge; explains every detected shift with recommended actions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Customer Payments &amp; Recovery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Transaction history, failure + financial-impact detection, automatic refund requests, plain-language guide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Bank Recovery Desk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Ticket queue with priority &amp; RBI-deadline SLA; refund, resolve, reopen, notes, evidence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Module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91840"/>
                <a:gridCol w="731520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Reliability Intelligence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Change-point → customer impact, RAG investigation, early warnings, intervention evaluation, recurrence alerts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Bank-Consistent Transaction Simulator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Generates demo payments from each bank's real TD/BD mix and reversal rate; fidelity check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Live Problem Identification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Diagnoses a single failed payment; minute-level incident monitor on a transaction feed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Platform, Security &amp; Deployment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FastAPI web app, roles (User/Admin), OTP login, Docker image, CI/CD, secret scanning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Analytics Dashboard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3D bank network, trend explorer, risk ranking, Power BI embedding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Methodology – Closed-Loop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7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" y="1371600"/>
            <a:ext cx="1463040" cy="685800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9" name="Chevron 8"/>
          <p:cNvSpPr/>
          <p:nvPr/>
        </p:nvSpPr>
        <p:spPr>
          <a:xfrm>
            <a:off x="1920240" y="1371600"/>
            <a:ext cx="1463040" cy="685800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0" name="Chevron 9"/>
          <p:cNvSpPr/>
          <p:nvPr/>
        </p:nvSpPr>
        <p:spPr>
          <a:xfrm>
            <a:off x="3337560" y="1371600"/>
            <a:ext cx="1463040" cy="685800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Recover</a:t>
            </a:r>
          </a:p>
        </p:txBody>
      </p:sp>
      <p:sp>
        <p:nvSpPr>
          <p:cNvPr id="11" name="Chevron 10"/>
          <p:cNvSpPr/>
          <p:nvPr/>
        </p:nvSpPr>
        <p:spPr>
          <a:xfrm>
            <a:off x="4754880" y="1371600"/>
            <a:ext cx="1463040" cy="685800"/>
          </a:xfrm>
          <a:prstGeom prst="chevron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Resolve</a:t>
            </a:r>
          </a:p>
        </p:txBody>
      </p:sp>
      <p:sp>
        <p:nvSpPr>
          <p:cNvPr id="12" name="Chevron 11"/>
          <p:cNvSpPr/>
          <p:nvPr/>
        </p:nvSpPr>
        <p:spPr>
          <a:xfrm>
            <a:off x="6172200" y="1371600"/>
            <a:ext cx="1463040" cy="685800"/>
          </a:xfrm>
          <a:prstGeom prst="chevron">
            <a:avLst/>
          </a:prstGeom>
          <a:solidFill>
            <a:srgbClr val="1F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13" name="Chevron 12"/>
          <p:cNvSpPr/>
          <p:nvPr/>
        </p:nvSpPr>
        <p:spPr>
          <a:xfrm>
            <a:off x="7589520" y="1371600"/>
            <a:ext cx="1463040" cy="685800"/>
          </a:xfrm>
          <a:prstGeom prst="chevron">
            <a:avLst/>
          </a:prstGeom>
          <a:solidFill>
            <a:srgbClr val="1F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14" name="Chevron 13"/>
          <p:cNvSpPr/>
          <p:nvPr/>
        </p:nvSpPr>
        <p:spPr>
          <a:xfrm>
            <a:off x="9006840" y="1371600"/>
            <a:ext cx="1463040" cy="685800"/>
          </a:xfrm>
          <a:prstGeom prst="chevron">
            <a:avLst/>
          </a:prstGeom>
          <a:solidFill>
            <a:srgbClr val="1F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Prevent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10424160" y="1371600"/>
            <a:ext cx="1463040" cy="685800"/>
          </a:xfrm>
          <a:prstGeom prst="chevr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28C28"/>
                </a:solidFill>
                <a:latin typeface="Segoe UI"/>
              </a:rPr>
              <a:t>Customer / operational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F5FC9"/>
                </a:solidFill>
                <a:latin typeface="Segoe UI"/>
              </a:rPr>
              <a:t>Bank intelligence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11155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Data layer: </a:t>
            </a:r>
            <a:r>
              <a:rPr sz="1700">
                <a:solidFill>
                  <a:srgbClr val="0B1F4D"/>
                </a:solidFill>
                <a:latin typeface="Segoe UI"/>
              </a:rPr>
              <a:t>NPCI monthly bank files → cleaned SQLite store → bank-month panel (TD, BD, volume, reversal)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Intelligence layer: </a:t>
            </a:r>
            <a:r>
              <a:rPr sz="1700">
                <a:solidFill>
                  <a:srgbClr val="0B1F4D"/>
                </a:solidFill>
                <a:latin typeface="Segoe UI"/>
              </a:rPr>
              <a:t>forecasting, change-points, risk scoring and RAG run on the panel (batch)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Operational layer: </a:t>
            </a:r>
            <a:r>
              <a:rPr sz="1700">
                <a:solidFill>
                  <a:srgbClr val="0B1F4D"/>
                </a:solidFill>
                <a:latin typeface="Segoe UI"/>
              </a:rPr>
              <a:t>transactions → failure detection → refund request → bank desk → resolution (real time)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Link between layers: </a:t>
            </a:r>
            <a:r>
              <a:rPr sz="1700">
                <a:solidFill>
                  <a:srgbClr val="0B1F4D"/>
                </a:solidFill>
                <a:latin typeface="Segoe UI"/>
              </a:rPr>
              <a:t>each change-point is turned into customer impact; tickets after a fix count as recurrence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700">
                <a:solidFill>
                  <a:srgbClr val="0B1F4D"/>
                </a:solidFill>
                <a:latin typeface="Segoe UI"/>
              </a:rPr>
              <a:t>One state machine: </a:t>
            </a:r>
            <a:r>
              <a:rPr sz="1700">
                <a:solidFill>
                  <a:srgbClr val="0B1F4D"/>
                </a:solidFill>
                <a:latin typeface="Segoe UI"/>
              </a:rPr>
              <a:t>customer view and bank desk share one database, so every action syncs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Modeling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Method / model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When did a bank's reliability really change?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PELT change-point detection (+ Binary Segmentation cross-check)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Confirmed shifts per bank &amp; metric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What happens next month?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Prophet on log scale, benchmarked vs naive baseline (3-month backtest)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2-month forecasts + bounds, early warnings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Which banks hurt most customers?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Impact score = failure rate × share of volume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Monthly risk ranking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How many customers did a shift hit?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Volume × rate; × post-debit share × reversal-failure 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Failed payments &amp; refunds per month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Did the money leave the account?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Rule engine on status + debit + reversal/refund (+ grace window)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Automatic refund request with RBI SLA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Why did my payment fail?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NPCI code meaning + TF-IDF RAG over RBI/NPCI guidance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Plain-language answer, no invented cause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Did the fix work? Is it back?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Pre/post means + Prophet counterfactual on pre-fix data; recurrence rules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F4D"/>
                          </a:solidFill>
                          <a:latin typeface="Segoe UI"/>
                        </a:rPr>
                        <a:t>Working / may recur / didn't help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Source: </a:t>
            </a:r>
            <a:r>
              <a:rPr sz="1600">
                <a:solidFill>
                  <a:srgbClr val="0B1F4D"/>
                </a:solidFill>
                <a:latin typeface="Segoe UI"/>
              </a:rPr>
              <a:t>NPCI “UPI Ecosystem Statistics – Top-50 member performance (Remitter)”, 82 monthly Excel files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Automated pipeline: </a:t>
            </a:r>
            <a:r>
              <a:rPr sz="1600">
                <a:solidFill>
                  <a:srgbClr val="0B1F4D"/>
                </a:solidFill>
                <a:latin typeface="Segoe UI"/>
              </a:rPr>
              <a:t>incoming → validated → processed folder; re-runs only on new files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Cleaning: </a:t>
            </a:r>
            <a:r>
              <a:rPr sz="1600">
                <a:solidFill>
                  <a:srgbClr val="0B1F4D"/>
                </a:solidFill>
                <a:latin typeface="Segoe UI"/>
              </a:rPr>
              <a:t>column names standardised across NPCI format changes; numeric coercion; % and count fields validated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Bank-name normalisation: </a:t>
            </a:r>
            <a:r>
              <a:rPr sz="1600">
                <a:solidFill>
                  <a:srgbClr val="0B1F4D"/>
                </a:solidFill>
                <a:latin typeface="Segoe UI"/>
              </a:rPr>
              <a:t>case/spacing/suffix fixes and merging of truncated name variants into one canonical bank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Duplicate &amp; unpublished-month detection: </a:t>
            </a:r>
            <a:r>
              <a:rPr sz="1600">
                <a:solidFill>
                  <a:srgbClr val="0B1F4D"/>
                </a:solidFill>
                <a:latin typeface="Segoe UI"/>
              </a:rPr>
              <a:t>repeated files and months NPCI never published are flagged, not double-counted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Derived metrics: </a:t>
            </a:r>
            <a:r>
              <a:rPr sz="1600">
                <a:solidFill>
                  <a:srgbClr val="0B1F4D"/>
                </a:solidFill>
                <a:latin typeface="Segoe UI"/>
              </a:rPr>
              <a:t>reversal failure % = 100 − debit-reversal success %; volume share per month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Storage: </a:t>
            </a:r>
            <a:r>
              <a:rPr sz="1600">
                <a:solidFill>
                  <a:srgbClr val="0B1F4D"/>
                </a:solidFill>
                <a:latin typeface="Segoe UI"/>
              </a:rPr>
              <a:t>SQLite (upi_remitter_stats) → bank-month panel of 3,478 rows, 158 banks, 80 months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Synthetic cause split (labelled): </a:t>
            </a:r>
            <a:r>
              <a:rPr sz="1600">
                <a:solidFill>
                  <a:srgbClr val="0B1F4D"/>
                </a:solidFill>
                <a:latin typeface="Segoe UI"/>
              </a:rPr>
              <a:t>real TD/BD split into 12 NPCI response-code causes; verified to add back to the real totals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Exploratory Data Analysis – Industry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10</a:t>
            </a:r>
          </a:p>
        </p:txBody>
      </p:sp>
      <p:pic>
        <p:nvPicPr>
          <p:cNvPr id="8" name="Picture 7" descr="char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32588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TD fell sharply: </a:t>
            </a:r>
            <a:r>
              <a:rPr sz="1500">
                <a:solidFill>
                  <a:srgbClr val="0B1F4D"/>
                </a:solidFill>
                <a:latin typeface="Segoe UI"/>
              </a:rPr>
              <a:t>0.93% (Jan 2020) → 0.21% (Aug 2026)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BD stays high: </a:t>
            </a:r>
            <a:r>
              <a:rPr sz="1500">
                <a:solidFill>
                  <a:srgbClr val="0B1F4D"/>
                </a:solidFill>
                <a:latin typeface="Segoe UI"/>
              </a:rPr>
              <a:t>6.8% → 10.7% – mostly customer-side (balance, PIN, limits)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Industry now meets the TD target</a:t>
            </a:r>
            <a:r>
              <a:rPr sz="1500">
                <a:solidFill>
                  <a:srgbClr val="0B1F4D"/>
                </a:solidFill>
                <a:latin typeface="Segoe UI"/>
              </a:rPr>
              <a:t> on average, but individual banks still exceed 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Volume grew 24x</a:t>
            </a:r>
            <a:r>
              <a:rPr sz="1500">
                <a:solidFill>
                  <a:srgbClr val="0B1F4D"/>
                </a:solidFill>
                <a:latin typeface="Segoe UI"/>
              </a:rPr>
              <a:t> over the period – the same rate now affects far more people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Seasonal pressure: </a:t>
            </a:r>
            <a:r>
              <a:rPr sz="1500">
                <a:solidFill>
                  <a:srgbClr val="0B1F4D"/>
                </a:solidFill>
                <a:latin typeface="Segoe UI"/>
              </a:rPr>
              <a:t>festive months (Oct–Nov) and FY-end (Mar) show volume-driven spikes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Exploratory Data Analysis – Banks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11</a:t>
            </a:r>
          </a:p>
        </p:txBody>
      </p:sp>
      <p:pic>
        <p:nvPicPr>
          <p:cNvPr id="8" name="Picture 7" descr="chart_b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32588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Highly concentrated: </a:t>
            </a:r>
            <a:r>
              <a:rPr sz="1500">
                <a:solidFill>
                  <a:srgbClr val="0B1F4D"/>
                </a:solidFill>
                <a:latin typeface="Segoe UI"/>
              </a:rPr>
              <a:t>SBI alone ≈26% of top-50 volume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Worst TD (Aug 2026): </a:t>
            </a:r>
            <a:r>
              <a:rPr sz="1500">
                <a:solidFill>
                  <a:srgbClr val="0B1F4D"/>
                </a:solidFill>
                <a:latin typeface="Segoe UI"/>
              </a:rPr>
              <a:t>Baroda U.P. Bank at 2.44% – 2.4x the NPCI 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1,596 change-points</a:t>
            </a:r>
            <a:r>
              <a:rPr sz="1500">
                <a:solidFill>
                  <a:srgbClr val="0B1F4D"/>
                </a:solidFill>
                <a:latin typeface="Segoe UI"/>
              </a:rPr>
              <a:t> detected across 8 metrics since 2020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Anomalies found: </a:t>
            </a:r>
            <a:r>
              <a:rPr sz="1500">
                <a:solidFill>
                  <a:srgbClr val="0B1F4D"/>
                </a:solidFill>
                <a:latin typeface="Segoe UI"/>
              </a:rPr>
              <a:t>Aug-2026 reversal success 2.9% (Kotak) and 1.7% (ICICI) vs ~95% usual; HDFC/Axis TD 0.00%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500">
                <a:solidFill>
                  <a:srgbClr val="0B1F4D"/>
                </a:solidFill>
                <a:latin typeface="Segoe UI"/>
              </a:rPr>
              <a:t>Handled by robust profiles: </a:t>
            </a:r>
            <a:r>
              <a:rPr sz="1500">
                <a:solidFill>
                  <a:srgbClr val="0B1F4D"/>
                </a:solidFill>
                <a:latin typeface="Segoe UI"/>
              </a:rPr>
              <a:t>3-month means and 6-month medians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Approach &amp; Algorithms –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PELT change-point detection (ruptures): </a:t>
            </a:r>
            <a:r>
              <a:rPr sz="1600">
                <a:solidFill>
                  <a:srgbClr val="0B1F4D"/>
                </a:solidFill>
                <a:latin typeface="Segoe UI"/>
              </a:rPr>
              <a:t>finds months where the mean failure rate shifts; BinSeg confirms; forecast-based “emerging” shifts flagged early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Prophet forecasting: </a:t>
            </a:r>
            <a:r>
              <a:rPr sz="1600">
                <a:solidFill>
                  <a:srgbClr val="0B1F4D"/>
                </a:solidFill>
                <a:latin typeface="Segoe UI"/>
              </a:rPr>
              <a:t>log-transformed series, changepoint prior 0.1; naive fallback for &lt; 6 months of history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F73"/>
                </a:solidFill>
                <a:latin typeface="Segoe UI"/>
              </a:rPr>
              <a:t>      –  </a:t>
            </a:r>
            <a:r>
              <a:rPr sz="1400">
                <a:solidFill>
                  <a:srgbClr val="555F73"/>
                </a:solidFill>
                <a:latin typeface="Segoe UI"/>
              </a:rPr>
              <a:t>Benchmarked against a naive “last value” model on a 3-month hold-out (MAPE): Prophet won for 48% of 60 banks – reported honestly per bank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Volume-weighted impact score: </a:t>
            </a:r>
            <a:r>
              <a:rPr sz="1600">
                <a:solidFill>
                  <a:srgbClr val="0B1F4D"/>
                </a:solidFill>
                <a:latin typeface="Segoe UI"/>
              </a:rPr>
              <a:t>rate × volume share → ranks banks by customers affected, not just by rate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Change-point → customer impact: </a:t>
            </a:r>
            <a:r>
              <a:rPr sz="1600">
                <a:solidFill>
                  <a:srgbClr val="0B1F4D"/>
                </a:solidFill>
                <a:latin typeface="Segoe UI"/>
              </a:rPr>
              <a:t>rate shift applied to the old volume isolates the effect of the change itself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Intervention evaluation: </a:t>
            </a:r>
            <a:r>
              <a:rPr sz="1600">
                <a:solidFill>
                  <a:srgbClr val="0B1F4D"/>
                </a:solidFill>
                <a:latin typeface="Segoe UI"/>
              </a:rPr>
              <a:t>before vs after averages + Prophet counterfactual trained only on pre-fix months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Recurrence detection: </a:t>
            </a:r>
            <a:r>
              <a:rPr sz="1600">
                <a:solidFill>
                  <a:srgbClr val="0B1F4D"/>
                </a:solidFill>
                <a:latin typeface="Segoe UI"/>
              </a:rPr>
              <a:t>improvement lost, forecast back to old level, or new worsening after a fix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Approach &amp; Algorithms – Recovery &amp;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Failure-detection state machine: </a:t>
            </a:r>
            <a:r>
              <a:rPr sz="1600">
                <a:solidFill>
                  <a:srgbClr val="0B1F4D"/>
                </a:solidFill>
                <a:latin typeface="Segoe UI"/>
              </a:rPr>
              <a:t>FAILED + DEBITED + no reversal/refund after a grace window → refund request (pending payments never treated as failures)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SLA &amp; priority: </a:t>
            </a:r>
            <a:r>
              <a:rPr sz="1600">
                <a:solidFill>
                  <a:srgbClr val="0B1F4D"/>
                </a:solidFill>
                <a:latin typeface="Segoe UI"/>
              </a:rPr>
              <a:t>RBI deadline T+1 / T+5, ₹100/day compensation; priority from amount, deadline, repeat customer, bank early warning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Bank-consistent Monte-Carlo simulation: </a:t>
            </a:r>
            <a:r>
              <a:rPr sz="1600">
                <a:solidFill>
                  <a:srgbClr val="0B1F4D"/>
                </a:solidFill>
                <a:latin typeface="Segoe UI"/>
              </a:rPr>
              <a:t>response codes drawn from each bank's NPCI mix; reversal success from its real rate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F73"/>
                </a:solidFill>
                <a:latin typeface="Segoe UI"/>
              </a:rPr>
              <a:t>      –  </a:t>
            </a:r>
            <a:r>
              <a:rPr sz="1400">
                <a:solidFill>
                  <a:srgbClr val="555F73"/>
                </a:solidFill>
                <a:latin typeface="Segoe UI"/>
              </a:rPr>
              <a:t>Fidelity: 200,000 simulated payments per bank reproduce NPCI TD/BD rates; bank order preserved (rank corr. 0.9999)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RAG: </a:t>
            </a:r>
            <a:r>
              <a:rPr sz="1600">
                <a:solidFill>
                  <a:srgbClr val="0B1F4D"/>
                </a:solidFill>
                <a:latin typeface="Segoe UI"/>
              </a:rPr>
              <a:t>TF-IDF retrieval (cosine, relevance threshold) over RBI/NPCI notices, news and curated guidance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F73"/>
                </a:solidFill>
                <a:latin typeface="Segoe UI"/>
              </a:rPr>
              <a:t>      –  </a:t>
            </a:r>
            <a:r>
              <a:rPr sz="1400">
                <a:solidFill>
                  <a:srgbClr val="555F73"/>
                </a:solidFill>
                <a:latin typeface="Segoe UI"/>
              </a:rPr>
              <a:t>Bank side: 1,588 change-point explanations; optional LLM polish, rejected if it states a number not in the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F73"/>
                </a:solidFill>
                <a:latin typeface="Segoe UI"/>
              </a:rPr>
              <a:t>      –  </a:t>
            </a:r>
            <a:r>
              <a:rPr sz="1400">
                <a:solidFill>
                  <a:srgbClr val="555F73"/>
                </a:solidFill>
                <a:latin typeface="Segoe UI"/>
              </a:rPr>
              <a:t>Customer side: answers separate known / possible / unknown – never an invented cause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28C28"/>
                </a:solidFill>
                <a:latin typeface="Segoe UI"/>
              </a:rPr>
              <a:t>▪  </a:t>
            </a:r>
            <a:r>
              <a:rPr b="1" sz="1600">
                <a:solidFill>
                  <a:srgbClr val="0B1F4D"/>
                </a:solidFill>
                <a:latin typeface="Segoe UI"/>
              </a:rPr>
              <a:t>Live monitor: </a:t>
            </a:r>
            <a:r>
              <a:rPr sz="1600">
                <a:solidFill>
                  <a:srgbClr val="0B1F4D"/>
                </a:solidFill>
                <a:latin typeface="Segoe UI"/>
              </a:rPr>
              <a:t>Poisson tail test (p &lt; 10⁻⁴) on a rolling window to flag failure spikes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Tools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Tools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Language &amp; data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Python 3.12, pandas, NumPy, SciPy, openpyxl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Modeling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Prophet (cmdstan), ruptures (PELT/BinSeg), scikit-learn (TF-IDF)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RAG &amp; LLM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RBI / NPCI RSS feeds, Google News search, Gemini (optional, number-checked)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SQLite (NPCI data, RAG store, users, transactions, tickets)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Web application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FastAPI, Jinja2, JavaScript, Chart.js, Three.js; JWT + email OTP login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Dashboards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Built-in analytics pages, Power BI (embedded)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Testing &amp; quality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pytest (63 end-to-end tests), headless-Chrome UI checks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DevOps &amp; security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4D"/>
                          </a:solidFill>
                          <a:latin typeface="Segoe UI"/>
                        </a:rPr>
                        <a:t>Docker, GitHub Actions (build, smoke test, secret scan), Render, Netlify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Project Plan &amp; Milestone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863840"/>
                <a:gridCol w="2377440"/>
              </a:tblGrid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Milestone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0B1F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NPCI data pipeline, cleaning, SQLite store (80 months)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Forecasting, change-point detection, risk scoring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RAG explanations + recommended actions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Web platform: roles, OTP login, analytics, live check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Customer recovery: simulation, detection, refund requests, guide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Bank desk + intelligence: impact, interventions, recurrence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Docker image, CI/CD, secret protection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9D55"/>
                          </a:solidFill>
                          <a:latin typeface="Segoe UI"/>
                        </a:rPr>
                        <a:t>✔ Completed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Public hosting (Render + Netlify), Power BI report publish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8C28"/>
                          </a:solidFill>
                          <a:latin typeface="Segoe UI"/>
                        </a:rPr>
                        <a:t>◐ In progress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SARIMA benchmark, MLflow experiment tracking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8C28"/>
                          </a:solidFill>
                          <a:latin typeface="Segoe UI"/>
                        </a:rPr>
                        <a:t>○ Planned</a:t>
                      </a:r>
                    </a:p>
                  </a:txBody>
                  <a:tcPr marL="73152" marR="73152" marT="36576" marB="36576">
                    <a:solidFill>
                      <a:srgbClr val="F3F6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B1F4D"/>
                          </a:solidFill>
                          <a:latin typeface="Segoe UI"/>
                        </a:rPr>
                        <a:t>Final evaluation, report &amp; documentation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8C28"/>
                          </a:solidFill>
                          <a:latin typeface="Segoe UI"/>
                        </a:rPr>
                        <a:t>○ Planned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Milestone Progress – Achieved So Far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0175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C9D6F2"/>
                </a:solidFill>
                <a:latin typeface="Segoe UI"/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55F73"/>
                </a:solidFill>
                <a:latin typeface="Segoe UI"/>
              </a:rPr>
              <a:t>UPI Reliability, Automated Recovery &amp; Early-Warning System  · 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55F73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9D55"/>
                </a:solidFill>
                <a:latin typeface="Segoe UI"/>
              </a:rPr>
              <a:t>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3,478 bank-months cleaned (158 banks, 80 months)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1,596 change-points detected; 1,588 explained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Forecasts for every bank, benchmarked vs naive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End-to-end recovery loop working: detect → request → refund → customer update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Plain-language UI, verified jargon-free by tests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60 of 63 automated tests passing; Docker image tested (≈160 MB RAM)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API keys removed from all history; secret scans on every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Segoe U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Go live on Render + Netlify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Add SARIMA as a second forecasting benchmark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Track model runs and metrics in MLflow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Publish the Power BI report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Persistent database for the hosted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Recalibrate the live incident monitor (3 tests) on new 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28C28"/>
                </a:solidFill>
                <a:latin typeface="Segoe UI"/>
              </a:rPr>
              <a:t>▪  </a:t>
            </a:r>
            <a:r>
              <a:rPr sz="1500">
                <a:solidFill>
                  <a:srgbClr val="0B1F4D"/>
                </a:solidFill>
                <a:latin typeface="Segoe UI"/>
              </a:rPr>
              <a:t>Final evaluation and project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C98F"/>
                </a:solidFill>
                <a:latin typeface="Segoe UI"/>
              </a:rPr>
              <a:t>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